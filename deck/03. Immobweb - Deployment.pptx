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Override1.xml" ContentType="application/vnd.openxmlformats-officedocument.themeOverride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4"/>
  </p:notesMasterIdLst>
  <p:handoutMasterIdLst>
    <p:handoutMasterId r:id="rId15"/>
  </p:handoutMasterIdLst>
  <p:sldIdLst>
    <p:sldId id="257" r:id="rId5"/>
    <p:sldId id="413" r:id="rId6"/>
    <p:sldId id="415" r:id="rId7"/>
    <p:sldId id="411" r:id="rId8"/>
    <p:sldId id="408" r:id="rId9"/>
    <p:sldId id="409" r:id="rId10"/>
    <p:sldId id="412" r:id="rId11"/>
    <p:sldId id="414" r:id="rId12"/>
    <p:sldId id="410" r:id="rId13"/>
  </p:sldIdLst>
  <p:sldSz cx="12192000" cy="6858000"/>
  <p:notesSz cx="6858000" cy="9144000"/>
  <p:defaultTextStyle>
    <a:defPPr rtl="0"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E0368"/>
    <a:srgbClr val="0072C7"/>
    <a:srgbClr val="F94F00"/>
    <a:srgbClr val="D73285"/>
    <a:srgbClr val="F5F5F5"/>
    <a:srgbClr val="464646"/>
    <a:srgbClr val="FFB310"/>
    <a:srgbClr val="FAFAFA"/>
    <a:srgbClr val="FFFFFF"/>
    <a:srgbClr val="A9737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607" autoAdjust="0"/>
    <p:restoredTop sz="85237" autoAdjust="0"/>
  </p:normalViewPr>
  <p:slideViewPr>
    <p:cSldViewPr snapToGrid="0" showGuides="1">
      <p:cViewPr varScale="1">
        <p:scale>
          <a:sx n="66" d="100"/>
          <a:sy n="66" d="100"/>
        </p:scale>
        <p:origin x="1883" y="41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03" d="100"/>
          <a:sy n="103" d="100"/>
        </p:scale>
        <p:origin x="4328" y="6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023DB037-710F-4A44-BDF0-28DC42F2FAE9}" type="datetime1">
              <a:rPr lang="fr-FR" smtClean="0"/>
              <a:t>10/07/2025</a:t>
            </a:fld>
            <a:endParaRPr lang="fr-FR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C18A1656-FDB1-442A-B22F-67D2FDA9ED13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0478500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 noProof="0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4718FD-5C33-42D8-BCA9-0B83DD06AC51}" type="datetime1">
              <a:rPr lang="fr-FR" smtClean="0"/>
              <a:pPr/>
              <a:t>10/07/2025</a:t>
            </a:fld>
            <a:endParaRPr lang="fr-FR" dirty="0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fr-FR" noProof="0" dirty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-FR" noProof="0" dirty="0"/>
              <a:t>Modifiez les styles du texte du masque</a:t>
            </a:r>
          </a:p>
          <a:p>
            <a:pPr lvl="1" rtl="0"/>
            <a:r>
              <a:rPr lang="fr-FR" noProof="0" dirty="0"/>
              <a:t>Deuxième niveau</a:t>
            </a:r>
          </a:p>
          <a:p>
            <a:pPr lvl="2" rtl="0"/>
            <a:r>
              <a:rPr lang="fr-FR" noProof="0" dirty="0"/>
              <a:t>Troisième niveau</a:t>
            </a:r>
          </a:p>
          <a:p>
            <a:pPr lvl="3" rtl="0"/>
            <a:r>
              <a:rPr lang="fr-FR" noProof="0" dirty="0"/>
              <a:t>Quatrième niveau</a:t>
            </a:r>
          </a:p>
          <a:p>
            <a:pPr lvl="4" rtl="0"/>
            <a:r>
              <a:rPr lang="fr-FR" noProof="0" dirty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 noProof="0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6336304E-FDE3-4B4F-A3B7-EBE87F3FA5E2}" type="slidenum">
              <a:rPr lang="fr-FR" noProof="0" smtClean="0"/>
              <a:t>‹#›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408513861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6336304E-FDE3-4B4F-A3B7-EBE87F3FA5E2}" type="slidenum">
              <a:rPr lang="fr-FR" smtClean="0"/>
              <a:t>1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855309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237EB7-82ED-461E-092B-1C4B46751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20906A-1723-FA26-1162-E9E0443B42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668E71-A821-DC96-C5FB-1D67F4F5BD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Slide – Deployment Strategy (Short Talk)</a:t>
            </a:r>
          </a:p>
          <a:p>
            <a:endParaRPr lang="en-US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We adopted a </a:t>
            </a:r>
            <a:r>
              <a:rPr lang="en-US" b="1" dirty="0"/>
              <a:t>modular two-layer design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 </a:t>
            </a:r>
            <a:r>
              <a:rPr lang="en-US" dirty="0" err="1"/>
              <a:t>FastAPI</a:t>
            </a:r>
            <a:r>
              <a:rPr lang="en-US" dirty="0"/>
              <a:t> backend serving two prediction endpoints.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 </a:t>
            </a:r>
            <a:r>
              <a:rPr lang="en-US" dirty="0" err="1"/>
              <a:t>Streamlit</a:t>
            </a:r>
            <a:r>
              <a:rPr lang="en-US" dirty="0"/>
              <a:t>-based frontend for user interaction.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This allowed </a:t>
            </a:r>
            <a:r>
              <a:rPr lang="en-US" b="1" dirty="0"/>
              <a:t>independent development and testing</a:t>
            </a:r>
            <a:r>
              <a:rPr lang="en-US" dirty="0"/>
              <a:t>, e.g., with Postman.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We containerized both services with Docker, deployed them separately, and ensured consistent builds across environments. This helped with </a:t>
            </a:r>
            <a:r>
              <a:rPr lang="en-US" b="1" dirty="0"/>
              <a:t>versioning, testing</a:t>
            </a:r>
            <a:r>
              <a:rPr lang="en-US" dirty="0"/>
              <a:t>, and </a:t>
            </a:r>
            <a:r>
              <a:rPr lang="en-US" b="1" dirty="0"/>
              <a:t>parity</a:t>
            </a:r>
            <a:r>
              <a:rPr lang="en-US" dirty="0"/>
              <a:t> between dev, staging, and production.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For deployment, we chose </a:t>
            </a:r>
            <a:r>
              <a:rPr lang="en-US" b="1" dirty="0"/>
              <a:t>Azure</a:t>
            </a:r>
            <a:r>
              <a:rPr lang="en-US" dirty="0"/>
              <a:t> for its enterprise-grade flexibility: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We used Azure App Service for both frontend and backend,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and ACR to securely host Docker images.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Compared to Render, Azure gives us better control over </a:t>
            </a:r>
            <a:r>
              <a:rPr lang="en-US" b="1" dirty="0"/>
              <a:t>startup behavior</a:t>
            </a:r>
            <a:r>
              <a:rPr lang="en-US" dirty="0"/>
              <a:t>, </a:t>
            </a:r>
            <a:r>
              <a:rPr lang="en-US" b="1" dirty="0"/>
              <a:t>environment variables</a:t>
            </a:r>
            <a:r>
              <a:rPr lang="en-US" dirty="0"/>
              <a:t>, and </a:t>
            </a:r>
            <a:r>
              <a:rPr lang="en-US" b="1" dirty="0"/>
              <a:t>logs</a:t>
            </a:r>
            <a:r>
              <a:rPr lang="en-US" dirty="0"/>
              <a:t>, along with built-in </a:t>
            </a:r>
            <a:r>
              <a:rPr lang="en-US" b="1" dirty="0"/>
              <a:t>monitoring tools</a:t>
            </a:r>
            <a:r>
              <a:rPr lang="en-US" dirty="0"/>
              <a:t> and scalable infrastructure.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8FD9D9-44A1-B1C8-984C-541E4300FF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6336304E-FDE3-4B4F-A3B7-EBE87F3FA5E2}" type="slidenum">
              <a:rPr lang="fr-FR" noProof="0" smtClean="0"/>
              <a:t>2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18067212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5AC659-0481-8B67-EA29-1E235C5EF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C69DF8-93B5-1F63-B636-CF818A8DF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27565C-6406-32D6-9EE4-B66ED6D684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4D3AC-912F-FB73-7257-C29495F8F3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6336304E-FDE3-4B4F-A3B7-EBE87F3FA5E2}" type="slidenum">
              <a:rPr lang="fr-FR" noProof="0" smtClean="0"/>
              <a:t>3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8812881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21852F-A958-B4E4-75BD-F2665FC86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C820DB-4134-2D8F-B0FB-1E84D8141E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3C11C9-84B7-9D19-D456-E1CEFBCDC8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Streamlit</a:t>
            </a:r>
            <a:r>
              <a:rPr lang="en-US" dirty="0"/>
              <a:t> is great for prototyping, but it doesn't scale well for complex production apps. </a:t>
            </a:r>
          </a:p>
          <a:p>
            <a:r>
              <a:rPr lang="en-US" dirty="0"/>
              <a:t>Here’s why we may </a:t>
            </a:r>
            <a:r>
              <a:rPr lang="en-US" dirty="0" err="1"/>
              <a:t>moveto</a:t>
            </a:r>
            <a:r>
              <a:rPr lang="en-US" dirty="0"/>
              <a:t> frameworks like </a:t>
            </a:r>
            <a:r>
              <a:rPr lang="en-US" b="1" dirty="0"/>
              <a:t>React</a:t>
            </a:r>
            <a:r>
              <a:rPr lang="en-US" dirty="0"/>
              <a:t>:</a:t>
            </a:r>
          </a:p>
          <a:p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Streamlit</a:t>
            </a:r>
            <a:r>
              <a:rPr lang="en-US" dirty="0"/>
              <a:t> has no routing and lacks advanced state management.</a:t>
            </a:r>
            <a:br>
              <a:rPr lang="en-US" dirty="0"/>
            </a:br>
            <a:r>
              <a:rPr lang="en-US" dirty="0"/>
              <a:t>With React or Angular, we get </a:t>
            </a:r>
            <a:r>
              <a:rPr lang="en-US" b="1" dirty="0"/>
              <a:t>client-side routing</a:t>
            </a:r>
            <a:r>
              <a:rPr lang="en-US" dirty="0"/>
              <a:t> and </a:t>
            </a:r>
            <a:r>
              <a:rPr lang="en-US" b="1" dirty="0"/>
              <a:t>global state control</a:t>
            </a:r>
            <a:r>
              <a:rPr lang="en-US" dirty="0"/>
              <a:t> using tools like Redux.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Streamlit</a:t>
            </a:r>
            <a:r>
              <a:rPr lang="en-US" dirty="0"/>
              <a:t> is limited in UI flexibility and mobile responsiveness.</a:t>
            </a:r>
            <a:br>
              <a:rPr lang="en-US" dirty="0"/>
            </a:br>
            <a:r>
              <a:rPr lang="en-US" dirty="0"/>
              <a:t>In React, we can fully </a:t>
            </a:r>
            <a:r>
              <a:rPr lang="en-US" b="1" dirty="0"/>
              <a:t>customize the design</a:t>
            </a:r>
            <a:r>
              <a:rPr lang="en-US" dirty="0"/>
              <a:t> with CSS, Tailwind, and animations.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Security is very basic on </a:t>
            </a:r>
            <a:r>
              <a:rPr lang="en-US" dirty="0" err="1"/>
              <a:t>Streamlit</a:t>
            </a:r>
            <a:r>
              <a:rPr lang="en-US" dirty="0"/>
              <a:t> — no enterprise-grade access control.</a:t>
            </a:r>
            <a:br>
              <a:rPr lang="en-US" dirty="0"/>
            </a:br>
            <a:r>
              <a:rPr lang="en-US" dirty="0"/>
              <a:t>Modern frameworks integrate with </a:t>
            </a:r>
            <a:r>
              <a:rPr lang="en-US" b="1" dirty="0"/>
              <a:t>OAuth2, Firebase, or Azure AD</a:t>
            </a:r>
            <a:r>
              <a:rPr lang="en-US" dirty="0"/>
              <a:t>, enabling </a:t>
            </a:r>
            <a:r>
              <a:rPr lang="en-US" b="1" dirty="0"/>
              <a:t>fine-grained user access</a:t>
            </a:r>
            <a:r>
              <a:rPr lang="en-US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5737D3-F154-BA75-AFA6-566E4EE4D2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6336304E-FDE3-4B4F-A3B7-EBE87F3FA5E2}" type="slidenum">
              <a:rPr lang="fr-FR" noProof="0" smtClean="0"/>
              <a:t>5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34820105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CF387-FBB8-21A8-D8C7-BFA60B19D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4EB048-8144-71CF-0979-DCA532398E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D5F3F4-FB20-4E2F-1275-3B04622E4C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We moved from Render to Azure to gain more control, automation, and observability.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Here's a summary of the main reasons: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Render offers limited control over container startup, ports, and environment variables.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Azure provides full control over these aspects.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We experienced cold starts and inconsistent performance on Render.</a:t>
            </a:r>
            <a:br>
              <a:rPr lang="en-US" dirty="0"/>
            </a:br>
            <a:endParaRPr lang="en-US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Azure ensures stable performance with autoscaling and production-grade plans.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Render lacks scripting tools for automated deployments.</a:t>
            </a:r>
            <a:br>
              <a:rPr lang="en-US" dirty="0"/>
            </a:br>
            <a:endParaRPr lang="en-US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Azure supports full automation via CLI and Infrastructure as Code tools like Bicep and Terraform.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Render does not offer integrated monitoring or diagnostics.</a:t>
            </a:r>
            <a:br>
              <a:rPr lang="en-US" dirty="0"/>
            </a:br>
            <a:r>
              <a:rPr lang="en-US" dirty="0"/>
              <a:t>Azure includes tools like Monitor and Application Insights for observability and debugging.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BC136A-C575-2830-EA9B-F07BAEFCBB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6336304E-FDE3-4B4F-A3B7-EBE87F3FA5E2}" type="slidenum">
              <a:rPr lang="fr-FR" noProof="0" smtClean="0"/>
              <a:t>6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38282863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Slide – Real Estate App Deployment (Talk)</a:t>
            </a:r>
          </a:p>
          <a:p>
            <a:r>
              <a:rPr lang="en-US" dirty="0"/>
              <a:t>This diagram shows our </a:t>
            </a:r>
            <a:r>
              <a:rPr lang="en-US" b="1" dirty="0"/>
              <a:t>end-to-end architecture</a:t>
            </a:r>
            <a:r>
              <a:rPr lang="en-US" dirty="0"/>
              <a:t> for deploying the real estate price prediction app using </a:t>
            </a:r>
            <a:r>
              <a:rPr lang="en-US" b="1" dirty="0"/>
              <a:t>Docker and Azure services</a:t>
            </a:r>
            <a:r>
              <a:rPr lang="en-US" dirty="0"/>
              <a:t>.</a:t>
            </a:r>
          </a:p>
          <a:p>
            <a:r>
              <a:rPr lang="en-US" dirty="0"/>
              <a:t>We designed the system with </a:t>
            </a:r>
            <a:r>
              <a:rPr lang="en-US" b="1" dirty="0"/>
              <a:t>two separate components</a:t>
            </a:r>
            <a:r>
              <a:rPr lang="en-US" dirty="0"/>
              <a:t>:</a:t>
            </a:r>
          </a:p>
          <a:p>
            <a:r>
              <a:rPr lang="en-US" b="1" dirty="0"/>
              <a:t>1. Frontend – </a:t>
            </a:r>
            <a:r>
              <a:rPr lang="en-US" b="1" dirty="0" err="1"/>
              <a:t>Streamlit</a:t>
            </a:r>
            <a:r>
              <a:rPr lang="en-US" b="1" dirty="0"/>
              <a:t> UI</a:t>
            </a:r>
          </a:p>
          <a:p>
            <a:r>
              <a:rPr lang="en-US" dirty="0"/>
              <a:t>The user interacts with a simple interface to input property details.</a:t>
            </a:r>
          </a:p>
          <a:p>
            <a:r>
              <a:rPr lang="en-US" dirty="0"/>
              <a:t>These inputs are processed by the </a:t>
            </a:r>
            <a:r>
              <a:rPr lang="en-US" dirty="0" err="1"/>
              <a:t>InputFeatureConverter</a:t>
            </a:r>
            <a:r>
              <a:rPr lang="en-US" dirty="0"/>
              <a:t>, then passed as </a:t>
            </a:r>
            <a:r>
              <a:rPr lang="en-US" b="1" dirty="0"/>
              <a:t>JSON</a:t>
            </a:r>
            <a:r>
              <a:rPr lang="en-US" dirty="0"/>
              <a:t> to the backend API.</a:t>
            </a:r>
          </a:p>
          <a:p>
            <a:r>
              <a:rPr lang="en-US" dirty="0"/>
              <a:t>After receiving the predicted price, the result is displayed to the user.</a:t>
            </a:r>
          </a:p>
          <a:p>
            <a:r>
              <a:rPr lang="en-US" b="1" dirty="0"/>
              <a:t>2. Backend – </a:t>
            </a:r>
            <a:r>
              <a:rPr lang="en-US" b="1" dirty="0" err="1"/>
              <a:t>FastAPI</a:t>
            </a:r>
            <a:endParaRPr lang="en-US" b="1" dirty="0"/>
          </a:p>
          <a:p>
            <a:r>
              <a:rPr lang="en-US" dirty="0"/>
              <a:t>The backend exposes a </a:t>
            </a:r>
            <a:r>
              <a:rPr lang="en-US" b="1" dirty="0"/>
              <a:t>REST API</a:t>
            </a:r>
            <a:r>
              <a:rPr lang="en-US" dirty="0"/>
              <a:t> with two endpoints:</a:t>
            </a:r>
          </a:p>
          <a:p>
            <a:pPr lvl="1"/>
            <a:r>
              <a:rPr lang="en-US" dirty="0"/>
              <a:t>Predict All: uses all features for maximum accuracy.</a:t>
            </a:r>
          </a:p>
          <a:p>
            <a:pPr lvl="1"/>
            <a:r>
              <a:rPr lang="en-US" dirty="0"/>
              <a:t>Predict Top 30: uses only the 30 most important features for a faster, lightweight prediction.</a:t>
            </a:r>
          </a:p>
          <a:p>
            <a:r>
              <a:rPr lang="en-US" dirty="0"/>
              <a:t>Both endpoints load the appropriate .</a:t>
            </a:r>
            <a:r>
              <a:rPr lang="en-US" dirty="0" err="1"/>
              <a:t>pkl</a:t>
            </a:r>
            <a:r>
              <a:rPr lang="en-US" dirty="0"/>
              <a:t> models and return the prediction as JSON.</a:t>
            </a:r>
          </a:p>
          <a:p>
            <a:r>
              <a:rPr lang="en-US" b="1" dirty="0"/>
              <a:t>3. Containerization &amp; Azure Deployment</a:t>
            </a:r>
          </a:p>
          <a:p>
            <a:r>
              <a:rPr lang="en-US" dirty="0"/>
              <a:t>We built </a:t>
            </a:r>
            <a:r>
              <a:rPr lang="en-US" b="1" dirty="0"/>
              <a:t>separate Docker images</a:t>
            </a:r>
            <a:r>
              <a:rPr lang="en-US" dirty="0"/>
              <a:t> for the frontend and backend.</a:t>
            </a:r>
          </a:p>
          <a:p>
            <a:r>
              <a:rPr lang="en-US" dirty="0"/>
              <a:t>These images are pushed to </a:t>
            </a:r>
            <a:r>
              <a:rPr lang="en-US" b="1" dirty="0"/>
              <a:t>Azure Container Registry (ACR)</a:t>
            </a:r>
            <a:r>
              <a:rPr lang="en-US" dirty="0"/>
              <a:t>.</a:t>
            </a:r>
          </a:p>
          <a:p>
            <a:r>
              <a:rPr lang="en-US" dirty="0"/>
              <a:t>They are then deployed to </a:t>
            </a:r>
            <a:r>
              <a:rPr lang="en-US" b="1" dirty="0"/>
              <a:t>Azure App Service</a:t>
            </a:r>
            <a:r>
              <a:rPr lang="en-US" dirty="0"/>
              <a:t> — one for the frontend UI, one for the backend API.</a:t>
            </a:r>
          </a:p>
          <a:p>
            <a:r>
              <a:rPr lang="en-US" dirty="0"/>
              <a:t>We use </a:t>
            </a:r>
            <a:r>
              <a:rPr lang="en-US" b="1" dirty="0"/>
              <a:t>Azure Monitor and Application Insights</a:t>
            </a:r>
            <a:r>
              <a:rPr lang="en-US" dirty="0"/>
              <a:t> for observability and diagnostics.</a:t>
            </a:r>
          </a:p>
          <a:p>
            <a:r>
              <a:rPr lang="en-US" dirty="0"/>
              <a:t>This setup ensures </a:t>
            </a:r>
            <a:r>
              <a:rPr lang="en-US" b="1" dirty="0"/>
              <a:t>modularity, scalability, and traceability</a:t>
            </a:r>
            <a:r>
              <a:rPr lang="en-US" dirty="0"/>
              <a:t>, with each component independently testable and upgradable.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6336304E-FDE3-4B4F-A3B7-EBE87F3FA5E2}" type="slidenum">
              <a:rPr lang="fr-FR" noProof="0" smtClean="0"/>
              <a:t>7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35880387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237EB7-82ED-461E-092B-1C4B46751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20906A-1723-FA26-1162-E9E0443B42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668E71-A821-DC96-C5FB-1D67F4F5BD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Slide – Deployment Strategy (Short Talk)</a:t>
            </a:r>
          </a:p>
          <a:p>
            <a:endParaRPr lang="en-US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We adopted a </a:t>
            </a:r>
            <a:r>
              <a:rPr lang="en-US" b="1" dirty="0"/>
              <a:t>modular two-layer design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 </a:t>
            </a:r>
            <a:r>
              <a:rPr lang="en-US" dirty="0" err="1"/>
              <a:t>FastAPI</a:t>
            </a:r>
            <a:r>
              <a:rPr lang="en-US" dirty="0"/>
              <a:t> backend serving two prediction endpoints.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 </a:t>
            </a:r>
            <a:r>
              <a:rPr lang="en-US" dirty="0" err="1"/>
              <a:t>Streamlit</a:t>
            </a:r>
            <a:r>
              <a:rPr lang="en-US" dirty="0"/>
              <a:t>-based frontend for user interaction.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This allowed </a:t>
            </a:r>
            <a:r>
              <a:rPr lang="en-US" b="1" dirty="0"/>
              <a:t>independent development and testing</a:t>
            </a:r>
            <a:r>
              <a:rPr lang="en-US" dirty="0"/>
              <a:t>, e.g., with Postman.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We containerized both services with Docker, deployed them separately, and ensured consistent builds across environments. This helped with </a:t>
            </a:r>
            <a:r>
              <a:rPr lang="en-US" b="1" dirty="0"/>
              <a:t>versioning, testing</a:t>
            </a:r>
            <a:r>
              <a:rPr lang="en-US" dirty="0"/>
              <a:t>, and </a:t>
            </a:r>
            <a:r>
              <a:rPr lang="en-US" b="1" dirty="0"/>
              <a:t>parity</a:t>
            </a:r>
            <a:r>
              <a:rPr lang="en-US" dirty="0"/>
              <a:t> between dev, staging, and production.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For deployment, we chose </a:t>
            </a:r>
            <a:r>
              <a:rPr lang="en-US" b="1" dirty="0"/>
              <a:t>Azure</a:t>
            </a:r>
            <a:r>
              <a:rPr lang="en-US" dirty="0"/>
              <a:t> for its enterprise-grade flexibility: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We used Azure App Service for both frontend and backend,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and ACR to securely host Docker images.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Compared to Render, Azure gives us better control over </a:t>
            </a:r>
            <a:r>
              <a:rPr lang="en-US" b="1" dirty="0"/>
              <a:t>startup behavior</a:t>
            </a:r>
            <a:r>
              <a:rPr lang="en-US" dirty="0"/>
              <a:t>, </a:t>
            </a:r>
            <a:r>
              <a:rPr lang="en-US" b="1" dirty="0"/>
              <a:t>environment variables</a:t>
            </a:r>
            <a:r>
              <a:rPr lang="en-US" dirty="0"/>
              <a:t>, and </a:t>
            </a:r>
            <a:r>
              <a:rPr lang="en-US" b="1" dirty="0"/>
              <a:t>logs</a:t>
            </a:r>
            <a:r>
              <a:rPr lang="en-US" dirty="0"/>
              <a:t>, along with built-in </a:t>
            </a:r>
            <a:r>
              <a:rPr lang="en-US" b="1" dirty="0"/>
              <a:t>monitoring tools</a:t>
            </a:r>
            <a:r>
              <a:rPr lang="en-US" dirty="0"/>
              <a:t> and scalable infrastructure.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8FD9D9-44A1-B1C8-984C-541E4300FF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6336304E-FDE3-4B4F-A3B7-EBE87F3FA5E2}" type="slidenum">
              <a:rPr lang="fr-FR" noProof="0" smtClean="0"/>
              <a:t>9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1806721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Slide_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 13">
            <a:extLst>
              <a:ext uri="{FF2B5EF4-FFF2-40B4-BE49-F238E27FC236}">
                <a16:creationId xmlns:a16="http://schemas.microsoft.com/office/drawing/2014/main" id="{4CBBF2B8-706E-B44D-97A9-0D39894DD103}"/>
              </a:ext>
            </a:extLst>
          </p:cNvPr>
          <p:cNvSpPr/>
          <p:nvPr userDrawn="1"/>
        </p:nvSpPr>
        <p:spPr>
          <a:xfrm>
            <a:off x="0" y="946150"/>
            <a:ext cx="3413125" cy="507853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456FD49-C258-4333-9422-358C976A341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574059" y="2173288"/>
            <a:ext cx="5143500" cy="2090808"/>
          </a:xfrm>
        </p:spPr>
        <p:txBody>
          <a:bodyPr rtlCol="0" anchor="b">
            <a:noAutofit/>
          </a:bodyPr>
          <a:lstStyle>
            <a:lvl1pPr algn="l">
              <a:defRPr sz="5400" b="1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rtl="0"/>
            <a:r>
              <a:rPr lang="fr-FR" noProof="0" dirty="0"/>
              <a:t>Le sous-titre vient ici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9758E15-A93D-4FB9-843D-1490E27A1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74059" y="4279971"/>
            <a:ext cx="5143500" cy="503167"/>
          </a:xfrm>
        </p:spPr>
        <p:txBody>
          <a:bodyPr rtlCol="0">
            <a:no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en-US" noProof="0"/>
              <a:t>Click to edit Master subtitle style</a:t>
            </a:r>
            <a:endParaRPr lang="fr-FR" noProof="0" dirty="0"/>
          </a:p>
        </p:txBody>
      </p:sp>
      <p:sp>
        <p:nvSpPr>
          <p:cNvPr id="13" name="Espace réservé d’image 12">
            <a:extLst>
              <a:ext uri="{FF2B5EF4-FFF2-40B4-BE49-F238E27FC236}">
                <a16:creationId xmlns:a16="http://schemas.microsoft.com/office/drawing/2014/main" id="{BCCC559D-0EC3-432C-B397-6897B366DF3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31001" y="927100"/>
            <a:ext cx="5107104" cy="5107104"/>
          </a:xfrm>
          <a:prstGeom prst="ellipse">
            <a:avLst/>
          </a:prstGeom>
          <a:solidFill>
            <a:schemeClr val="bg2"/>
          </a:solidFill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819AFA09-F4B1-493D-BCAD-FF30C20CD1AA}"/>
              </a:ext>
            </a:extLst>
          </p:cNvPr>
          <p:cNvCxnSpPr/>
          <p:nvPr userDrawn="1"/>
        </p:nvCxnSpPr>
        <p:spPr>
          <a:xfrm>
            <a:off x="6469778" y="4233582"/>
            <a:ext cx="5076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e 3">
            <a:extLst>
              <a:ext uri="{FF2B5EF4-FFF2-40B4-BE49-F238E27FC236}">
                <a16:creationId xmlns:a16="http://schemas.microsoft.com/office/drawing/2014/main" id="{A3810CFD-79E6-B72B-CEA1-215AAF66B3B1}"/>
              </a:ext>
            </a:extLst>
          </p:cNvPr>
          <p:cNvSpPr/>
          <p:nvPr userDrawn="1"/>
        </p:nvSpPr>
        <p:spPr>
          <a:xfrm>
            <a:off x="474441" y="701041"/>
            <a:ext cx="5621559" cy="5593080"/>
          </a:xfrm>
          <a:prstGeom prst="ellipse">
            <a:avLst/>
          </a:prstGeom>
          <a:solidFill>
            <a:schemeClr val="bg2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3388496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Slide_0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6299464-ED20-4919-8B3A-2CFAE8DA234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456FD49-C258-4333-9422-358C976A341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43650" y="2173288"/>
            <a:ext cx="5143500" cy="2090808"/>
          </a:xfrm>
        </p:spPr>
        <p:txBody>
          <a:bodyPr rtlCol="0" anchor="b">
            <a:noAutofit/>
          </a:bodyPr>
          <a:lstStyle>
            <a:lvl1pPr algn="l">
              <a:defRPr sz="5400" b="1" cap="all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fr-FR" noProof="0" dirty="0"/>
              <a:t>Le sous-titre vient ici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9758E15-A93D-4FB9-843D-1490E27A1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43650" y="4279971"/>
            <a:ext cx="5143500" cy="503167"/>
          </a:xfrm>
        </p:spPr>
        <p:txBody>
          <a:bodyPr rtlCol="0">
            <a:noAutofit/>
          </a:bodyPr>
          <a:lstStyle>
            <a:lvl1pPr marL="0" indent="0" algn="l">
              <a:buNone/>
              <a:defRPr sz="1800" b="0" cap="all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en-US" noProof="0"/>
              <a:t>Click to edit Master subtitle style</a:t>
            </a:r>
            <a:endParaRPr lang="fr-FR" noProof="0" dirty="0"/>
          </a:p>
        </p:txBody>
      </p:sp>
      <p:sp>
        <p:nvSpPr>
          <p:cNvPr id="13" name="Espace réservé d’image 12">
            <a:extLst>
              <a:ext uri="{FF2B5EF4-FFF2-40B4-BE49-F238E27FC236}">
                <a16:creationId xmlns:a16="http://schemas.microsoft.com/office/drawing/2014/main" id="{BCCC559D-0EC3-432C-B397-6897B366DF3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0812" y="728545"/>
            <a:ext cx="5305661" cy="5305661"/>
          </a:xfrm>
          <a:prstGeom prst="ellipse">
            <a:avLst/>
          </a:prstGeom>
          <a:solidFill>
            <a:schemeClr val="bg2"/>
          </a:solidFill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819AFA09-F4B1-493D-BCAD-FF30C20CD1AA}"/>
              </a:ext>
            </a:extLst>
          </p:cNvPr>
          <p:cNvCxnSpPr/>
          <p:nvPr userDrawn="1"/>
        </p:nvCxnSpPr>
        <p:spPr>
          <a:xfrm>
            <a:off x="6469778" y="4233582"/>
            <a:ext cx="5040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E79295A-6329-DCD2-C50F-8266607D726E}"/>
              </a:ext>
            </a:extLst>
          </p:cNvPr>
          <p:cNvSpPr txBox="1"/>
          <p:nvPr userDrawn="1"/>
        </p:nvSpPr>
        <p:spPr>
          <a:xfrm>
            <a:off x="6343650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Klebert, Preeti, Sofia, Yves</a:t>
            </a:r>
            <a:endParaRPr lang="en-US" noProof="0" dirty="0">
              <a:solidFill>
                <a:schemeClr val="bg1"/>
              </a:solidFill>
            </a:endParaRPr>
          </a:p>
        </p:txBody>
      </p:sp>
      <p:sp>
        <p:nvSpPr>
          <p:cNvPr id="7" name="Forme libre 6">
            <a:extLst>
              <a:ext uri="{FF2B5EF4-FFF2-40B4-BE49-F238E27FC236}">
                <a16:creationId xmlns:a16="http://schemas.microsoft.com/office/drawing/2014/main" id="{1832B6A8-6A08-18E1-91EB-6DAAE10C2064}"/>
              </a:ext>
            </a:extLst>
          </p:cNvPr>
          <p:cNvSpPr>
            <a:spLocks/>
          </p:cNvSpPr>
          <p:nvPr userDrawn="1"/>
        </p:nvSpPr>
        <p:spPr bwMode="auto">
          <a:xfrm rot="18900000">
            <a:off x="137557" y="799106"/>
            <a:ext cx="3908719" cy="7654304"/>
          </a:xfrm>
          <a:custGeom>
            <a:avLst/>
            <a:gdLst>
              <a:gd name="T0" fmla="*/ 0 w 196"/>
              <a:gd name="T1" fmla="*/ 198 h 393"/>
              <a:gd name="T2" fmla="*/ 157 w 196"/>
              <a:gd name="T3" fmla="*/ 8 h 393"/>
              <a:gd name="T4" fmla="*/ 192 w 196"/>
              <a:gd name="T5" fmla="*/ 22 h 393"/>
              <a:gd name="T6" fmla="*/ 167 w 196"/>
              <a:gd name="T7" fmla="*/ 56 h 393"/>
              <a:gd name="T8" fmla="*/ 48 w 196"/>
              <a:gd name="T9" fmla="*/ 198 h 393"/>
              <a:gd name="T10" fmla="*/ 170 w 196"/>
              <a:gd name="T11" fmla="*/ 339 h 393"/>
              <a:gd name="T12" fmla="*/ 193 w 196"/>
              <a:gd name="T13" fmla="*/ 372 h 393"/>
              <a:gd name="T14" fmla="*/ 160 w 196"/>
              <a:gd name="T15" fmla="*/ 387 h 393"/>
              <a:gd name="T16" fmla="*/ 0 w 196"/>
              <a:gd name="T17" fmla="*/ 198 h 3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96" h="393">
                <a:moveTo>
                  <a:pt x="0" y="198"/>
                </a:moveTo>
                <a:cubicBezTo>
                  <a:pt x="0" y="103"/>
                  <a:pt x="64" y="26"/>
                  <a:pt x="157" y="8"/>
                </a:cubicBezTo>
                <a:cubicBezTo>
                  <a:pt x="171" y="6"/>
                  <a:pt x="188" y="0"/>
                  <a:pt x="192" y="22"/>
                </a:cubicBezTo>
                <a:cubicBezTo>
                  <a:pt x="196" y="41"/>
                  <a:pt x="190" y="52"/>
                  <a:pt x="167" y="56"/>
                </a:cubicBezTo>
                <a:cubicBezTo>
                  <a:pt x="95" y="70"/>
                  <a:pt x="47" y="129"/>
                  <a:pt x="48" y="198"/>
                </a:cubicBezTo>
                <a:cubicBezTo>
                  <a:pt x="48" y="267"/>
                  <a:pt x="97" y="325"/>
                  <a:pt x="170" y="339"/>
                </a:cubicBezTo>
                <a:cubicBezTo>
                  <a:pt x="191" y="343"/>
                  <a:pt x="195" y="354"/>
                  <a:pt x="193" y="372"/>
                </a:cubicBezTo>
                <a:cubicBezTo>
                  <a:pt x="190" y="393"/>
                  <a:pt x="174" y="389"/>
                  <a:pt x="160" y="387"/>
                </a:cubicBezTo>
                <a:cubicBezTo>
                  <a:pt x="70" y="375"/>
                  <a:pt x="0" y="293"/>
                  <a:pt x="0" y="198"/>
                </a:cubicBezTo>
                <a:close/>
              </a:path>
            </a:pathLst>
          </a:custGeom>
          <a:solidFill>
            <a:schemeClr val="bg2">
              <a:alpha val="91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rtl="0"/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13121408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pos="7333" userDrawn="1">
          <p15:clr>
            <a:srgbClr val="FBAE40"/>
          </p15:clr>
        </p15:guide>
        <p15:guide id="4" pos="362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’en-tête de section avec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9087E09-D75F-4E26-B01E-A1A09BA2EA7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F7A70B7-7ADE-4E0B-B956-363B0B1AA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2563"/>
            <a:ext cx="10515600" cy="940181"/>
          </a:xfrm>
        </p:spPr>
        <p:txBody>
          <a:bodyPr rtlCol="0" anchor="b">
            <a:noAutofit/>
          </a:bodyPr>
          <a:lstStyle>
            <a:lvl1pPr algn="ctr">
              <a:defRPr sz="4000" b="1" cap="all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ACB5603-8A62-4D45-B6EF-0D7E2D5FC4F7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39388" y="1154832"/>
            <a:ext cx="7900525" cy="764460"/>
          </a:xfrm>
        </p:spPr>
        <p:txBody>
          <a:bodyPr rtlCol="0">
            <a:noAutofit/>
          </a:bodyPr>
          <a:lstStyle>
            <a:lvl1pPr marL="0" indent="0" algn="ctr">
              <a:buNone/>
              <a:defRPr sz="1800" cap="none" baseline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fr-FR" noProof="0" dirty="0"/>
              <a:t>Le texte factice vient ici</a:t>
            </a:r>
          </a:p>
        </p:txBody>
      </p:sp>
      <p:sp>
        <p:nvSpPr>
          <p:cNvPr id="11" name="Ovale 10">
            <a:extLst>
              <a:ext uri="{FF2B5EF4-FFF2-40B4-BE49-F238E27FC236}">
                <a16:creationId xmlns:a16="http://schemas.microsoft.com/office/drawing/2014/main" id="{8931D2A9-0B92-4197-8802-80424C14EA7E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3B74B0-30B9-45C2-9AE6-45D1978AA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rgbClr val="2C567A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15" name="Espace réservé d’image 14">
            <a:extLst>
              <a:ext uri="{FF2B5EF4-FFF2-40B4-BE49-F238E27FC236}">
                <a16:creationId xmlns:a16="http://schemas.microsoft.com/office/drawing/2014/main" id="{B5A30B6B-EEDB-4142-8138-D50F5A307D7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93041" y="2270376"/>
            <a:ext cx="6206400" cy="4587625"/>
          </a:xfrm>
          <a:custGeom>
            <a:avLst/>
            <a:gdLst>
              <a:gd name="connsiteX0" fmla="*/ 3103200 w 6206400"/>
              <a:gd name="connsiteY0" fmla="*/ 0 h 4587625"/>
              <a:gd name="connsiteX1" fmla="*/ 6206400 w 6206400"/>
              <a:gd name="connsiteY1" fmla="*/ 3103200 h 4587625"/>
              <a:gd name="connsiteX2" fmla="*/ 5831861 w 6206400"/>
              <a:gd name="connsiteY2" fmla="*/ 4582370 h 4587625"/>
              <a:gd name="connsiteX3" fmla="*/ 5828668 w 6206400"/>
              <a:gd name="connsiteY3" fmla="*/ 4587625 h 4587625"/>
              <a:gd name="connsiteX4" fmla="*/ 377733 w 6206400"/>
              <a:gd name="connsiteY4" fmla="*/ 4587625 h 4587625"/>
              <a:gd name="connsiteX5" fmla="*/ 374540 w 6206400"/>
              <a:gd name="connsiteY5" fmla="*/ 4582370 h 4587625"/>
              <a:gd name="connsiteX6" fmla="*/ 0 w 6206400"/>
              <a:gd name="connsiteY6" fmla="*/ 3103200 h 4587625"/>
              <a:gd name="connsiteX7" fmla="*/ 3103200 w 6206400"/>
              <a:gd name="connsiteY7" fmla="*/ 0 h 4587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206400" h="4587625">
                <a:moveTo>
                  <a:pt x="3103200" y="0"/>
                </a:moveTo>
                <a:cubicBezTo>
                  <a:pt x="4817050" y="0"/>
                  <a:pt x="6206400" y="1389350"/>
                  <a:pt x="6206400" y="3103200"/>
                </a:cubicBezTo>
                <a:cubicBezTo>
                  <a:pt x="6206400" y="3638778"/>
                  <a:pt x="6070721" y="4142667"/>
                  <a:pt x="5831861" y="4582370"/>
                </a:cubicBezTo>
                <a:lnTo>
                  <a:pt x="5828668" y="4587625"/>
                </a:lnTo>
                <a:lnTo>
                  <a:pt x="377733" y="4587625"/>
                </a:lnTo>
                <a:lnTo>
                  <a:pt x="374540" y="4582370"/>
                </a:lnTo>
                <a:cubicBezTo>
                  <a:pt x="135679" y="4142667"/>
                  <a:pt x="0" y="3638778"/>
                  <a:pt x="0" y="3103200"/>
                </a:cubicBezTo>
                <a:cubicBezTo>
                  <a:pt x="0" y="1389350"/>
                  <a:pt x="1389350" y="0"/>
                  <a:pt x="3103200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rtlCol="0" anchor="ctr">
            <a:noAutofit/>
          </a:bodyPr>
          <a:lstStyle>
            <a:lvl1pPr marL="0" indent="0" algn="ctr">
              <a:buNone/>
              <a:defRPr sz="2400"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sp>
        <p:nvSpPr>
          <p:cNvPr id="4" name="Ovale 3">
            <a:extLst>
              <a:ext uri="{FF2B5EF4-FFF2-40B4-BE49-F238E27FC236}">
                <a16:creationId xmlns:a16="http://schemas.microsoft.com/office/drawing/2014/main" id="{F5677D09-47D7-CCF7-2824-73AE268C3491}"/>
              </a:ext>
            </a:extLst>
          </p:cNvPr>
          <p:cNvSpPr/>
          <p:nvPr userDrawn="1"/>
        </p:nvSpPr>
        <p:spPr>
          <a:xfrm>
            <a:off x="2725725" y="2057869"/>
            <a:ext cx="6740550" cy="6706402"/>
          </a:xfrm>
          <a:prstGeom prst="ellipse">
            <a:avLst/>
          </a:prstGeom>
          <a:solidFill>
            <a:schemeClr val="bg2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27504955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 avec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FEE9886-36F0-4E06-A3A6-D8F00B066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960" y="1825625"/>
            <a:ext cx="4914189" cy="4351338"/>
          </a:xfrm>
        </p:spPr>
        <p:txBody>
          <a:bodyPr lIns="0" tIns="0" rIns="0" bIns="0" rtlCol="0">
            <a:no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fr-FR" noProof="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6627016-BFC4-46D4-89DB-F72E3C3461EC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bg1"/>
              </a:solidFill>
            </a:endParaRPr>
          </a:p>
        </p:txBody>
      </p:sp>
      <p:sp>
        <p:nvSpPr>
          <p:cNvPr id="15" name="Ovale 14">
            <a:extLst>
              <a:ext uri="{FF2B5EF4-FFF2-40B4-BE49-F238E27FC236}">
                <a16:creationId xmlns:a16="http://schemas.microsoft.com/office/drawing/2014/main" id="{EF515B4A-CB20-4847-8E00-0DD66F1FEBB4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996B64B9-1DF0-4EE9-BAB5-72AFA94B9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23" name="Espace réservé d’image 22">
            <a:extLst>
              <a:ext uri="{FF2B5EF4-FFF2-40B4-BE49-F238E27FC236}">
                <a16:creationId xmlns:a16="http://schemas.microsoft.com/office/drawing/2014/main" id="{26619E66-5354-4D60-8529-27917AC037C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884648" y="0"/>
            <a:ext cx="6307353" cy="5780372"/>
          </a:xfrm>
          <a:custGeom>
            <a:avLst/>
            <a:gdLst>
              <a:gd name="connsiteX0" fmla="*/ 760444 w 6307353"/>
              <a:gd name="connsiteY0" fmla="*/ 0 h 5780372"/>
              <a:gd name="connsiteX1" fmla="*/ 6307353 w 6307353"/>
              <a:gd name="connsiteY1" fmla="*/ 0 h 5780372"/>
              <a:gd name="connsiteX2" fmla="*/ 6307353 w 6307353"/>
              <a:gd name="connsiteY2" fmla="*/ 4515612 h 5780372"/>
              <a:gd name="connsiteX3" fmla="*/ 6110746 w 6307353"/>
              <a:gd name="connsiteY3" fmla="*/ 4731934 h 5780372"/>
              <a:gd name="connsiteX4" fmla="*/ 3579592 w 6307353"/>
              <a:gd name="connsiteY4" fmla="*/ 5780372 h 5780372"/>
              <a:gd name="connsiteX5" fmla="*/ 0 w 6307353"/>
              <a:gd name="connsiteY5" fmla="*/ 2200780 h 5780372"/>
              <a:gd name="connsiteX6" fmla="*/ 611338 w 6307353"/>
              <a:gd name="connsiteY6" fmla="*/ 199396 h 5780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307353" h="5780372">
                <a:moveTo>
                  <a:pt x="760444" y="0"/>
                </a:moveTo>
                <a:lnTo>
                  <a:pt x="6307353" y="0"/>
                </a:lnTo>
                <a:lnTo>
                  <a:pt x="6307353" y="4515612"/>
                </a:lnTo>
                <a:lnTo>
                  <a:pt x="6110746" y="4731934"/>
                </a:lnTo>
                <a:cubicBezTo>
                  <a:pt x="5462967" y="5379713"/>
                  <a:pt x="4568069" y="5780372"/>
                  <a:pt x="3579592" y="5780372"/>
                </a:cubicBezTo>
                <a:cubicBezTo>
                  <a:pt x="1602638" y="5780372"/>
                  <a:pt x="0" y="4177734"/>
                  <a:pt x="0" y="2200780"/>
                </a:cubicBezTo>
                <a:cubicBezTo>
                  <a:pt x="0" y="1459422"/>
                  <a:pt x="225371" y="770703"/>
                  <a:pt x="611338" y="199396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rtlCol="0" anchor="ctr">
            <a:noAutofit/>
          </a:bodyPr>
          <a:lstStyle>
            <a:lvl1pPr marL="0" indent="0" algn="ctr">
              <a:buNone/>
              <a:defRPr/>
            </a:lvl1pPr>
          </a:lstStyle>
          <a:p>
            <a:pPr rtl="0"/>
            <a:r>
              <a:rPr lang="en-US" noProof="0" dirty="0"/>
              <a:t>Click icon to add picture</a:t>
            </a:r>
            <a:endParaRPr lang="fr-FR" noProof="0" dirty="0"/>
          </a:p>
        </p:txBody>
      </p:sp>
      <p:sp>
        <p:nvSpPr>
          <p:cNvPr id="14" name="Titre 1">
            <a:extLst>
              <a:ext uri="{FF2B5EF4-FFF2-40B4-BE49-F238E27FC236}">
                <a16:creationId xmlns:a16="http://schemas.microsoft.com/office/drawing/2014/main" id="{2E646B4F-6CCB-724C-9D5E-6D57700239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499595"/>
            <a:ext cx="4937211" cy="1325563"/>
          </a:xfrm>
        </p:spPr>
        <p:txBody>
          <a:bodyPr lIns="0" tIns="0" rIns="0" bIns="0" rtlCol="0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4701AE4-277C-9A10-FE8A-9778D46D8C86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  <p:sp>
        <p:nvSpPr>
          <p:cNvPr id="4" name="Ovale 3">
            <a:extLst>
              <a:ext uri="{FF2B5EF4-FFF2-40B4-BE49-F238E27FC236}">
                <a16:creationId xmlns:a16="http://schemas.microsoft.com/office/drawing/2014/main" id="{8F4D28FD-B22F-E8CD-6EAE-7714345CB627}"/>
              </a:ext>
            </a:extLst>
          </p:cNvPr>
          <p:cNvSpPr/>
          <p:nvPr userDrawn="1"/>
        </p:nvSpPr>
        <p:spPr>
          <a:xfrm>
            <a:off x="5595924" y="-1664724"/>
            <a:ext cx="7764475" cy="7725140"/>
          </a:xfrm>
          <a:prstGeom prst="ellipse">
            <a:avLst/>
          </a:prstGeom>
          <a:solidFill>
            <a:schemeClr val="bg2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16962084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970CD0-696D-4313-96BA-4AA72C813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499595"/>
            <a:ext cx="4937211" cy="1325563"/>
          </a:xfrm>
        </p:spPr>
        <p:txBody>
          <a:bodyPr lIns="0" tIns="0" rIns="0" bIns="0" rtlCol="0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3" name="Espace réservé au contenu 2">
            <a:extLst>
              <a:ext uri="{FF2B5EF4-FFF2-40B4-BE49-F238E27FC236}">
                <a16:creationId xmlns:a16="http://schemas.microsoft.com/office/drawing/2014/main" id="{0FEE9886-36F0-4E06-A3A6-D8F00B066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960" y="1825625"/>
            <a:ext cx="4914189" cy="4351338"/>
          </a:xfrm>
        </p:spPr>
        <p:txBody>
          <a:bodyPr lIns="0" tIns="0" rIns="0" bIns="0" rtlCol="0">
            <a:no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fr-FR" noProof="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6627016-BFC4-46D4-89DB-F72E3C3461EC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bg1"/>
              </a:solidFill>
            </a:endParaRPr>
          </a:p>
        </p:txBody>
      </p:sp>
      <p:sp>
        <p:nvSpPr>
          <p:cNvPr id="15" name="Ovale 14">
            <a:extLst>
              <a:ext uri="{FF2B5EF4-FFF2-40B4-BE49-F238E27FC236}">
                <a16:creationId xmlns:a16="http://schemas.microsoft.com/office/drawing/2014/main" id="{EF515B4A-CB20-4847-8E00-0DD66F1FEBB4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996B64B9-1DF0-4EE9-BAB5-72AFA94B9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14" name="Rectangle 13">
            <a:extLst>
              <a:ext uri="{FF2B5EF4-FFF2-40B4-BE49-F238E27FC236}">
                <a16:creationId xmlns:a16="http://schemas.microsoft.com/office/drawing/2014/main" id="{9D415693-E2CB-4DB4-B07C-2F96B0CAB302}"/>
              </a:ext>
            </a:extLst>
          </p:cNvPr>
          <p:cNvSpPr/>
          <p:nvPr userDrawn="1"/>
        </p:nvSpPr>
        <p:spPr>
          <a:xfrm>
            <a:off x="7862871" y="988536"/>
            <a:ext cx="4329129" cy="4880927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4" name="Ovale 3">
            <a:extLst>
              <a:ext uri="{FF2B5EF4-FFF2-40B4-BE49-F238E27FC236}">
                <a16:creationId xmlns:a16="http://schemas.microsoft.com/office/drawing/2014/main" id="{14C1BF67-E354-4E04-8F94-BABF2B7D1AFB}"/>
              </a:ext>
            </a:extLst>
          </p:cNvPr>
          <p:cNvSpPr/>
          <p:nvPr userDrawn="1"/>
        </p:nvSpPr>
        <p:spPr>
          <a:xfrm>
            <a:off x="5219700" y="744537"/>
            <a:ext cx="5327650" cy="5419726"/>
          </a:xfrm>
          <a:prstGeom prst="ellipse">
            <a:avLst/>
          </a:prstGeom>
          <a:solidFill>
            <a:schemeClr val="bg2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8" name="Espace réservé d’image 5">
            <a:extLst>
              <a:ext uri="{FF2B5EF4-FFF2-40B4-BE49-F238E27FC236}">
                <a16:creationId xmlns:a16="http://schemas.microsoft.com/office/drawing/2014/main" id="{FF6AC390-6F85-4B64-AE7A-E8E0D8FC89C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455212" y="988536"/>
            <a:ext cx="4884848" cy="4884848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6D5D98-9711-D54A-A698-B6CE8FFA62DB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99861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12E4E194-63F1-4D43-AC02-75733DF045E9}"/>
              </a:ext>
            </a:extLst>
          </p:cNvPr>
          <p:cNvSpPr/>
          <p:nvPr userDrawn="1"/>
        </p:nvSpPr>
        <p:spPr>
          <a:xfrm>
            <a:off x="8308181" y="1630018"/>
            <a:ext cx="3883819" cy="437321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2" name="Ovale 21">
            <a:extLst>
              <a:ext uri="{FF2B5EF4-FFF2-40B4-BE49-F238E27FC236}">
                <a16:creationId xmlns:a16="http://schemas.microsoft.com/office/drawing/2014/main" id="{E799E3E2-888B-2343-9A63-F84C03265CB5}"/>
              </a:ext>
            </a:extLst>
          </p:cNvPr>
          <p:cNvSpPr>
            <a:spLocks noChangeAspect="1"/>
          </p:cNvSpPr>
          <p:nvPr userDrawn="1"/>
        </p:nvSpPr>
        <p:spPr>
          <a:xfrm>
            <a:off x="9833702" y="1823757"/>
            <a:ext cx="832104" cy="832104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3" name="Espace réservé d’image 11">
            <a:extLst>
              <a:ext uri="{FF2B5EF4-FFF2-40B4-BE49-F238E27FC236}">
                <a16:creationId xmlns:a16="http://schemas.microsoft.com/office/drawing/2014/main" id="{8FEDE8EF-5B7A-A741-9A56-D365CAE01B6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9998318" y="1988373"/>
            <a:ext cx="502873" cy="502873"/>
          </a:xfrm>
          <a:prstGeom prst="rect">
            <a:avLst/>
          </a:prstGeom>
          <a:noFill/>
        </p:spPr>
        <p:txBody>
          <a:bodyPr lIns="0" rIns="0" rtlCol="0" anchor="ctr">
            <a:noAutofit/>
          </a:bodyPr>
          <a:lstStyle>
            <a:lvl1pPr marL="0" indent="0" algn="ctr">
              <a:buNone/>
              <a:defRPr sz="11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 noProof="0" dirty="0"/>
              <a:t>icône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755C1FB-E61C-4BBC-8179-D34908DEA1B6}"/>
              </a:ext>
            </a:extLst>
          </p:cNvPr>
          <p:cNvSpPr/>
          <p:nvPr userDrawn="1"/>
        </p:nvSpPr>
        <p:spPr>
          <a:xfrm>
            <a:off x="0" y="1630018"/>
            <a:ext cx="3883819" cy="437321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4" name="Ovale 3">
            <a:extLst>
              <a:ext uri="{FF2B5EF4-FFF2-40B4-BE49-F238E27FC236}">
                <a16:creationId xmlns:a16="http://schemas.microsoft.com/office/drawing/2014/main" id="{8C1E0992-271E-4948-9461-C7AA54AF8FEA}"/>
              </a:ext>
            </a:extLst>
          </p:cNvPr>
          <p:cNvSpPr>
            <a:spLocks noChangeAspect="1"/>
          </p:cNvSpPr>
          <p:nvPr userDrawn="1"/>
        </p:nvSpPr>
        <p:spPr>
          <a:xfrm>
            <a:off x="1526011" y="1823757"/>
            <a:ext cx="832104" cy="832104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2970CD0-696D-4313-96BA-4AA72C813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920336"/>
          </a:xfrm>
        </p:spPr>
        <p:txBody>
          <a:bodyPr lIns="0" tIns="0" rIns="0" bIns="0" rtlCol="0" anchor="b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FEE9886-36F0-4E06-A3A6-D8F00B066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126" y="3207024"/>
            <a:ext cx="3445566" cy="2504663"/>
          </a:xfrm>
        </p:spPr>
        <p:txBody>
          <a:bodyPr lIns="0" tIns="0" rIns="0" bIns="0" rtlCol="0">
            <a:normAutofit/>
          </a:bodyPr>
          <a:lstStyle>
            <a:lvl1pPr marL="0" indent="0" algn="ctr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6627016-BFC4-46D4-89DB-F72E3C3461EC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bg1"/>
              </a:solidFill>
            </a:endParaRPr>
          </a:p>
        </p:txBody>
      </p:sp>
      <p:sp>
        <p:nvSpPr>
          <p:cNvPr id="15" name="Ovale 14">
            <a:extLst>
              <a:ext uri="{FF2B5EF4-FFF2-40B4-BE49-F238E27FC236}">
                <a16:creationId xmlns:a16="http://schemas.microsoft.com/office/drawing/2014/main" id="{EF515B4A-CB20-4847-8E00-0DD66F1FEBB4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996B64B9-1DF0-4EE9-BAB5-72AFA94B9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6" name="Espace réservé d’image 5">
            <a:extLst>
              <a:ext uri="{FF2B5EF4-FFF2-40B4-BE49-F238E27FC236}">
                <a16:creationId xmlns:a16="http://schemas.microsoft.com/office/drawing/2014/main" id="{35B71D50-AA4B-4E0C-8F6A-0F64F2C8A8C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883819" y="1630018"/>
            <a:ext cx="4424362" cy="4373217"/>
          </a:xfrm>
          <a:solidFill>
            <a:schemeClr val="bg2">
              <a:lumMod val="90000"/>
            </a:schemeClr>
          </a:solidFill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sp>
        <p:nvSpPr>
          <p:cNvPr id="17" name="Espace réservé du contenu 2">
            <a:extLst>
              <a:ext uri="{FF2B5EF4-FFF2-40B4-BE49-F238E27FC236}">
                <a16:creationId xmlns:a16="http://schemas.microsoft.com/office/drawing/2014/main" id="{147C9C38-5B17-467D-B581-EF28ECB11E80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527490" y="3207024"/>
            <a:ext cx="3445200" cy="2504663"/>
          </a:xfrm>
        </p:spPr>
        <p:txBody>
          <a:bodyPr lIns="0" tIns="0" rIns="0" bIns="0" rtlCol="0">
            <a:normAutofit/>
          </a:bodyPr>
          <a:lstStyle>
            <a:lvl1pPr marL="0" indent="0" algn="ctr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20" name="Espace réservé du contenu 2">
            <a:extLst>
              <a:ext uri="{FF2B5EF4-FFF2-40B4-BE49-F238E27FC236}">
                <a16:creationId xmlns:a16="http://schemas.microsoft.com/office/drawing/2014/main" id="{FEB88DD7-AEB5-4718-AF2D-28B5B91ED715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219126" y="2711636"/>
            <a:ext cx="3445566" cy="495389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800" b="1" cap="all" baseline="0"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21" name="Espace réservé du contenu 2">
            <a:extLst>
              <a:ext uri="{FF2B5EF4-FFF2-40B4-BE49-F238E27FC236}">
                <a16:creationId xmlns:a16="http://schemas.microsoft.com/office/drawing/2014/main" id="{F694448B-800C-40EF-8F61-18C018E8374C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8527124" y="2711636"/>
            <a:ext cx="3445566" cy="495389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800" b="1" cap="all" baseline="0"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12" name="Espace réservé d’image 11">
            <a:extLst>
              <a:ext uri="{FF2B5EF4-FFF2-40B4-BE49-F238E27FC236}">
                <a16:creationId xmlns:a16="http://schemas.microsoft.com/office/drawing/2014/main" id="{483B974E-5202-4EAD-9D55-4129C84BAE8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1690627" y="1988373"/>
            <a:ext cx="502873" cy="502873"/>
          </a:xfrm>
          <a:prstGeom prst="rect">
            <a:avLst/>
          </a:prstGeom>
          <a:noFill/>
        </p:spPr>
        <p:txBody>
          <a:bodyPr lIns="0" rIns="0" rtlCol="0" anchor="ctr">
            <a:noAutofit/>
          </a:bodyPr>
          <a:lstStyle>
            <a:lvl1pPr marL="0" indent="0" algn="ctr">
              <a:buNone/>
              <a:defRPr sz="11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 noProof="0" dirty="0"/>
              <a:t>icône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6792E1-F742-3074-A5F9-070939893A6F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10332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position de 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1B6EB0C6-606C-4AFB-8FF8-AB43606B95BD}"/>
              </a:ext>
            </a:extLst>
          </p:cNvPr>
          <p:cNvSpPr/>
          <p:nvPr userDrawn="1"/>
        </p:nvSpPr>
        <p:spPr>
          <a:xfrm>
            <a:off x="6599236" y="4707908"/>
            <a:ext cx="5592763" cy="10064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5CE6D5A-A5C0-4B12-A26A-691D5743FA5C}"/>
              </a:ext>
            </a:extLst>
          </p:cNvPr>
          <p:cNvSpPr/>
          <p:nvPr userDrawn="1"/>
        </p:nvSpPr>
        <p:spPr>
          <a:xfrm>
            <a:off x="-82063" y="1648186"/>
            <a:ext cx="5709139" cy="10064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2970CD0-696D-4313-96BA-4AA72C813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920336"/>
          </a:xfrm>
        </p:spPr>
        <p:txBody>
          <a:bodyPr lIns="0" tIns="0" rIns="0" bIns="0" rtlCol="0" anchor="b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FEE9886-36F0-4E06-A3A6-D8F00B066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934" y="2863158"/>
            <a:ext cx="4074002" cy="2846648"/>
          </a:xfrm>
        </p:spPr>
        <p:txBody>
          <a:bodyPr lIns="0" tIns="0" rIns="0" bIns="0" rtlCol="0">
            <a:noAutofit/>
          </a:bodyPr>
          <a:lstStyle>
            <a:lvl1pPr marL="0" indent="0" algn="r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6627016-BFC4-46D4-89DB-F72E3C3461EC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accent2"/>
              </a:solidFill>
            </a:endParaRPr>
          </a:p>
        </p:txBody>
      </p:sp>
      <p:sp>
        <p:nvSpPr>
          <p:cNvPr id="15" name="Ovale 14">
            <a:extLst>
              <a:ext uri="{FF2B5EF4-FFF2-40B4-BE49-F238E27FC236}">
                <a16:creationId xmlns:a16="http://schemas.microsoft.com/office/drawing/2014/main" id="{EF515B4A-CB20-4847-8E00-0DD66F1FEBB4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996B64B9-1DF0-4EE9-BAB5-72AFA94B9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20" name="Espace réservé du contenu 2">
            <a:extLst>
              <a:ext uri="{FF2B5EF4-FFF2-40B4-BE49-F238E27FC236}">
                <a16:creationId xmlns:a16="http://schemas.microsoft.com/office/drawing/2014/main" id="{FEB88DD7-AEB5-4718-AF2D-28B5B91ED715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1309370" y="1903728"/>
            <a:ext cx="3445566" cy="495389"/>
          </a:xfrm>
        </p:spPr>
        <p:txBody>
          <a:bodyPr lIns="0" tIns="0" rIns="0" bIns="0" rtlCol="0" anchor="ctr">
            <a:noAutofit/>
          </a:bodyPr>
          <a:lstStyle>
            <a:lvl1pPr marL="0" indent="0" algn="r">
              <a:buNone/>
              <a:defRPr sz="1800" b="1" cap="all" baseline="0">
                <a:solidFill>
                  <a:schemeClr val="accent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fr-FR" noProof="0" dirty="0"/>
              <a:t>La rubrique 01 inclut ici</a:t>
            </a:r>
          </a:p>
        </p:txBody>
      </p:sp>
      <p:sp>
        <p:nvSpPr>
          <p:cNvPr id="23" name="Espace réservé du contenu 2">
            <a:extLst>
              <a:ext uri="{FF2B5EF4-FFF2-40B4-BE49-F238E27FC236}">
                <a16:creationId xmlns:a16="http://schemas.microsoft.com/office/drawing/2014/main" id="{E5123CE7-2F8A-489B-BD99-0C2A33ADF49A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7327918" y="1648186"/>
            <a:ext cx="4074002" cy="2834508"/>
          </a:xfrm>
        </p:spPr>
        <p:txBody>
          <a:bodyPr lIns="0" tIns="0" rIns="0" bIns="0" rtlCol="0" anchor="b">
            <a:noAutofit/>
          </a:bodyPr>
          <a:lstStyle>
            <a:lvl1pPr marL="0" indent="0" algn="l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25" name="Espace réservé du contenu 2">
            <a:extLst>
              <a:ext uri="{FF2B5EF4-FFF2-40B4-BE49-F238E27FC236}">
                <a16:creationId xmlns:a16="http://schemas.microsoft.com/office/drawing/2014/main" id="{07730BCF-AC2A-4FEC-8F01-63964DB444CF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7475709" y="4963450"/>
            <a:ext cx="3445566" cy="495389"/>
          </a:xfrm>
        </p:spPr>
        <p:txBody>
          <a:bodyPr lIns="0" tIns="0" rIns="0" bIns="0" rtlCol="0" anchor="ctr">
            <a:noAutofit/>
          </a:bodyPr>
          <a:lstStyle>
            <a:lvl1pPr marL="0" indent="0" algn="l">
              <a:buNone/>
              <a:defRPr sz="1800" b="1" cap="all" baseline="0">
                <a:solidFill>
                  <a:schemeClr val="accent3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fr-FR" noProof="0" dirty="0"/>
              <a:t>La rubrique 02 inclut ici</a:t>
            </a:r>
          </a:p>
        </p:txBody>
      </p:sp>
      <p:sp>
        <p:nvSpPr>
          <p:cNvPr id="21" name="Ovale 20">
            <a:extLst>
              <a:ext uri="{FF2B5EF4-FFF2-40B4-BE49-F238E27FC236}">
                <a16:creationId xmlns:a16="http://schemas.microsoft.com/office/drawing/2014/main" id="{919C8692-230B-D543-A7F7-4FD61B04D1C6}"/>
              </a:ext>
            </a:extLst>
          </p:cNvPr>
          <p:cNvSpPr>
            <a:spLocks noChangeAspect="1"/>
          </p:cNvSpPr>
          <p:nvPr userDrawn="1"/>
        </p:nvSpPr>
        <p:spPr>
          <a:xfrm>
            <a:off x="5084763" y="1652762"/>
            <a:ext cx="1001899" cy="1001899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4" name="Espace réservé d’image 11">
            <a:extLst>
              <a:ext uri="{FF2B5EF4-FFF2-40B4-BE49-F238E27FC236}">
                <a16:creationId xmlns:a16="http://schemas.microsoft.com/office/drawing/2014/main" id="{E150BFC7-A11D-CC46-B5A2-8BD93C269506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5282969" y="1850968"/>
            <a:ext cx="605487" cy="605487"/>
          </a:xfrm>
          <a:prstGeom prst="rect">
            <a:avLst/>
          </a:prstGeom>
          <a:noFill/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1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 noProof="0" dirty="0"/>
              <a:t>icône</a:t>
            </a:r>
          </a:p>
        </p:txBody>
      </p:sp>
      <p:sp>
        <p:nvSpPr>
          <p:cNvPr id="28" name="Ovale 27">
            <a:extLst>
              <a:ext uri="{FF2B5EF4-FFF2-40B4-BE49-F238E27FC236}">
                <a16:creationId xmlns:a16="http://schemas.microsoft.com/office/drawing/2014/main" id="{F95B55F4-B501-3440-8904-A1C7F049CBE8}"/>
              </a:ext>
            </a:extLst>
          </p:cNvPr>
          <p:cNvSpPr>
            <a:spLocks noChangeAspect="1"/>
          </p:cNvSpPr>
          <p:nvPr userDrawn="1"/>
        </p:nvSpPr>
        <p:spPr>
          <a:xfrm>
            <a:off x="6100576" y="4707907"/>
            <a:ext cx="1001899" cy="1001899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9" name="Espace réservé d’image 11">
            <a:extLst>
              <a:ext uri="{FF2B5EF4-FFF2-40B4-BE49-F238E27FC236}">
                <a16:creationId xmlns:a16="http://schemas.microsoft.com/office/drawing/2014/main" id="{F2116994-BE3E-6A43-9C15-E71BA8EC821F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6298782" y="4906113"/>
            <a:ext cx="605487" cy="605487"/>
          </a:xfrm>
          <a:prstGeom prst="rect">
            <a:avLst/>
          </a:prstGeom>
          <a:noFill/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1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 noProof="0" dirty="0"/>
              <a:t>icône</a:t>
            </a:r>
          </a:p>
        </p:txBody>
      </p:sp>
    </p:spTree>
    <p:extLst>
      <p:ext uri="{BB962C8B-B14F-4D97-AF65-F5344CB8AC3E}">
        <p14:creationId xmlns:p14="http://schemas.microsoft.com/office/powerpoint/2010/main" val="8914009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orme libre 5">
            <a:extLst>
              <a:ext uri="{FF2B5EF4-FFF2-40B4-BE49-F238E27FC236}">
                <a16:creationId xmlns:a16="http://schemas.microsoft.com/office/drawing/2014/main" id="{1C1A95BC-42CA-4166-918D-DF4306881408}"/>
              </a:ext>
            </a:extLst>
          </p:cNvPr>
          <p:cNvSpPr>
            <a:spLocks/>
          </p:cNvSpPr>
          <p:nvPr/>
        </p:nvSpPr>
        <p:spPr bwMode="auto">
          <a:xfrm rot="8650774" flipH="1" flipV="1">
            <a:off x="7430044" y="-1843126"/>
            <a:ext cx="4436224" cy="5482435"/>
          </a:xfrm>
          <a:custGeom>
            <a:avLst/>
            <a:gdLst>
              <a:gd name="T0" fmla="*/ 0 w 447"/>
              <a:gd name="T1" fmla="*/ 264 h 553"/>
              <a:gd name="T2" fmla="*/ 141 w 447"/>
              <a:gd name="T3" fmla="*/ 48 h 553"/>
              <a:gd name="T4" fmla="*/ 414 w 447"/>
              <a:gd name="T5" fmla="*/ 67 h 553"/>
              <a:gd name="T6" fmla="*/ 438 w 447"/>
              <a:gd name="T7" fmla="*/ 98 h 553"/>
              <a:gd name="T8" fmla="*/ 391 w 447"/>
              <a:gd name="T9" fmla="*/ 111 h 553"/>
              <a:gd name="T10" fmla="*/ 94 w 447"/>
              <a:gd name="T11" fmla="*/ 149 h 553"/>
              <a:gd name="T12" fmla="*/ 107 w 447"/>
              <a:gd name="T13" fmla="*/ 424 h 553"/>
              <a:gd name="T14" fmla="*/ 383 w 447"/>
              <a:gd name="T15" fmla="*/ 453 h 553"/>
              <a:gd name="T16" fmla="*/ 393 w 447"/>
              <a:gd name="T17" fmla="*/ 446 h 553"/>
              <a:gd name="T18" fmla="*/ 433 w 447"/>
              <a:gd name="T19" fmla="*/ 449 h 553"/>
              <a:gd name="T20" fmla="*/ 421 w 447"/>
              <a:gd name="T21" fmla="*/ 485 h 553"/>
              <a:gd name="T22" fmla="*/ 194 w 447"/>
              <a:gd name="T23" fmla="*/ 531 h 553"/>
              <a:gd name="T24" fmla="*/ 0 w 447"/>
              <a:gd name="T25" fmla="*/ 264 h 55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447" h="553">
                <a:moveTo>
                  <a:pt x="0" y="264"/>
                </a:moveTo>
                <a:cubicBezTo>
                  <a:pt x="5" y="176"/>
                  <a:pt x="49" y="96"/>
                  <a:pt x="141" y="48"/>
                </a:cubicBezTo>
                <a:cubicBezTo>
                  <a:pt x="235" y="0"/>
                  <a:pt x="327" y="9"/>
                  <a:pt x="414" y="67"/>
                </a:cubicBezTo>
                <a:cubicBezTo>
                  <a:pt x="425" y="75"/>
                  <a:pt x="439" y="82"/>
                  <a:pt x="438" y="98"/>
                </a:cubicBezTo>
                <a:cubicBezTo>
                  <a:pt x="437" y="120"/>
                  <a:pt x="413" y="127"/>
                  <a:pt x="391" y="111"/>
                </a:cubicBezTo>
                <a:cubicBezTo>
                  <a:pt x="294" y="40"/>
                  <a:pt x="166" y="56"/>
                  <a:pt x="94" y="149"/>
                </a:cubicBezTo>
                <a:cubicBezTo>
                  <a:pt x="30" y="231"/>
                  <a:pt x="36" y="349"/>
                  <a:pt x="107" y="424"/>
                </a:cubicBezTo>
                <a:cubicBezTo>
                  <a:pt x="180" y="502"/>
                  <a:pt x="296" y="514"/>
                  <a:pt x="383" y="453"/>
                </a:cubicBezTo>
                <a:cubicBezTo>
                  <a:pt x="386" y="451"/>
                  <a:pt x="390" y="449"/>
                  <a:pt x="393" y="446"/>
                </a:cubicBezTo>
                <a:cubicBezTo>
                  <a:pt x="407" y="433"/>
                  <a:pt x="420" y="433"/>
                  <a:pt x="433" y="449"/>
                </a:cubicBezTo>
                <a:cubicBezTo>
                  <a:pt x="447" y="467"/>
                  <a:pt x="433" y="477"/>
                  <a:pt x="421" y="485"/>
                </a:cubicBezTo>
                <a:cubicBezTo>
                  <a:pt x="353" y="537"/>
                  <a:pt x="277" y="553"/>
                  <a:pt x="194" y="531"/>
                </a:cubicBezTo>
                <a:cubicBezTo>
                  <a:pt x="79" y="501"/>
                  <a:pt x="1" y="397"/>
                  <a:pt x="0" y="264"/>
                </a:cubicBezTo>
                <a:close/>
              </a:path>
            </a:pathLst>
          </a:custGeom>
          <a:solidFill>
            <a:schemeClr val="bg2">
              <a:alpha val="53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rtl="0"/>
            <a:endParaRPr lang="fr-FR" noProof="0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B70E2287-0F7B-4DD3-A805-DB19BBF3C716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15938" y="246621"/>
            <a:ext cx="11150600" cy="920336"/>
          </a:xfrm>
        </p:spPr>
        <p:txBody>
          <a:bodyPr lIns="0" tIns="0" rIns="0" bIns="0" rtlCol="0" anchor="b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CE74CE-BEFF-42B3-BF3E-C41B1B1F1EE4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A520346-C48D-9154-4B3A-BC0A857667BD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  <p:sp>
        <p:nvSpPr>
          <p:cNvPr id="3" name="Ovale 14">
            <a:extLst>
              <a:ext uri="{FF2B5EF4-FFF2-40B4-BE49-F238E27FC236}">
                <a16:creationId xmlns:a16="http://schemas.microsoft.com/office/drawing/2014/main" id="{A0FA356A-CDA9-3E00-45F3-46BC0E4E851C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B0FDC1-90C9-20B8-59C6-400EFDED6889}"/>
              </a:ext>
            </a:extLst>
          </p:cNvPr>
          <p:cNvSpPr txBox="1"/>
          <p:nvPr userDrawn="1"/>
        </p:nvSpPr>
        <p:spPr>
          <a:xfrm>
            <a:off x="11294533" y="6409397"/>
            <a:ext cx="44258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fld id="{9EC71654-96A5-4280-94F3-931C61A9F92C}" type="slidenum">
              <a:rPr lang="fr-FR" sz="1100" noProof="0" smtClean="0">
                <a:solidFill>
                  <a:schemeClr val="bg1"/>
                </a:solidFill>
              </a:rPr>
              <a:pPr algn="ctr"/>
              <a:t>‹#›</a:t>
            </a:fld>
            <a:endParaRPr lang="fr-B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47606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1">
            <a:extLst>
              <a:ext uri="{FF2B5EF4-FFF2-40B4-BE49-F238E27FC236}">
                <a16:creationId xmlns:a16="http://schemas.microsoft.com/office/drawing/2014/main" id="{B70E2287-0F7B-4DD3-A805-DB19BBF3C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920336"/>
          </a:xfrm>
        </p:spPr>
        <p:txBody>
          <a:bodyPr lIns="0" tIns="0" rIns="0" bIns="0" rtlCol="0" anchor="b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CE74CE-BEFF-42B3-BF3E-C41B1B1F1EE4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A520346-C48D-9154-4B3A-BC0A857667BD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  <p:sp>
        <p:nvSpPr>
          <p:cNvPr id="12" name="Ovale 14">
            <a:extLst>
              <a:ext uri="{FF2B5EF4-FFF2-40B4-BE49-F238E27FC236}">
                <a16:creationId xmlns:a16="http://schemas.microsoft.com/office/drawing/2014/main" id="{734766E6-4390-378C-A712-DB530A8039EE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586DB4-DBFC-EBAD-1FA5-32FDD1B7F359}"/>
              </a:ext>
            </a:extLst>
          </p:cNvPr>
          <p:cNvSpPr txBox="1"/>
          <p:nvPr userDrawn="1"/>
        </p:nvSpPr>
        <p:spPr>
          <a:xfrm>
            <a:off x="11218333" y="6418617"/>
            <a:ext cx="58884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fld id="{9EC71654-96A5-4280-94F3-931C61A9F92C}" type="slidenum">
              <a:rPr lang="fr-FR" sz="1100" noProof="0" smtClean="0">
                <a:solidFill>
                  <a:schemeClr val="bg1"/>
                </a:solidFill>
              </a:rPr>
              <a:pPr algn="ctr"/>
              <a:t>‹#›</a:t>
            </a:fld>
            <a:endParaRPr lang="fr-B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857334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1">
            <a:extLst>
              <a:ext uri="{FF2B5EF4-FFF2-40B4-BE49-F238E27FC236}">
                <a16:creationId xmlns:a16="http://schemas.microsoft.com/office/drawing/2014/main" id="{B70E2287-0F7B-4DD3-A805-DB19BBF3C716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15938" y="246621"/>
            <a:ext cx="11150600" cy="920336"/>
          </a:xfrm>
        </p:spPr>
        <p:txBody>
          <a:bodyPr lIns="0" tIns="0" rIns="0" bIns="0" rtlCol="0" anchor="b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A520346-C48D-9154-4B3A-BC0A857667BD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  <p:sp>
        <p:nvSpPr>
          <p:cNvPr id="5" name="Ovale 14">
            <a:extLst>
              <a:ext uri="{FF2B5EF4-FFF2-40B4-BE49-F238E27FC236}">
                <a16:creationId xmlns:a16="http://schemas.microsoft.com/office/drawing/2014/main" id="{8031AE70-6869-01C6-A2C4-A0EA198A2A4B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CEC908-6DAD-0441-5F48-763968F5C814}"/>
              </a:ext>
            </a:extLst>
          </p:cNvPr>
          <p:cNvSpPr txBox="1"/>
          <p:nvPr userDrawn="1"/>
        </p:nvSpPr>
        <p:spPr>
          <a:xfrm>
            <a:off x="11226800" y="6417385"/>
            <a:ext cx="57859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fld id="{9EC71654-96A5-4280-94F3-931C61A9F92C}" type="slidenum">
              <a:rPr lang="fr-FR" sz="1100" noProof="0" smtClean="0">
                <a:solidFill>
                  <a:schemeClr val="bg1"/>
                </a:solidFill>
              </a:rPr>
              <a:pPr algn="ctr"/>
              <a:t>‹#›</a:t>
            </a:fld>
            <a:endParaRPr lang="fr-B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65890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’équip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Ovale 22">
            <a:extLst>
              <a:ext uri="{FF2B5EF4-FFF2-40B4-BE49-F238E27FC236}">
                <a16:creationId xmlns:a16="http://schemas.microsoft.com/office/drawing/2014/main" id="{687010E4-ADF2-486D-8DF7-B0FF38C6DADF}"/>
              </a:ext>
            </a:extLst>
          </p:cNvPr>
          <p:cNvSpPr/>
          <p:nvPr userDrawn="1"/>
        </p:nvSpPr>
        <p:spPr>
          <a:xfrm>
            <a:off x="954140" y="1698469"/>
            <a:ext cx="1729332" cy="1729332"/>
          </a:xfrm>
          <a:prstGeom prst="ellipse">
            <a:avLst/>
          </a:prstGeom>
          <a:solidFill>
            <a:schemeClr val="tx1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4" name="Ovale 23">
            <a:extLst>
              <a:ext uri="{FF2B5EF4-FFF2-40B4-BE49-F238E27FC236}">
                <a16:creationId xmlns:a16="http://schemas.microsoft.com/office/drawing/2014/main" id="{9159AA79-2237-4A27-BBC2-D44032158D19}"/>
              </a:ext>
            </a:extLst>
          </p:cNvPr>
          <p:cNvSpPr/>
          <p:nvPr userDrawn="1"/>
        </p:nvSpPr>
        <p:spPr>
          <a:xfrm>
            <a:off x="3807539" y="1698469"/>
            <a:ext cx="1729332" cy="1729332"/>
          </a:xfrm>
          <a:prstGeom prst="ellipse">
            <a:avLst/>
          </a:prstGeom>
          <a:solidFill>
            <a:schemeClr val="tx1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5" name="Ovale 24">
            <a:extLst>
              <a:ext uri="{FF2B5EF4-FFF2-40B4-BE49-F238E27FC236}">
                <a16:creationId xmlns:a16="http://schemas.microsoft.com/office/drawing/2014/main" id="{0272B962-9566-42D2-B4C3-E7AA81884A83}"/>
              </a:ext>
            </a:extLst>
          </p:cNvPr>
          <p:cNvSpPr/>
          <p:nvPr userDrawn="1"/>
        </p:nvSpPr>
        <p:spPr>
          <a:xfrm>
            <a:off x="6646275" y="1698469"/>
            <a:ext cx="1729332" cy="1729332"/>
          </a:xfrm>
          <a:prstGeom prst="ellipse">
            <a:avLst/>
          </a:prstGeom>
          <a:solidFill>
            <a:schemeClr val="tx1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6" name="Ovale 25">
            <a:extLst>
              <a:ext uri="{FF2B5EF4-FFF2-40B4-BE49-F238E27FC236}">
                <a16:creationId xmlns:a16="http://schemas.microsoft.com/office/drawing/2014/main" id="{19733285-016C-4C38-816C-83D30C075C70}"/>
              </a:ext>
            </a:extLst>
          </p:cNvPr>
          <p:cNvSpPr/>
          <p:nvPr userDrawn="1"/>
        </p:nvSpPr>
        <p:spPr>
          <a:xfrm>
            <a:off x="9498658" y="1698469"/>
            <a:ext cx="1729332" cy="1729332"/>
          </a:xfrm>
          <a:prstGeom prst="ellipse">
            <a:avLst/>
          </a:prstGeom>
          <a:solidFill>
            <a:schemeClr val="tx1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0" name="Forme libre : Forme 19">
            <a:extLst>
              <a:ext uri="{FF2B5EF4-FFF2-40B4-BE49-F238E27FC236}">
                <a16:creationId xmlns:a16="http://schemas.microsoft.com/office/drawing/2014/main" id="{EF40DBA4-AB63-4B47-B37F-BCC3D59B5392}"/>
              </a:ext>
            </a:extLst>
          </p:cNvPr>
          <p:cNvSpPr/>
          <p:nvPr userDrawn="1"/>
        </p:nvSpPr>
        <p:spPr>
          <a:xfrm>
            <a:off x="4011967" y="1778212"/>
            <a:ext cx="1320476" cy="362088"/>
          </a:xfrm>
          <a:custGeom>
            <a:avLst/>
            <a:gdLst>
              <a:gd name="connsiteX0" fmla="*/ 660238 w 1320476"/>
              <a:gd name="connsiteY0" fmla="*/ 0 h 362088"/>
              <a:gd name="connsiteX1" fmla="*/ 1312051 w 1320476"/>
              <a:gd name="connsiteY1" fmla="*/ 346566 h 362088"/>
              <a:gd name="connsiteX2" fmla="*/ 1320476 w 1320476"/>
              <a:gd name="connsiteY2" fmla="*/ 362088 h 362088"/>
              <a:gd name="connsiteX3" fmla="*/ 0 w 1320476"/>
              <a:gd name="connsiteY3" fmla="*/ 362088 h 362088"/>
              <a:gd name="connsiteX4" fmla="*/ 8425 w 1320476"/>
              <a:gd name="connsiteY4" fmla="*/ 346566 h 362088"/>
              <a:gd name="connsiteX5" fmla="*/ 660238 w 1320476"/>
              <a:gd name="connsiteY5" fmla="*/ 0 h 362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20476" h="362088">
                <a:moveTo>
                  <a:pt x="660238" y="0"/>
                </a:moveTo>
                <a:cubicBezTo>
                  <a:pt x="931569" y="0"/>
                  <a:pt x="1170791" y="137473"/>
                  <a:pt x="1312051" y="346566"/>
                </a:cubicBezTo>
                <a:lnTo>
                  <a:pt x="1320476" y="362088"/>
                </a:lnTo>
                <a:lnTo>
                  <a:pt x="0" y="362088"/>
                </a:lnTo>
                <a:lnTo>
                  <a:pt x="8425" y="346566"/>
                </a:lnTo>
                <a:cubicBezTo>
                  <a:pt x="149685" y="137473"/>
                  <a:pt x="388907" y="0"/>
                  <a:pt x="660238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1" name="Forme libre : Forme 20">
            <a:extLst>
              <a:ext uri="{FF2B5EF4-FFF2-40B4-BE49-F238E27FC236}">
                <a16:creationId xmlns:a16="http://schemas.microsoft.com/office/drawing/2014/main" id="{33EF0AFB-D099-4FF1-8963-7DA87268867F}"/>
              </a:ext>
            </a:extLst>
          </p:cNvPr>
          <p:cNvSpPr/>
          <p:nvPr userDrawn="1"/>
        </p:nvSpPr>
        <p:spPr>
          <a:xfrm>
            <a:off x="6850703" y="1778212"/>
            <a:ext cx="1320476" cy="362088"/>
          </a:xfrm>
          <a:custGeom>
            <a:avLst/>
            <a:gdLst>
              <a:gd name="connsiteX0" fmla="*/ 660238 w 1320476"/>
              <a:gd name="connsiteY0" fmla="*/ 0 h 362088"/>
              <a:gd name="connsiteX1" fmla="*/ 1312051 w 1320476"/>
              <a:gd name="connsiteY1" fmla="*/ 346566 h 362088"/>
              <a:gd name="connsiteX2" fmla="*/ 1320476 w 1320476"/>
              <a:gd name="connsiteY2" fmla="*/ 362088 h 362088"/>
              <a:gd name="connsiteX3" fmla="*/ 0 w 1320476"/>
              <a:gd name="connsiteY3" fmla="*/ 362088 h 362088"/>
              <a:gd name="connsiteX4" fmla="*/ 8425 w 1320476"/>
              <a:gd name="connsiteY4" fmla="*/ 346566 h 362088"/>
              <a:gd name="connsiteX5" fmla="*/ 660238 w 1320476"/>
              <a:gd name="connsiteY5" fmla="*/ 0 h 362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20476" h="362088">
                <a:moveTo>
                  <a:pt x="660238" y="0"/>
                </a:moveTo>
                <a:cubicBezTo>
                  <a:pt x="931569" y="0"/>
                  <a:pt x="1170791" y="137473"/>
                  <a:pt x="1312051" y="346566"/>
                </a:cubicBezTo>
                <a:lnTo>
                  <a:pt x="1320476" y="362088"/>
                </a:lnTo>
                <a:lnTo>
                  <a:pt x="0" y="362088"/>
                </a:lnTo>
                <a:lnTo>
                  <a:pt x="8425" y="346566"/>
                </a:lnTo>
                <a:cubicBezTo>
                  <a:pt x="149685" y="137473"/>
                  <a:pt x="388907" y="0"/>
                  <a:pt x="660238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2" name="Forme libre : Forme 21">
            <a:extLst>
              <a:ext uri="{FF2B5EF4-FFF2-40B4-BE49-F238E27FC236}">
                <a16:creationId xmlns:a16="http://schemas.microsoft.com/office/drawing/2014/main" id="{6872C96E-9AF3-4FA0-8180-C213C7F2209E}"/>
              </a:ext>
            </a:extLst>
          </p:cNvPr>
          <p:cNvSpPr/>
          <p:nvPr userDrawn="1"/>
        </p:nvSpPr>
        <p:spPr>
          <a:xfrm>
            <a:off x="9703086" y="1778212"/>
            <a:ext cx="1320476" cy="362088"/>
          </a:xfrm>
          <a:custGeom>
            <a:avLst/>
            <a:gdLst>
              <a:gd name="connsiteX0" fmla="*/ 660238 w 1320476"/>
              <a:gd name="connsiteY0" fmla="*/ 0 h 362088"/>
              <a:gd name="connsiteX1" fmla="*/ 1312051 w 1320476"/>
              <a:gd name="connsiteY1" fmla="*/ 346566 h 362088"/>
              <a:gd name="connsiteX2" fmla="*/ 1320476 w 1320476"/>
              <a:gd name="connsiteY2" fmla="*/ 362088 h 362088"/>
              <a:gd name="connsiteX3" fmla="*/ 0 w 1320476"/>
              <a:gd name="connsiteY3" fmla="*/ 362088 h 362088"/>
              <a:gd name="connsiteX4" fmla="*/ 8425 w 1320476"/>
              <a:gd name="connsiteY4" fmla="*/ 346566 h 362088"/>
              <a:gd name="connsiteX5" fmla="*/ 660238 w 1320476"/>
              <a:gd name="connsiteY5" fmla="*/ 0 h 362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20476" h="362088">
                <a:moveTo>
                  <a:pt x="660238" y="0"/>
                </a:moveTo>
                <a:cubicBezTo>
                  <a:pt x="931569" y="0"/>
                  <a:pt x="1170791" y="137473"/>
                  <a:pt x="1312051" y="346566"/>
                </a:cubicBezTo>
                <a:lnTo>
                  <a:pt x="1320476" y="362088"/>
                </a:lnTo>
                <a:lnTo>
                  <a:pt x="0" y="362088"/>
                </a:lnTo>
                <a:lnTo>
                  <a:pt x="8425" y="346566"/>
                </a:lnTo>
                <a:cubicBezTo>
                  <a:pt x="149685" y="137473"/>
                  <a:pt x="388907" y="0"/>
                  <a:pt x="660238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7" name="Forme libre : Forme 16">
            <a:extLst>
              <a:ext uri="{FF2B5EF4-FFF2-40B4-BE49-F238E27FC236}">
                <a16:creationId xmlns:a16="http://schemas.microsoft.com/office/drawing/2014/main" id="{3A08BE29-CFA5-4E0D-9DBE-A430AE1B8072}"/>
              </a:ext>
            </a:extLst>
          </p:cNvPr>
          <p:cNvSpPr/>
          <p:nvPr userDrawn="1"/>
        </p:nvSpPr>
        <p:spPr>
          <a:xfrm>
            <a:off x="1158568" y="1778212"/>
            <a:ext cx="1320476" cy="362088"/>
          </a:xfrm>
          <a:custGeom>
            <a:avLst/>
            <a:gdLst>
              <a:gd name="connsiteX0" fmla="*/ 660238 w 1320476"/>
              <a:gd name="connsiteY0" fmla="*/ 0 h 362088"/>
              <a:gd name="connsiteX1" fmla="*/ 1312051 w 1320476"/>
              <a:gd name="connsiteY1" fmla="*/ 346566 h 362088"/>
              <a:gd name="connsiteX2" fmla="*/ 1320476 w 1320476"/>
              <a:gd name="connsiteY2" fmla="*/ 362088 h 362088"/>
              <a:gd name="connsiteX3" fmla="*/ 0 w 1320476"/>
              <a:gd name="connsiteY3" fmla="*/ 362088 h 362088"/>
              <a:gd name="connsiteX4" fmla="*/ 8425 w 1320476"/>
              <a:gd name="connsiteY4" fmla="*/ 346566 h 362088"/>
              <a:gd name="connsiteX5" fmla="*/ 660238 w 1320476"/>
              <a:gd name="connsiteY5" fmla="*/ 0 h 362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20476" h="362088">
                <a:moveTo>
                  <a:pt x="660238" y="0"/>
                </a:moveTo>
                <a:cubicBezTo>
                  <a:pt x="931569" y="0"/>
                  <a:pt x="1170791" y="137473"/>
                  <a:pt x="1312051" y="346566"/>
                </a:cubicBezTo>
                <a:lnTo>
                  <a:pt x="1320476" y="362088"/>
                </a:lnTo>
                <a:lnTo>
                  <a:pt x="0" y="362088"/>
                </a:lnTo>
                <a:lnTo>
                  <a:pt x="8425" y="346566"/>
                </a:lnTo>
                <a:cubicBezTo>
                  <a:pt x="149685" y="137473"/>
                  <a:pt x="388907" y="0"/>
                  <a:pt x="660238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B70E2287-0F7B-4DD3-A805-DB19BBF3C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920336"/>
          </a:xfrm>
        </p:spPr>
        <p:txBody>
          <a:bodyPr lIns="0" tIns="0" rIns="0" bIns="0" rtlCol="0" anchor="b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CE74CE-BEFF-42B3-BF3E-C41B1B1F1EE4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bg1"/>
              </a:solidFill>
            </a:endParaRPr>
          </a:p>
        </p:txBody>
      </p:sp>
      <p:sp>
        <p:nvSpPr>
          <p:cNvPr id="9" name="Ovale 8">
            <a:extLst>
              <a:ext uri="{FF2B5EF4-FFF2-40B4-BE49-F238E27FC236}">
                <a16:creationId xmlns:a16="http://schemas.microsoft.com/office/drawing/2014/main" id="{1B26B4BC-3D52-4C1C-85FB-226F0B5201F1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0" name="Espace réservé du numéro de diapositive 5">
            <a:extLst>
              <a:ext uri="{FF2B5EF4-FFF2-40B4-BE49-F238E27FC236}">
                <a16:creationId xmlns:a16="http://schemas.microsoft.com/office/drawing/2014/main" id="{CEC6B25A-6AA2-46A7-84BE-5C907CA51B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3" name="Espace réservé d’image 2">
            <a:extLst>
              <a:ext uri="{FF2B5EF4-FFF2-40B4-BE49-F238E27FC236}">
                <a16:creationId xmlns:a16="http://schemas.microsoft.com/office/drawing/2014/main" id="{B1B995BE-66C2-4379-885F-4BE069DA39E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103638" y="1848535"/>
            <a:ext cx="1430337" cy="1430337"/>
          </a:xfrm>
          <a:prstGeom prst="ellipse">
            <a:avLst/>
          </a:prstGeom>
          <a:solidFill>
            <a:schemeClr val="bg2"/>
          </a:solidFill>
        </p:spPr>
        <p:txBody>
          <a:bodyPr rtlCol="0" anchor="ctr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sp>
        <p:nvSpPr>
          <p:cNvPr id="11" name="Espace réservé d’image 2">
            <a:extLst>
              <a:ext uri="{FF2B5EF4-FFF2-40B4-BE49-F238E27FC236}">
                <a16:creationId xmlns:a16="http://schemas.microsoft.com/office/drawing/2014/main" id="{9B56B6C6-9F3C-4E80-BBAD-280E697B895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957037" y="1848535"/>
            <a:ext cx="1430337" cy="1430337"/>
          </a:xfrm>
          <a:prstGeom prst="ellipse">
            <a:avLst/>
          </a:prstGeom>
          <a:solidFill>
            <a:schemeClr val="bg2"/>
          </a:solidFill>
        </p:spPr>
        <p:txBody>
          <a:bodyPr rtlCol="0" anchor="ctr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sp>
        <p:nvSpPr>
          <p:cNvPr id="12" name="Espace réservé d’image 2">
            <a:extLst>
              <a:ext uri="{FF2B5EF4-FFF2-40B4-BE49-F238E27FC236}">
                <a16:creationId xmlns:a16="http://schemas.microsoft.com/office/drawing/2014/main" id="{54704160-1ED7-4B90-8963-0F887C73E94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795773" y="1848535"/>
            <a:ext cx="1430337" cy="1430337"/>
          </a:xfrm>
          <a:prstGeom prst="ellipse">
            <a:avLst/>
          </a:prstGeom>
          <a:solidFill>
            <a:schemeClr val="bg2"/>
          </a:solidFill>
        </p:spPr>
        <p:txBody>
          <a:bodyPr rtlCol="0" anchor="ctr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sp>
        <p:nvSpPr>
          <p:cNvPr id="13" name="Espace réservé d’image 2">
            <a:extLst>
              <a:ext uri="{FF2B5EF4-FFF2-40B4-BE49-F238E27FC236}">
                <a16:creationId xmlns:a16="http://schemas.microsoft.com/office/drawing/2014/main" id="{36610597-6A76-4A06-82A5-A8FFC5BAEA0F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648156" y="1848535"/>
            <a:ext cx="1430337" cy="1430337"/>
          </a:xfrm>
          <a:prstGeom prst="ellipse">
            <a:avLst/>
          </a:prstGeom>
          <a:solidFill>
            <a:schemeClr val="bg2"/>
          </a:solidFill>
        </p:spPr>
        <p:txBody>
          <a:bodyPr rtlCol="0" anchor="ctr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sp>
        <p:nvSpPr>
          <p:cNvPr id="27" name="Espace réservé du contenu 2">
            <a:extLst>
              <a:ext uri="{FF2B5EF4-FFF2-40B4-BE49-F238E27FC236}">
                <a16:creationId xmlns:a16="http://schemas.microsoft.com/office/drawing/2014/main" id="{FF56D2E5-86E4-473A-A62F-B7029E5B25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4454" y="4052306"/>
            <a:ext cx="2588705" cy="1749005"/>
          </a:xfrm>
        </p:spPr>
        <p:txBody>
          <a:bodyPr lIns="0" tIns="0" rIns="0" bIns="0" rtlCol="0">
            <a:noAutofit/>
          </a:bodyPr>
          <a:lstStyle>
            <a:lvl1pPr marL="0" indent="0" algn="ctr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28" name="Espace réservé du contenu 2">
            <a:extLst>
              <a:ext uri="{FF2B5EF4-FFF2-40B4-BE49-F238E27FC236}">
                <a16:creationId xmlns:a16="http://schemas.microsoft.com/office/drawing/2014/main" id="{93934E34-6CC7-492D-9515-EBEC72EFF4CB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524454" y="3539268"/>
            <a:ext cx="2588705" cy="495389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600" b="1" cap="all" baseline="0">
                <a:solidFill>
                  <a:srgbClr val="0D1D5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fr-FR" noProof="0" dirty="0"/>
              <a:t>Cadre 01</a:t>
            </a:r>
          </a:p>
        </p:txBody>
      </p:sp>
      <p:sp>
        <p:nvSpPr>
          <p:cNvPr id="29" name="Espace réservé du contenu 2">
            <a:extLst>
              <a:ext uri="{FF2B5EF4-FFF2-40B4-BE49-F238E27FC236}">
                <a16:creationId xmlns:a16="http://schemas.microsoft.com/office/drawing/2014/main" id="{E4E27467-A1AA-4773-AAB5-A96267FBD712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77853" y="4052306"/>
            <a:ext cx="2588705" cy="1749005"/>
          </a:xfrm>
        </p:spPr>
        <p:txBody>
          <a:bodyPr lIns="0" tIns="0" rIns="0" bIns="0" rtlCol="0">
            <a:noAutofit/>
          </a:bodyPr>
          <a:lstStyle>
            <a:lvl1pPr marL="0" indent="0" algn="ctr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30" name="Espace réservé du contenu 2">
            <a:extLst>
              <a:ext uri="{FF2B5EF4-FFF2-40B4-BE49-F238E27FC236}">
                <a16:creationId xmlns:a16="http://schemas.microsoft.com/office/drawing/2014/main" id="{6CABD5EB-4A8B-448B-8ED1-B8B420815B2D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3377853" y="3539268"/>
            <a:ext cx="2588705" cy="495389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600" b="1" cap="all" baseline="0">
                <a:solidFill>
                  <a:srgbClr val="0D1D5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fr-FR" noProof="0" dirty="0"/>
              <a:t>Cadre 01</a:t>
            </a:r>
          </a:p>
        </p:txBody>
      </p:sp>
      <p:sp>
        <p:nvSpPr>
          <p:cNvPr id="31" name="Espace réservé du contenu 2">
            <a:extLst>
              <a:ext uri="{FF2B5EF4-FFF2-40B4-BE49-F238E27FC236}">
                <a16:creationId xmlns:a16="http://schemas.microsoft.com/office/drawing/2014/main" id="{0D86883C-E501-47FF-AE1A-E9CE8B71B421}"/>
              </a:ext>
            </a:extLst>
          </p:cNvPr>
          <p:cNvSpPr>
            <a:spLocks noGrp="1"/>
          </p:cNvSpPr>
          <p:nvPr>
            <p:ph idx="20"/>
          </p:nvPr>
        </p:nvSpPr>
        <p:spPr>
          <a:xfrm>
            <a:off x="6216589" y="4052306"/>
            <a:ext cx="2588705" cy="1749005"/>
          </a:xfrm>
        </p:spPr>
        <p:txBody>
          <a:bodyPr lIns="0" tIns="0" rIns="0" bIns="0" rtlCol="0">
            <a:noAutofit/>
          </a:bodyPr>
          <a:lstStyle>
            <a:lvl1pPr marL="0" indent="0" algn="ctr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32" name="Espace réservé du contenu 2">
            <a:extLst>
              <a:ext uri="{FF2B5EF4-FFF2-40B4-BE49-F238E27FC236}">
                <a16:creationId xmlns:a16="http://schemas.microsoft.com/office/drawing/2014/main" id="{3683A037-F698-4CC9-904D-F377D71F690F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6216589" y="3539268"/>
            <a:ext cx="2588705" cy="495389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600" b="1" cap="all" baseline="0">
                <a:solidFill>
                  <a:srgbClr val="0D1D5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fr-FR" noProof="0" dirty="0"/>
              <a:t>Cadre 01</a:t>
            </a:r>
          </a:p>
        </p:txBody>
      </p:sp>
      <p:sp>
        <p:nvSpPr>
          <p:cNvPr id="33" name="Espace réservé du contenu 2">
            <a:extLst>
              <a:ext uri="{FF2B5EF4-FFF2-40B4-BE49-F238E27FC236}">
                <a16:creationId xmlns:a16="http://schemas.microsoft.com/office/drawing/2014/main" id="{0A095594-2B82-44ED-8C9B-DA7C4D3D2872}"/>
              </a:ext>
            </a:extLst>
          </p:cNvPr>
          <p:cNvSpPr>
            <a:spLocks noGrp="1"/>
          </p:cNvSpPr>
          <p:nvPr>
            <p:ph idx="22"/>
          </p:nvPr>
        </p:nvSpPr>
        <p:spPr>
          <a:xfrm>
            <a:off x="9068972" y="4052306"/>
            <a:ext cx="2588705" cy="1749005"/>
          </a:xfrm>
        </p:spPr>
        <p:txBody>
          <a:bodyPr lIns="0" tIns="0" rIns="0" bIns="0" rtlCol="0">
            <a:noAutofit/>
          </a:bodyPr>
          <a:lstStyle>
            <a:lvl1pPr marL="0" indent="0" algn="ctr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34" name="Espace réservé du contenu 2">
            <a:extLst>
              <a:ext uri="{FF2B5EF4-FFF2-40B4-BE49-F238E27FC236}">
                <a16:creationId xmlns:a16="http://schemas.microsoft.com/office/drawing/2014/main" id="{54CDD46A-22ED-48F5-9B5F-13B1B5C4B320}"/>
              </a:ext>
            </a:extLst>
          </p:cNvPr>
          <p:cNvSpPr>
            <a:spLocks noGrp="1"/>
          </p:cNvSpPr>
          <p:nvPr>
            <p:ph idx="23" hasCustomPrompt="1"/>
          </p:nvPr>
        </p:nvSpPr>
        <p:spPr>
          <a:xfrm>
            <a:off x="9068972" y="3539268"/>
            <a:ext cx="2588705" cy="495389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600" b="1" cap="all" baseline="0">
                <a:solidFill>
                  <a:srgbClr val="0D1D5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fr-FR" noProof="0" dirty="0"/>
              <a:t>Cadre 01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D725763-0538-50B3-49D9-E960F4466C77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65038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rci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59758E15-A93D-4FB9-843D-1490E27A151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002130" y="4484691"/>
            <a:ext cx="4540440" cy="503167"/>
          </a:xfrm>
        </p:spPr>
        <p:txBody>
          <a:bodyPr rtlCol="0">
            <a:noAutofit/>
          </a:bodyPr>
          <a:lstStyle>
            <a:lvl1pPr marL="0" indent="0" algn="l">
              <a:buNone/>
              <a:defRPr sz="16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fr-FR" noProof="0" dirty="0"/>
              <a:t>courrier électronique</a:t>
            </a:r>
          </a:p>
        </p:txBody>
      </p:sp>
      <p:sp>
        <p:nvSpPr>
          <p:cNvPr id="13" name="Espace réservé d’image 12">
            <a:extLst>
              <a:ext uri="{FF2B5EF4-FFF2-40B4-BE49-F238E27FC236}">
                <a16:creationId xmlns:a16="http://schemas.microsoft.com/office/drawing/2014/main" id="{BCCC559D-0EC3-432C-B397-6897B366DF3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0812" y="728545"/>
            <a:ext cx="5305661" cy="5305661"/>
          </a:xfrm>
          <a:prstGeom prst="ellipse">
            <a:avLst/>
          </a:prstGeom>
          <a:solidFill>
            <a:schemeClr val="bg2"/>
          </a:solidFill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819AFA09-F4B1-493D-BCAD-FF30C20CD1AA}"/>
              </a:ext>
            </a:extLst>
          </p:cNvPr>
          <p:cNvCxnSpPr/>
          <p:nvPr userDrawn="1"/>
        </p:nvCxnSpPr>
        <p:spPr>
          <a:xfrm>
            <a:off x="6469778" y="4233582"/>
            <a:ext cx="253233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4E0FBE0E-A6B0-483E-93DD-5C20DA069DB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02320" y="5012635"/>
            <a:ext cx="4533900" cy="503238"/>
          </a:xfr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600" b="0" cap="all" baseline="0" dirty="0" smtClean="0"/>
            </a:lvl1pPr>
          </a:lstStyle>
          <a:p>
            <a:pPr marL="228600" lvl="0" indent="-228600" rtl="0"/>
            <a:r>
              <a:rPr lang="fr-FR" noProof="0" dirty="0"/>
              <a:t>Url site web ici</a:t>
            </a:r>
          </a:p>
        </p:txBody>
      </p:sp>
      <p:pic>
        <p:nvPicPr>
          <p:cNvPr id="17" name="Graphisme 16" descr="Enveloppe">
            <a:extLst>
              <a:ext uri="{FF2B5EF4-FFF2-40B4-BE49-F238E27FC236}">
                <a16:creationId xmlns:a16="http://schemas.microsoft.com/office/drawing/2014/main" id="{E5B30B87-6C2E-48F1-9026-E4F6BEA1CFE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41475" y="4452337"/>
            <a:ext cx="387795" cy="387795"/>
          </a:xfrm>
          <a:prstGeom prst="rect">
            <a:avLst/>
          </a:prstGeom>
        </p:spPr>
      </p:pic>
      <p:pic>
        <p:nvPicPr>
          <p:cNvPr id="18" name="Graphisme 17" descr="Réseau">
            <a:extLst>
              <a:ext uri="{FF2B5EF4-FFF2-40B4-BE49-F238E27FC236}">
                <a16:creationId xmlns:a16="http://schemas.microsoft.com/office/drawing/2014/main" id="{2DA3CFE0-4ED8-4345-A158-94E70F463E9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22084" y="4925640"/>
            <a:ext cx="426575" cy="426575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2CE9908F-CF81-43F9-880A-401D0C0FB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9778" y="3429000"/>
            <a:ext cx="5011410" cy="651448"/>
          </a:xfrm>
          <a:noFill/>
        </p:spPr>
        <p:txBody>
          <a:bodyPr wrap="square" rtlCol="0">
            <a:noAutofit/>
          </a:bodyPr>
          <a:lstStyle>
            <a:lvl1pPr>
              <a:defRPr lang="en-US" sz="6000" b="1" cap="all" baseline="0">
                <a:solidFill>
                  <a:schemeClr val="accent1"/>
                </a:solidFill>
                <a:ea typeface="+mn-ea"/>
                <a:cs typeface="+mn-cs"/>
              </a:defRPr>
            </a:lvl1pPr>
          </a:lstStyle>
          <a:p>
            <a:pPr marL="0" lvl="0"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52432A-A0B0-1058-586E-D11950BCF882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  <p:sp>
        <p:nvSpPr>
          <p:cNvPr id="6" name="Rectangle 13">
            <a:extLst>
              <a:ext uri="{FF2B5EF4-FFF2-40B4-BE49-F238E27FC236}">
                <a16:creationId xmlns:a16="http://schemas.microsoft.com/office/drawing/2014/main" id="{6962BDB2-D0AB-5E22-73AC-E91AF4C3907E}"/>
              </a:ext>
            </a:extLst>
          </p:cNvPr>
          <p:cNvSpPr/>
          <p:nvPr userDrawn="1"/>
        </p:nvSpPr>
        <p:spPr>
          <a:xfrm>
            <a:off x="-1200638" y="728545"/>
            <a:ext cx="4686788" cy="530566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8" name="Ovale 3">
            <a:extLst>
              <a:ext uri="{FF2B5EF4-FFF2-40B4-BE49-F238E27FC236}">
                <a16:creationId xmlns:a16="http://schemas.microsoft.com/office/drawing/2014/main" id="{B7EC228F-CA6C-3562-58CD-F5D3A8931A7A}"/>
              </a:ext>
            </a:extLst>
          </p:cNvPr>
          <p:cNvSpPr/>
          <p:nvPr userDrawn="1"/>
        </p:nvSpPr>
        <p:spPr>
          <a:xfrm>
            <a:off x="577688" y="595422"/>
            <a:ext cx="5571908" cy="5571906"/>
          </a:xfrm>
          <a:prstGeom prst="ellipse">
            <a:avLst/>
          </a:prstGeom>
          <a:solidFill>
            <a:schemeClr val="bg2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6371368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e de titre 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6299464-ED20-4919-8B3A-2CFAE8DA234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3" name="Espace réservé d’image 12">
            <a:extLst>
              <a:ext uri="{FF2B5EF4-FFF2-40B4-BE49-F238E27FC236}">
                <a16:creationId xmlns:a16="http://schemas.microsoft.com/office/drawing/2014/main" id="{BCCC559D-0EC3-432C-B397-6897B366DF3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0812" y="728545"/>
            <a:ext cx="5305661" cy="5305661"/>
          </a:xfrm>
          <a:prstGeom prst="ellipse">
            <a:avLst/>
          </a:prstGeom>
          <a:solidFill>
            <a:schemeClr val="bg2"/>
          </a:solidFill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77C312F4-62C2-4903-8C4B-423A8717E481}"/>
              </a:ext>
            </a:extLst>
          </p:cNvPr>
          <p:cNvCxnSpPr/>
          <p:nvPr userDrawn="1"/>
        </p:nvCxnSpPr>
        <p:spPr>
          <a:xfrm>
            <a:off x="6469778" y="4233582"/>
            <a:ext cx="2532336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Graphisme 18" descr="Enveloppe">
            <a:extLst>
              <a:ext uri="{FF2B5EF4-FFF2-40B4-BE49-F238E27FC236}">
                <a16:creationId xmlns:a16="http://schemas.microsoft.com/office/drawing/2014/main" id="{A686352B-226C-4579-B831-0DC14EC3895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41475" y="4452337"/>
            <a:ext cx="387795" cy="387795"/>
          </a:xfrm>
          <a:prstGeom prst="rect">
            <a:avLst/>
          </a:prstGeom>
        </p:spPr>
      </p:pic>
      <p:pic>
        <p:nvPicPr>
          <p:cNvPr id="20" name="Graphisme 19" descr="Réseau">
            <a:extLst>
              <a:ext uri="{FF2B5EF4-FFF2-40B4-BE49-F238E27FC236}">
                <a16:creationId xmlns:a16="http://schemas.microsoft.com/office/drawing/2014/main" id="{460C8169-012B-451A-A6C2-6FEC0DC82AF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22084" y="4925640"/>
            <a:ext cx="426575" cy="426575"/>
          </a:xfrm>
          <a:prstGeom prst="rect">
            <a:avLst/>
          </a:prstGeom>
        </p:spPr>
      </p:pic>
      <p:sp>
        <p:nvSpPr>
          <p:cNvPr id="21" name="Sous-titre 2">
            <a:extLst>
              <a:ext uri="{FF2B5EF4-FFF2-40B4-BE49-F238E27FC236}">
                <a16:creationId xmlns:a16="http://schemas.microsoft.com/office/drawing/2014/main" id="{ADF17BC1-06CE-42EA-A970-31A7ED871AA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002130" y="4484691"/>
            <a:ext cx="4540440" cy="503167"/>
          </a:xfrm>
        </p:spPr>
        <p:txBody>
          <a:bodyPr rtlCol="0">
            <a:noAutofit/>
          </a:bodyPr>
          <a:lstStyle>
            <a:lvl1pPr marL="0" indent="0" algn="l">
              <a:buNone/>
              <a:defRPr sz="1600" b="0" cap="all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fr-FR" noProof="0" dirty="0"/>
              <a:t>courrier électronique</a:t>
            </a:r>
          </a:p>
        </p:txBody>
      </p:sp>
      <p:sp>
        <p:nvSpPr>
          <p:cNvPr id="22" name="Espace réservé du texte 6">
            <a:extLst>
              <a:ext uri="{FF2B5EF4-FFF2-40B4-BE49-F238E27FC236}">
                <a16:creationId xmlns:a16="http://schemas.microsoft.com/office/drawing/2014/main" id="{7035F1B3-4E91-44FF-B4E7-E5D87C7A034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02320" y="5012635"/>
            <a:ext cx="4533900" cy="503238"/>
          </a:xfr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600" b="0" cap="all" baseline="0" dirty="0" smtClean="0">
                <a:solidFill>
                  <a:schemeClr val="bg1"/>
                </a:solidFill>
              </a:defRPr>
            </a:lvl1pPr>
          </a:lstStyle>
          <a:p>
            <a:pPr marL="228600" lvl="0" indent="-228600" rtl="0"/>
            <a:r>
              <a:rPr lang="fr-FR" noProof="0" dirty="0"/>
              <a:t>Url site web ici</a:t>
            </a:r>
          </a:p>
        </p:txBody>
      </p:sp>
      <p:sp>
        <p:nvSpPr>
          <p:cNvPr id="18" name="Titre 1">
            <a:extLst>
              <a:ext uri="{FF2B5EF4-FFF2-40B4-BE49-F238E27FC236}">
                <a16:creationId xmlns:a16="http://schemas.microsoft.com/office/drawing/2014/main" id="{525B5135-F466-4A63-A42C-3BB2BAA7D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9778" y="3158641"/>
            <a:ext cx="5011410" cy="921807"/>
          </a:xfrm>
          <a:noFill/>
        </p:spPr>
        <p:txBody>
          <a:bodyPr wrap="square" rtlCol="0">
            <a:noAutofit/>
          </a:bodyPr>
          <a:lstStyle>
            <a:lvl1pPr>
              <a:defRPr lang="en-US" sz="6000" b="1" cap="all" baseline="0" dirty="0">
                <a:solidFill>
                  <a:schemeClr val="bg1"/>
                </a:solidFill>
                <a:ea typeface="+mn-ea"/>
                <a:cs typeface="+mn-cs"/>
              </a:defRPr>
            </a:lvl1pPr>
          </a:lstStyle>
          <a:p>
            <a:pPr marL="0" lvl="0" rtl="0"/>
            <a:r>
              <a:rPr lang="en-US" noProof="0"/>
              <a:t>Click to edit Master title style</a:t>
            </a:r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8101070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7333">
          <p15:clr>
            <a:srgbClr val="FBAE40"/>
          </p15:clr>
        </p15:guide>
        <p15:guide id="4" pos="36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6299464-ED20-4919-8B3A-2CFAE8DA234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6" name="Ovale 5">
            <a:extLst>
              <a:ext uri="{FF2B5EF4-FFF2-40B4-BE49-F238E27FC236}">
                <a16:creationId xmlns:a16="http://schemas.microsoft.com/office/drawing/2014/main" id="{1F54E98B-AC75-484D-9121-68498EB888AA}"/>
              </a:ext>
            </a:extLst>
          </p:cNvPr>
          <p:cNvSpPr/>
          <p:nvPr userDrawn="1"/>
        </p:nvSpPr>
        <p:spPr>
          <a:xfrm>
            <a:off x="754010" y="708293"/>
            <a:ext cx="5334029" cy="5334029"/>
          </a:xfrm>
          <a:prstGeom prst="ellipse">
            <a:avLst/>
          </a:prstGeom>
          <a:solidFill>
            <a:schemeClr val="bg1">
              <a:alpha val="1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456FD49-C258-4333-9422-358C976A341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43650" y="2173288"/>
            <a:ext cx="5143500" cy="2090808"/>
          </a:xfrm>
        </p:spPr>
        <p:txBody>
          <a:bodyPr rtlCol="0" anchor="b">
            <a:noAutofit/>
          </a:bodyPr>
          <a:lstStyle>
            <a:lvl1pPr algn="l">
              <a:defRPr sz="5400" b="1" cap="all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fr-FR" noProof="0" dirty="0"/>
              <a:t>Le sous-titre vient ici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9758E15-A93D-4FB9-843D-1490E27A1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43650" y="4279971"/>
            <a:ext cx="5143500" cy="503167"/>
          </a:xfrm>
        </p:spPr>
        <p:txBody>
          <a:bodyPr rtlCol="0">
            <a:noAutofit/>
          </a:bodyPr>
          <a:lstStyle>
            <a:lvl1pPr marL="0" indent="0" algn="l">
              <a:buNone/>
              <a:defRPr sz="1800" b="0" cap="all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en-US" noProof="0"/>
              <a:t>Click to edit Master subtitle style</a:t>
            </a:r>
            <a:endParaRPr lang="fr-FR" noProof="0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4FE28ACC-E44C-4381-B768-0310810E78D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015850" y="391862"/>
            <a:ext cx="1745251" cy="673365"/>
          </a:xfrm>
          <a:prstGeom prst="rect">
            <a:avLst/>
          </a:prstGeom>
        </p:spPr>
      </p:pic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819AFA09-F4B1-493D-BCAD-FF30C20CD1AA}"/>
              </a:ext>
            </a:extLst>
          </p:cNvPr>
          <p:cNvCxnSpPr/>
          <p:nvPr userDrawn="1"/>
        </p:nvCxnSpPr>
        <p:spPr>
          <a:xfrm>
            <a:off x="6469778" y="4233582"/>
            <a:ext cx="2532336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B3707CB-8F35-D917-8891-54BCA697BA5F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bg1"/>
                </a:solidFill>
              </a:rPr>
              <a:t>Klebert, Preeti, Sofia, Yves</a:t>
            </a:r>
            <a:endParaRPr lang="en-US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90578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7333">
          <p15:clr>
            <a:srgbClr val="FBAE40"/>
          </p15:clr>
        </p15:guide>
        <p15:guide id="4" pos="362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9087E09-D75F-4E26-B01E-A1A09BA2EA7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F7A70B7-7ADE-4E0B-B956-363B0B1AA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2563"/>
            <a:ext cx="10515600" cy="940181"/>
          </a:xfrm>
        </p:spPr>
        <p:txBody>
          <a:bodyPr rtlCol="0" anchor="b">
            <a:noAutofit/>
          </a:bodyPr>
          <a:lstStyle>
            <a:lvl1pPr algn="ctr">
              <a:defRPr sz="4000" b="1" cap="all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11" name="Ovale 10">
            <a:extLst>
              <a:ext uri="{FF2B5EF4-FFF2-40B4-BE49-F238E27FC236}">
                <a16:creationId xmlns:a16="http://schemas.microsoft.com/office/drawing/2014/main" id="{8931D2A9-0B92-4197-8802-80424C14EA7E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3B74B0-30B9-45C2-9AE6-45D1978AA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rgbClr val="2C567A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21" name="Espace réservé du texte 2">
            <a:extLst>
              <a:ext uri="{FF2B5EF4-FFF2-40B4-BE49-F238E27FC236}">
                <a16:creationId xmlns:a16="http://schemas.microsoft.com/office/drawing/2014/main" id="{4D77C47B-CC1E-41DA-9146-5DFD630654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153348"/>
            <a:ext cx="10515600" cy="648543"/>
          </a:xfrm>
        </p:spPr>
        <p:txBody>
          <a:bodyPr rtlCol="0">
            <a:normAutofit/>
          </a:bodyPr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4D4E2E-3C74-203C-981D-A7C573131B4D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bg1"/>
                </a:solidFill>
              </a:rPr>
              <a:t>Klebert, Preeti, Sofia, Yves</a:t>
            </a:r>
            <a:endParaRPr lang="en-US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65441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6627016-BFC4-46D4-89DB-F72E3C3461EC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bg1"/>
              </a:solidFill>
            </a:endParaRPr>
          </a:p>
        </p:txBody>
      </p:sp>
      <p:sp>
        <p:nvSpPr>
          <p:cNvPr id="15" name="Ovale 14">
            <a:extLst>
              <a:ext uri="{FF2B5EF4-FFF2-40B4-BE49-F238E27FC236}">
                <a16:creationId xmlns:a16="http://schemas.microsoft.com/office/drawing/2014/main" id="{EF515B4A-CB20-4847-8E00-0DD66F1FEBB4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996B64B9-1DF0-4EE9-BAB5-72AFA94B9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27" name="Espace réservé du contenu 2">
            <a:extLst>
              <a:ext uri="{FF2B5EF4-FFF2-40B4-BE49-F238E27FC236}">
                <a16:creationId xmlns:a16="http://schemas.microsoft.com/office/drawing/2014/main" id="{1A1F33A2-66F7-4D85-99DD-7B00F265AC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938" y="1825625"/>
            <a:ext cx="10837862" cy="4351338"/>
          </a:xfrm>
        </p:spPr>
        <p:txBody>
          <a:bodyPr rtlCol="0"/>
          <a:lstStyle/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fr-FR" noProof="0" dirty="0"/>
          </a:p>
        </p:txBody>
      </p:sp>
      <p:sp>
        <p:nvSpPr>
          <p:cNvPr id="13" name="Titre 1">
            <a:extLst>
              <a:ext uri="{FF2B5EF4-FFF2-40B4-BE49-F238E27FC236}">
                <a16:creationId xmlns:a16="http://schemas.microsoft.com/office/drawing/2014/main" id="{EF788279-D710-447A-9E71-4D13445756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920336"/>
          </a:xfrm>
        </p:spPr>
        <p:txBody>
          <a:bodyPr lIns="0" tIns="0" rIns="0" bIns="0" rtlCol="0" anchor="b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801B128-8CD3-6C1A-4BEF-92093750CC9A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97589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e 17">
            <a:extLst>
              <a:ext uri="{FF2B5EF4-FFF2-40B4-BE49-F238E27FC236}">
                <a16:creationId xmlns:a16="http://schemas.microsoft.com/office/drawing/2014/main" id="{C2A6B906-ACDA-40FD-8AC8-0B693AB12796}"/>
              </a:ext>
            </a:extLst>
          </p:cNvPr>
          <p:cNvGrpSpPr/>
          <p:nvPr userDrawn="1"/>
        </p:nvGrpSpPr>
        <p:grpSpPr>
          <a:xfrm rot="8650774" flipH="1" flipV="1">
            <a:off x="7430044" y="-1843126"/>
            <a:ext cx="4436224" cy="5482435"/>
            <a:chOff x="11114088" y="2241550"/>
            <a:chExt cx="1905000" cy="2354263"/>
          </a:xfrm>
          <a:solidFill>
            <a:schemeClr val="bg2">
              <a:alpha val="53000"/>
            </a:schemeClr>
          </a:solidFill>
        </p:grpSpPr>
        <p:sp>
          <p:nvSpPr>
            <p:cNvPr id="19" name="Forme libre 5">
              <a:extLst>
                <a:ext uri="{FF2B5EF4-FFF2-40B4-BE49-F238E27FC236}">
                  <a16:creationId xmlns:a16="http://schemas.microsoft.com/office/drawing/2014/main" id="{717F7366-5A99-4065-90C2-AE7DF5DD0F44}"/>
                </a:ext>
              </a:extLst>
            </p:cNvPr>
            <p:cNvSpPr>
              <a:spLocks/>
            </p:cNvSpPr>
            <p:nvPr/>
          </p:nvSpPr>
          <p:spPr bwMode="auto">
            <a:xfrm>
              <a:off x="11114088" y="2241550"/>
              <a:ext cx="1905000" cy="2354263"/>
            </a:xfrm>
            <a:custGeom>
              <a:avLst/>
              <a:gdLst>
                <a:gd name="T0" fmla="*/ 0 w 447"/>
                <a:gd name="T1" fmla="*/ 264 h 553"/>
                <a:gd name="T2" fmla="*/ 141 w 447"/>
                <a:gd name="T3" fmla="*/ 48 h 553"/>
                <a:gd name="T4" fmla="*/ 414 w 447"/>
                <a:gd name="T5" fmla="*/ 67 h 553"/>
                <a:gd name="T6" fmla="*/ 438 w 447"/>
                <a:gd name="T7" fmla="*/ 98 h 553"/>
                <a:gd name="T8" fmla="*/ 391 w 447"/>
                <a:gd name="T9" fmla="*/ 111 h 553"/>
                <a:gd name="T10" fmla="*/ 94 w 447"/>
                <a:gd name="T11" fmla="*/ 149 h 553"/>
                <a:gd name="T12" fmla="*/ 107 w 447"/>
                <a:gd name="T13" fmla="*/ 424 h 553"/>
                <a:gd name="T14" fmla="*/ 383 w 447"/>
                <a:gd name="T15" fmla="*/ 453 h 553"/>
                <a:gd name="T16" fmla="*/ 393 w 447"/>
                <a:gd name="T17" fmla="*/ 446 h 553"/>
                <a:gd name="T18" fmla="*/ 433 w 447"/>
                <a:gd name="T19" fmla="*/ 449 h 553"/>
                <a:gd name="T20" fmla="*/ 421 w 447"/>
                <a:gd name="T21" fmla="*/ 485 h 553"/>
                <a:gd name="T22" fmla="*/ 194 w 447"/>
                <a:gd name="T23" fmla="*/ 531 h 553"/>
                <a:gd name="T24" fmla="*/ 0 w 447"/>
                <a:gd name="T25" fmla="*/ 264 h 5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47" h="553">
                  <a:moveTo>
                    <a:pt x="0" y="264"/>
                  </a:moveTo>
                  <a:cubicBezTo>
                    <a:pt x="5" y="176"/>
                    <a:pt x="49" y="96"/>
                    <a:pt x="141" y="48"/>
                  </a:cubicBezTo>
                  <a:cubicBezTo>
                    <a:pt x="235" y="0"/>
                    <a:pt x="327" y="9"/>
                    <a:pt x="414" y="67"/>
                  </a:cubicBezTo>
                  <a:cubicBezTo>
                    <a:pt x="425" y="75"/>
                    <a:pt x="439" y="82"/>
                    <a:pt x="438" y="98"/>
                  </a:cubicBezTo>
                  <a:cubicBezTo>
                    <a:pt x="437" y="120"/>
                    <a:pt x="413" y="127"/>
                    <a:pt x="391" y="111"/>
                  </a:cubicBezTo>
                  <a:cubicBezTo>
                    <a:pt x="294" y="40"/>
                    <a:pt x="166" y="56"/>
                    <a:pt x="94" y="149"/>
                  </a:cubicBezTo>
                  <a:cubicBezTo>
                    <a:pt x="30" y="231"/>
                    <a:pt x="36" y="349"/>
                    <a:pt x="107" y="424"/>
                  </a:cubicBezTo>
                  <a:cubicBezTo>
                    <a:pt x="180" y="502"/>
                    <a:pt x="296" y="514"/>
                    <a:pt x="383" y="453"/>
                  </a:cubicBezTo>
                  <a:cubicBezTo>
                    <a:pt x="386" y="451"/>
                    <a:pt x="390" y="449"/>
                    <a:pt x="393" y="446"/>
                  </a:cubicBezTo>
                  <a:cubicBezTo>
                    <a:pt x="407" y="433"/>
                    <a:pt x="420" y="433"/>
                    <a:pt x="433" y="449"/>
                  </a:cubicBezTo>
                  <a:cubicBezTo>
                    <a:pt x="447" y="467"/>
                    <a:pt x="433" y="477"/>
                    <a:pt x="421" y="485"/>
                  </a:cubicBezTo>
                  <a:cubicBezTo>
                    <a:pt x="353" y="537"/>
                    <a:pt x="277" y="553"/>
                    <a:pt x="194" y="531"/>
                  </a:cubicBezTo>
                  <a:cubicBezTo>
                    <a:pt x="79" y="501"/>
                    <a:pt x="1" y="397"/>
                    <a:pt x="0" y="26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fr-FR" noProof="0" dirty="0"/>
            </a:p>
          </p:txBody>
        </p:sp>
        <p:sp>
          <p:nvSpPr>
            <p:cNvPr id="20" name="Forme libre 6">
              <a:extLst>
                <a:ext uri="{FF2B5EF4-FFF2-40B4-BE49-F238E27FC236}">
                  <a16:creationId xmlns:a16="http://schemas.microsoft.com/office/drawing/2014/main" id="{90A089CA-63B9-4456-B0B1-17C75EBFB982}"/>
                </a:ext>
              </a:extLst>
            </p:cNvPr>
            <p:cNvSpPr>
              <a:spLocks/>
            </p:cNvSpPr>
            <p:nvPr/>
          </p:nvSpPr>
          <p:spPr bwMode="auto">
            <a:xfrm>
              <a:off x="11412538" y="2590800"/>
              <a:ext cx="835025" cy="1673225"/>
            </a:xfrm>
            <a:custGeom>
              <a:avLst/>
              <a:gdLst>
                <a:gd name="T0" fmla="*/ 0 w 196"/>
                <a:gd name="T1" fmla="*/ 198 h 393"/>
                <a:gd name="T2" fmla="*/ 157 w 196"/>
                <a:gd name="T3" fmla="*/ 8 h 393"/>
                <a:gd name="T4" fmla="*/ 192 w 196"/>
                <a:gd name="T5" fmla="*/ 22 h 393"/>
                <a:gd name="T6" fmla="*/ 167 w 196"/>
                <a:gd name="T7" fmla="*/ 56 h 393"/>
                <a:gd name="T8" fmla="*/ 48 w 196"/>
                <a:gd name="T9" fmla="*/ 198 h 393"/>
                <a:gd name="T10" fmla="*/ 170 w 196"/>
                <a:gd name="T11" fmla="*/ 339 h 393"/>
                <a:gd name="T12" fmla="*/ 193 w 196"/>
                <a:gd name="T13" fmla="*/ 372 h 393"/>
                <a:gd name="T14" fmla="*/ 160 w 196"/>
                <a:gd name="T15" fmla="*/ 387 h 393"/>
                <a:gd name="T16" fmla="*/ 0 w 196"/>
                <a:gd name="T17" fmla="*/ 198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6" h="393">
                  <a:moveTo>
                    <a:pt x="0" y="198"/>
                  </a:moveTo>
                  <a:cubicBezTo>
                    <a:pt x="0" y="103"/>
                    <a:pt x="64" y="26"/>
                    <a:pt x="157" y="8"/>
                  </a:cubicBezTo>
                  <a:cubicBezTo>
                    <a:pt x="171" y="6"/>
                    <a:pt x="188" y="0"/>
                    <a:pt x="192" y="22"/>
                  </a:cubicBezTo>
                  <a:cubicBezTo>
                    <a:pt x="196" y="41"/>
                    <a:pt x="190" y="52"/>
                    <a:pt x="167" y="56"/>
                  </a:cubicBezTo>
                  <a:cubicBezTo>
                    <a:pt x="95" y="70"/>
                    <a:pt x="47" y="129"/>
                    <a:pt x="48" y="198"/>
                  </a:cubicBezTo>
                  <a:cubicBezTo>
                    <a:pt x="48" y="267"/>
                    <a:pt x="97" y="325"/>
                    <a:pt x="170" y="339"/>
                  </a:cubicBezTo>
                  <a:cubicBezTo>
                    <a:pt x="191" y="343"/>
                    <a:pt x="195" y="354"/>
                    <a:pt x="193" y="372"/>
                  </a:cubicBezTo>
                  <a:cubicBezTo>
                    <a:pt x="190" y="393"/>
                    <a:pt x="174" y="389"/>
                    <a:pt x="160" y="387"/>
                  </a:cubicBezTo>
                  <a:cubicBezTo>
                    <a:pt x="70" y="375"/>
                    <a:pt x="0" y="293"/>
                    <a:pt x="0" y="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fr-FR" noProof="0" dirty="0"/>
            </a:p>
          </p:txBody>
        </p:sp>
        <p:sp>
          <p:nvSpPr>
            <p:cNvPr id="22" name="Forme libre 7">
              <a:extLst>
                <a:ext uri="{FF2B5EF4-FFF2-40B4-BE49-F238E27FC236}">
                  <a16:creationId xmlns:a16="http://schemas.microsoft.com/office/drawing/2014/main" id="{8D36B2D1-BCFE-43FC-8743-7B7A30E1AD5D}"/>
                </a:ext>
              </a:extLst>
            </p:cNvPr>
            <p:cNvSpPr>
              <a:spLocks/>
            </p:cNvSpPr>
            <p:nvPr/>
          </p:nvSpPr>
          <p:spPr bwMode="auto">
            <a:xfrm>
              <a:off x="11728451" y="3071813"/>
              <a:ext cx="306388" cy="719138"/>
            </a:xfrm>
            <a:custGeom>
              <a:avLst/>
              <a:gdLst>
                <a:gd name="T0" fmla="*/ 0 w 72"/>
                <a:gd name="T1" fmla="*/ 84 h 169"/>
                <a:gd name="T2" fmla="*/ 20 w 72"/>
                <a:gd name="T3" fmla="*/ 20 h 169"/>
                <a:gd name="T4" fmla="*/ 42 w 72"/>
                <a:gd name="T5" fmla="*/ 9 h 169"/>
                <a:gd name="T6" fmla="*/ 62 w 72"/>
                <a:gd name="T7" fmla="*/ 44 h 169"/>
                <a:gd name="T8" fmla="*/ 62 w 72"/>
                <a:gd name="T9" fmla="*/ 125 h 169"/>
                <a:gd name="T10" fmla="*/ 43 w 72"/>
                <a:gd name="T11" fmla="*/ 159 h 169"/>
                <a:gd name="T12" fmla="*/ 20 w 72"/>
                <a:gd name="T13" fmla="*/ 148 h 169"/>
                <a:gd name="T14" fmla="*/ 0 w 72"/>
                <a:gd name="T15" fmla="*/ 84 h 1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2" h="169">
                  <a:moveTo>
                    <a:pt x="0" y="84"/>
                  </a:moveTo>
                  <a:cubicBezTo>
                    <a:pt x="2" y="62"/>
                    <a:pt x="6" y="39"/>
                    <a:pt x="20" y="20"/>
                  </a:cubicBezTo>
                  <a:cubicBezTo>
                    <a:pt x="25" y="13"/>
                    <a:pt x="31" y="0"/>
                    <a:pt x="42" y="9"/>
                  </a:cubicBezTo>
                  <a:cubicBezTo>
                    <a:pt x="53" y="18"/>
                    <a:pt x="72" y="25"/>
                    <a:pt x="62" y="44"/>
                  </a:cubicBezTo>
                  <a:cubicBezTo>
                    <a:pt x="47" y="72"/>
                    <a:pt x="47" y="97"/>
                    <a:pt x="62" y="125"/>
                  </a:cubicBezTo>
                  <a:cubicBezTo>
                    <a:pt x="72" y="143"/>
                    <a:pt x="53" y="151"/>
                    <a:pt x="43" y="159"/>
                  </a:cubicBezTo>
                  <a:cubicBezTo>
                    <a:pt x="31" y="169"/>
                    <a:pt x="25" y="156"/>
                    <a:pt x="20" y="148"/>
                  </a:cubicBezTo>
                  <a:cubicBezTo>
                    <a:pt x="6" y="129"/>
                    <a:pt x="2" y="107"/>
                    <a:pt x="0" y="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fr-FR" noProof="0" dirty="0"/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76627016-BFC4-46D4-89DB-F72E3C3461EC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bg1"/>
              </a:solidFill>
            </a:endParaRPr>
          </a:p>
        </p:txBody>
      </p:sp>
      <p:sp>
        <p:nvSpPr>
          <p:cNvPr id="15" name="Ovale 14">
            <a:extLst>
              <a:ext uri="{FF2B5EF4-FFF2-40B4-BE49-F238E27FC236}">
                <a16:creationId xmlns:a16="http://schemas.microsoft.com/office/drawing/2014/main" id="{EF515B4A-CB20-4847-8E00-0DD66F1FEBB4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996B64B9-1DF0-4EE9-BAB5-72AFA94B9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14" name="Espace réservé du contenu 2">
            <a:extLst>
              <a:ext uri="{FF2B5EF4-FFF2-40B4-BE49-F238E27FC236}">
                <a16:creationId xmlns:a16="http://schemas.microsoft.com/office/drawing/2014/main" id="{079DA8F4-EDD3-4D62-A90B-8C3C1AFB00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8" y="1825625"/>
            <a:ext cx="5503862" cy="4351338"/>
          </a:xfrm>
        </p:spPr>
        <p:txBody>
          <a:bodyPr rtlCol="0"/>
          <a:lstStyle/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fr-FR" noProof="0" dirty="0"/>
          </a:p>
        </p:txBody>
      </p:sp>
      <p:sp>
        <p:nvSpPr>
          <p:cNvPr id="17" name="Espace réservé du contenu 3">
            <a:extLst>
              <a:ext uri="{FF2B5EF4-FFF2-40B4-BE49-F238E27FC236}">
                <a16:creationId xmlns:a16="http://schemas.microsoft.com/office/drawing/2014/main" id="{DA0DA994-B4A9-447A-BEBF-3EA31D3755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 rtlCol="0"/>
          <a:lstStyle/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fr-FR" noProof="0" dirty="0"/>
          </a:p>
        </p:txBody>
      </p:sp>
      <p:sp>
        <p:nvSpPr>
          <p:cNvPr id="21" name="Titre 1">
            <a:extLst>
              <a:ext uri="{FF2B5EF4-FFF2-40B4-BE49-F238E27FC236}">
                <a16:creationId xmlns:a16="http://schemas.microsoft.com/office/drawing/2014/main" id="{19DEF115-82C2-4E9D-A22C-8DA561FB3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920336"/>
          </a:xfrm>
        </p:spPr>
        <p:txBody>
          <a:bodyPr lIns="0" tIns="0" rIns="0" bIns="0" rtlCol="0" anchor="b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5EB9D06-4406-57A0-2D56-983780EFA8D1}"/>
              </a:ext>
            </a:extLst>
          </p:cNvPr>
          <p:cNvSpPr txBox="1"/>
          <p:nvPr userDrawn="1"/>
        </p:nvSpPr>
        <p:spPr>
          <a:xfrm>
            <a:off x="454878" y="6356787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293422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e 19">
            <a:extLst>
              <a:ext uri="{FF2B5EF4-FFF2-40B4-BE49-F238E27FC236}">
                <a16:creationId xmlns:a16="http://schemas.microsoft.com/office/drawing/2014/main" id="{616F52B4-215E-4237-893C-E22B23804744}"/>
              </a:ext>
            </a:extLst>
          </p:cNvPr>
          <p:cNvGrpSpPr/>
          <p:nvPr userDrawn="1"/>
        </p:nvGrpSpPr>
        <p:grpSpPr>
          <a:xfrm rot="8650774" flipH="1" flipV="1">
            <a:off x="7430044" y="-1843126"/>
            <a:ext cx="4436224" cy="5482435"/>
            <a:chOff x="11114088" y="2241550"/>
            <a:chExt cx="1905000" cy="2354263"/>
          </a:xfrm>
          <a:solidFill>
            <a:schemeClr val="bg2">
              <a:alpha val="53000"/>
            </a:schemeClr>
          </a:solidFill>
        </p:grpSpPr>
        <p:sp>
          <p:nvSpPr>
            <p:cNvPr id="22" name="Forme libre 5">
              <a:extLst>
                <a:ext uri="{FF2B5EF4-FFF2-40B4-BE49-F238E27FC236}">
                  <a16:creationId xmlns:a16="http://schemas.microsoft.com/office/drawing/2014/main" id="{B7C40C77-B795-4B07-B92D-2E8A56635773}"/>
                </a:ext>
              </a:extLst>
            </p:cNvPr>
            <p:cNvSpPr>
              <a:spLocks/>
            </p:cNvSpPr>
            <p:nvPr/>
          </p:nvSpPr>
          <p:spPr bwMode="auto">
            <a:xfrm>
              <a:off x="11114088" y="2241550"/>
              <a:ext cx="1905000" cy="2354263"/>
            </a:xfrm>
            <a:custGeom>
              <a:avLst/>
              <a:gdLst>
                <a:gd name="T0" fmla="*/ 0 w 447"/>
                <a:gd name="T1" fmla="*/ 264 h 553"/>
                <a:gd name="T2" fmla="*/ 141 w 447"/>
                <a:gd name="T3" fmla="*/ 48 h 553"/>
                <a:gd name="T4" fmla="*/ 414 w 447"/>
                <a:gd name="T5" fmla="*/ 67 h 553"/>
                <a:gd name="T6" fmla="*/ 438 w 447"/>
                <a:gd name="T7" fmla="*/ 98 h 553"/>
                <a:gd name="T8" fmla="*/ 391 w 447"/>
                <a:gd name="T9" fmla="*/ 111 h 553"/>
                <a:gd name="T10" fmla="*/ 94 w 447"/>
                <a:gd name="T11" fmla="*/ 149 h 553"/>
                <a:gd name="T12" fmla="*/ 107 w 447"/>
                <a:gd name="T13" fmla="*/ 424 h 553"/>
                <a:gd name="T14" fmla="*/ 383 w 447"/>
                <a:gd name="T15" fmla="*/ 453 h 553"/>
                <a:gd name="T16" fmla="*/ 393 w 447"/>
                <a:gd name="T17" fmla="*/ 446 h 553"/>
                <a:gd name="T18" fmla="*/ 433 w 447"/>
                <a:gd name="T19" fmla="*/ 449 h 553"/>
                <a:gd name="T20" fmla="*/ 421 w 447"/>
                <a:gd name="T21" fmla="*/ 485 h 553"/>
                <a:gd name="T22" fmla="*/ 194 w 447"/>
                <a:gd name="T23" fmla="*/ 531 h 553"/>
                <a:gd name="T24" fmla="*/ 0 w 447"/>
                <a:gd name="T25" fmla="*/ 264 h 5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47" h="553">
                  <a:moveTo>
                    <a:pt x="0" y="264"/>
                  </a:moveTo>
                  <a:cubicBezTo>
                    <a:pt x="5" y="176"/>
                    <a:pt x="49" y="96"/>
                    <a:pt x="141" y="48"/>
                  </a:cubicBezTo>
                  <a:cubicBezTo>
                    <a:pt x="235" y="0"/>
                    <a:pt x="327" y="9"/>
                    <a:pt x="414" y="67"/>
                  </a:cubicBezTo>
                  <a:cubicBezTo>
                    <a:pt x="425" y="75"/>
                    <a:pt x="439" y="82"/>
                    <a:pt x="438" y="98"/>
                  </a:cubicBezTo>
                  <a:cubicBezTo>
                    <a:pt x="437" y="120"/>
                    <a:pt x="413" y="127"/>
                    <a:pt x="391" y="111"/>
                  </a:cubicBezTo>
                  <a:cubicBezTo>
                    <a:pt x="294" y="40"/>
                    <a:pt x="166" y="56"/>
                    <a:pt x="94" y="149"/>
                  </a:cubicBezTo>
                  <a:cubicBezTo>
                    <a:pt x="30" y="231"/>
                    <a:pt x="36" y="349"/>
                    <a:pt x="107" y="424"/>
                  </a:cubicBezTo>
                  <a:cubicBezTo>
                    <a:pt x="180" y="502"/>
                    <a:pt x="296" y="514"/>
                    <a:pt x="383" y="453"/>
                  </a:cubicBezTo>
                  <a:cubicBezTo>
                    <a:pt x="386" y="451"/>
                    <a:pt x="390" y="449"/>
                    <a:pt x="393" y="446"/>
                  </a:cubicBezTo>
                  <a:cubicBezTo>
                    <a:pt x="407" y="433"/>
                    <a:pt x="420" y="433"/>
                    <a:pt x="433" y="449"/>
                  </a:cubicBezTo>
                  <a:cubicBezTo>
                    <a:pt x="447" y="467"/>
                    <a:pt x="433" y="477"/>
                    <a:pt x="421" y="485"/>
                  </a:cubicBezTo>
                  <a:cubicBezTo>
                    <a:pt x="353" y="537"/>
                    <a:pt x="277" y="553"/>
                    <a:pt x="194" y="531"/>
                  </a:cubicBezTo>
                  <a:cubicBezTo>
                    <a:pt x="79" y="501"/>
                    <a:pt x="1" y="397"/>
                    <a:pt x="0" y="26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fr-FR" noProof="0" dirty="0"/>
            </a:p>
          </p:txBody>
        </p:sp>
        <p:sp>
          <p:nvSpPr>
            <p:cNvPr id="23" name="Forme libre 6">
              <a:extLst>
                <a:ext uri="{FF2B5EF4-FFF2-40B4-BE49-F238E27FC236}">
                  <a16:creationId xmlns:a16="http://schemas.microsoft.com/office/drawing/2014/main" id="{6E703A1E-5F10-4BB5-9D52-77CB6F5994C0}"/>
                </a:ext>
              </a:extLst>
            </p:cNvPr>
            <p:cNvSpPr>
              <a:spLocks/>
            </p:cNvSpPr>
            <p:nvPr/>
          </p:nvSpPr>
          <p:spPr bwMode="auto">
            <a:xfrm>
              <a:off x="11412538" y="2590800"/>
              <a:ext cx="835025" cy="1673225"/>
            </a:xfrm>
            <a:custGeom>
              <a:avLst/>
              <a:gdLst>
                <a:gd name="T0" fmla="*/ 0 w 196"/>
                <a:gd name="T1" fmla="*/ 198 h 393"/>
                <a:gd name="T2" fmla="*/ 157 w 196"/>
                <a:gd name="T3" fmla="*/ 8 h 393"/>
                <a:gd name="T4" fmla="*/ 192 w 196"/>
                <a:gd name="T5" fmla="*/ 22 h 393"/>
                <a:gd name="T6" fmla="*/ 167 w 196"/>
                <a:gd name="T7" fmla="*/ 56 h 393"/>
                <a:gd name="T8" fmla="*/ 48 w 196"/>
                <a:gd name="T9" fmla="*/ 198 h 393"/>
                <a:gd name="T10" fmla="*/ 170 w 196"/>
                <a:gd name="T11" fmla="*/ 339 h 393"/>
                <a:gd name="T12" fmla="*/ 193 w 196"/>
                <a:gd name="T13" fmla="*/ 372 h 393"/>
                <a:gd name="T14" fmla="*/ 160 w 196"/>
                <a:gd name="T15" fmla="*/ 387 h 393"/>
                <a:gd name="T16" fmla="*/ 0 w 196"/>
                <a:gd name="T17" fmla="*/ 198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6" h="393">
                  <a:moveTo>
                    <a:pt x="0" y="198"/>
                  </a:moveTo>
                  <a:cubicBezTo>
                    <a:pt x="0" y="103"/>
                    <a:pt x="64" y="26"/>
                    <a:pt x="157" y="8"/>
                  </a:cubicBezTo>
                  <a:cubicBezTo>
                    <a:pt x="171" y="6"/>
                    <a:pt x="188" y="0"/>
                    <a:pt x="192" y="22"/>
                  </a:cubicBezTo>
                  <a:cubicBezTo>
                    <a:pt x="196" y="41"/>
                    <a:pt x="190" y="52"/>
                    <a:pt x="167" y="56"/>
                  </a:cubicBezTo>
                  <a:cubicBezTo>
                    <a:pt x="95" y="70"/>
                    <a:pt x="47" y="129"/>
                    <a:pt x="48" y="198"/>
                  </a:cubicBezTo>
                  <a:cubicBezTo>
                    <a:pt x="48" y="267"/>
                    <a:pt x="97" y="325"/>
                    <a:pt x="170" y="339"/>
                  </a:cubicBezTo>
                  <a:cubicBezTo>
                    <a:pt x="191" y="343"/>
                    <a:pt x="195" y="354"/>
                    <a:pt x="193" y="372"/>
                  </a:cubicBezTo>
                  <a:cubicBezTo>
                    <a:pt x="190" y="393"/>
                    <a:pt x="174" y="389"/>
                    <a:pt x="160" y="387"/>
                  </a:cubicBezTo>
                  <a:cubicBezTo>
                    <a:pt x="70" y="375"/>
                    <a:pt x="0" y="293"/>
                    <a:pt x="0" y="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fr-FR" noProof="0" dirty="0"/>
            </a:p>
          </p:txBody>
        </p:sp>
        <p:sp>
          <p:nvSpPr>
            <p:cNvPr id="24" name="Forme libre 7">
              <a:extLst>
                <a:ext uri="{FF2B5EF4-FFF2-40B4-BE49-F238E27FC236}">
                  <a16:creationId xmlns:a16="http://schemas.microsoft.com/office/drawing/2014/main" id="{22CEE04C-09CE-41CF-937D-EC2D3C23ECC6}"/>
                </a:ext>
              </a:extLst>
            </p:cNvPr>
            <p:cNvSpPr>
              <a:spLocks/>
            </p:cNvSpPr>
            <p:nvPr/>
          </p:nvSpPr>
          <p:spPr bwMode="auto">
            <a:xfrm>
              <a:off x="11728451" y="3071813"/>
              <a:ext cx="306388" cy="719138"/>
            </a:xfrm>
            <a:custGeom>
              <a:avLst/>
              <a:gdLst>
                <a:gd name="T0" fmla="*/ 0 w 72"/>
                <a:gd name="T1" fmla="*/ 84 h 169"/>
                <a:gd name="T2" fmla="*/ 20 w 72"/>
                <a:gd name="T3" fmla="*/ 20 h 169"/>
                <a:gd name="T4" fmla="*/ 42 w 72"/>
                <a:gd name="T5" fmla="*/ 9 h 169"/>
                <a:gd name="T6" fmla="*/ 62 w 72"/>
                <a:gd name="T7" fmla="*/ 44 h 169"/>
                <a:gd name="T8" fmla="*/ 62 w 72"/>
                <a:gd name="T9" fmla="*/ 125 h 169"/>
                <a:gd name="T10" fmla="*/ 43 w 72"/>
                <a:gd name="T11" fmla="*/ 159 h 169"/>
                <a:gd name="T12" fmla="*/ 20 w 72"/>
                <a:gd name="T13" fmla="*/ 148 h 169"/>
                <a:gd name="T14" fmla="*/ 0 w 72"/>
                <a:gd name="T15" fmla="*/ 84 h 1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2" h="169">
                  <a:moveTo>
                    <a:pt x="0" y="84"/>
                  </a:moveTo>
                  <a:cubicBezTo>
                    <a:pt x="2" y="62"/>
                    <a:pt x="6" y="39"/>
                    <a:pt x="20" y="20"/>
                  </a:cubicBezTo>
                  <a:cubicBezTo>
                    <a:pt x="25" y="13"/>
                    <a:pt x="31" y="0"/>
                    <a:pt x="42" y="9"/>
                  </a:cubicBezTo>
                  <a:cubicBezTo>
                    <a:pt x="53" y="18"/>
                    <a:pt x="72" y="25"/>
                    <a:pt x="62" y="44"/>
                  </a:cubicBezTo>
                  <a:cubicBezTo>
                    <a:pt x="47" y="72"/>
                    <a:pt x="47" y="97"/>
                    <a:pt x="62" y="125"/>
                  </a:cubicBezTo>
                  <a:cubicBezTo>
                    <a:pt x="72" y="143"/>
                    <a:pt x="53" y="151"/>
                    <a:pt x="43" y="159"/>
                  </a:cubicBezTo>
                  <a:cubicBezTo>
                    <a:pt x="31" y="169"/>
                    <a:pt x="25" y="156"/>
                    <a:pt x="20" y="148"/>
                  </a:cubicBezTo>
                  <a:cubicBezTo>
                    <a:pt x="6" y="129"/>
                    <a:pt x="2" y="107"/>
                    <a:pt x="0" y="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fr-FR" noProof="0" dirty="0"/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76627016-BFC4-46D4-89DB-F72E3C3461EC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bg1"/>
              </a:solidFill>
            </a:endParaRPr>
          </a:p>
        </p:txBody>
      </p:sp>
      <p:sp>
        <p:nvSpPr>
          <p:cNvPr id="15" name="Ovale 14">
            <a:extLst>
              <a:ext uri="{FF2B5EF4-FFF2-40B4-BE49-F238E27FC236}">
                <a16:creationId xmlns:a16="http://schemas.microsoft.com/office/drawing/2014/main" id="{EF515B4A-CB20-4847-8E00-0DD66F1FEBB4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996B64B9-1DF0-4EE9-BAB5-72AFA94B9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774CF4BA-8DCB-42CF-A2C4-D6AF95EE3F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938" y="1681163"/>
            <a:ext cx="5157787" cy="823912"/>
          </a:xfrm>
        </p:spPr>
        <p:txBody>
          <a:bodyPr rtlCol="0" anchor="b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17" name="Espace réservé du contenu 3">
            <a:extLst>
              <a:ext uri="{FF2B5EF4-FFF2-40B4-BE49-F238E27FC236}">
                <a16:creationId xmlns:a16="http://schemas.microsoft.com/office/drawing/2014/main" id="{67BA8B6E-A28D-4658-8C91-6CA7BD539B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5938" y="2505075"/>
            <a:ext cx="5157787" cy="3684588"/>
          </a:xfrm>
        </p:spPr>
        <p:txBody>
          <a:bodyPr rtlCol="0"/>
          <a:lstStyle/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fr-FR" noProof="0" dirty="0"/>
          </a:p>
        </p:txBody>
      </p:sp>
      <p:sp>
        <p:nvSpPr>
          <p:cNvPr id="18" name="Espace réservé du texte 4">
            <a:extLst>
              <a:ext uri="{FF2B5EF4-FFF2-40B4-BE49-F238E27FC236}">
                <a16:creationId xmlns:a16="http://schemas.microsoft.com/office/drawing/2014/main" id="{F73B3215-82DB-4DBF-9E77-3AE2308C69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rtlCol="0" anchor="b"/>
          <a:lstStyle>
            <a:lvl1pPr marL="0" indent="0">
              <a:buNone/>
              <a:defRPr sz="2400" b="1">
                <a:solidFill>
                  <a:schemeClr val="accent5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19" name="Espace réservé du contenu 5">
            <a:extLst>
              <a:ext uri="{FF2B5EF4-FFF2-40B4-BE49-F238E27FC236}">
                <a16:creationId xmlns:a16="http://schemas.microsoft.com/office/drawing/2014/main" id="{8DFD34E8-36CC-4FFE-926B-C170208FED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 rtlCol="0"/>
          <a:lstStyle/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fr-FR" noProof="0" dirty="0"/>
          </a:p>
        </p:txBody>
      </p:sp>
      <p:sp>
        <p:nvSpPr>
          <p:cNvPr id="25" name="Titre 1">
            <a:extLst>
              <a:ext uri="{FF2B5EF4-FFF2-40B4-BE49-F238E27FC236}">
                <a16:creationId xmlns:a16="http://schemas.microsoft.com/office/drawing/2014/main" id="{AE3770E9-CB74-47B0-8229-91F6F7560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920336"/>
          </a:xfrm>
        </p:spPr>
        <p:txBody>
          <a:bodyPr lIns="0" tIns="0" rIns="0" bIns="0" rtlCol="0" anchor="b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764A9D-4A64-EAE6-0ECE-6DF7739D6329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6179461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Espace réservé d’image 21">
            <a:extLst>
              <a:ext uri="{FF2B5EF4-FFF2-40B4-BE49-F238E27FC236}">
                <a16:creationId xmlns:a16="http://schemas.microsoft.com/office/drawing/2014/main" id="{C57825D7-DD33-4B70-BBBE-D46E7A5352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96000" y="768485"/>
            <a:ext cx="5305662" cy="5305662"/>
          </a:xfrm>
          <a:custGeom>
            <a:avLst/>
            <a:gdLst>
              <a:gd name="connsiteX0" fmla="*/ 2652831 w 5305662"/>
              <a:gd name="connsiteY0" fmla="*/ 0 h 5305662"/>
              <a:gd name="connsiteX1" fmla="*/ 5305662 w 5305662"/>
              <a:gd name="connsiteY1" fmla="*/ 2652831 h 5305662"/>
              <a:gd name="connsiteX2" fmla="*/ 2652831 w 5305662"/>
              <a:gd name="connsiteY2" fmla="*/ 5305662 h 5305662"/>
              <a:gd name="connsiteX3" fmla="*/ 0 w 5305662"/>
              <a:gd name="connsiteY3" fmla="*/ 2652831 h 5305662"/>
              <a:gd name="connsiteX4" fmla="*/ 2652831 w 5305662"/>
              <a:gd name="connsiteY4" fmla="*/ 0 h 530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305662" h="5305662">
                <a:moveTo>
                  <a:pt x="2652831" y="0"/>
                </a:moveTo>
                <a:cubicBezTo>
                  <a:pt x="4117949" y="0"/>
                  <a:pt x="5305662" y="1187713"/>
                  <a:pt x="5305662" y="2652831"/>
                </a:cubicBezTo>
                <a:cubicBezTo>
                  <a:pt x="5305662" y="4117949"/>
                  <a:pt x="4117949" y="5305662"/>
                  <a:pt x="2652831" y="5305662"/>
                </a:cubicBezTo>
                <a:cubicBezTo>
                  <a:pt x="1187713" y="5305662"/>
                  <a:pt x="0" y="4117949"/>
                  <a:pt x="0" y="2652831"/>
                </a:cubicBezTo>
                <a:cubicBezTo>
                  <a:pt x="0" y="1187713"/>
                  <a:pt x="1187713" y="0"/>
                  <a:pt x="2652831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rtlCol="0" anchor="ctr">
            <a:noAutofit/>
          </a:bodyPr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19A1397F-1946-4CBE-9EC5-159C3CBC78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20" name="Espace réservé du texte 3">
            <a:extLst>
              <a:ext uri="{FF2B5EF4-FFF2-40B4-BE49-F238E27FC236}">
                <a16:creationId xmlns:a16="http://schemas.microsoft.com/office/drawing/2014/main" id="{C535F2AB-153E-44A9-97BE-00553BEC17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 rtlCol="0"/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3" name="Rectangle 13">
            <a:extLst>
              <a:ext uri="{FF2B5EF4-FFF2-40B4-BE49-F238E27FC236}">
                <a16:creationId xmlns:a16="http://schemas.microsoft.com/office/drawing/2014/main" id="{551326AA-5942-DF13-4836-DC9F0D7C83CD}"/>
              </a:ext>
            </a:extLst>
          </p:cNvPr>
          <p:cNvSpPr/>
          <p:nvPr userDrawn="1"/>
        </p:nvSpPr>
        <p:spPr>
          <a:xfrm>
            <a:off x="8593121" y="768485"/>
            <a:ext cx="3598879" cy="530566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4" name="Ovale 3">
            <a:extLst>
              <a:ext uri="{FF2B5EF4-FFF2-40B4-BE49-F238E27FC236}">
                <a16:creationId xmlns:a16="http://schemas.microsoft.com/office/drawing/2014/main" id="{D7FE6334-9EA3-2851-0B15-5E4EDB7103FE}"/>
              </a:ext>
            </a:extLst>
          </p:cNvPr>
          <p:cNvSpPr/>
          <p:nvPr userDrawn="1"/>
        </p:nvSpPr>
        <p:spPr>
          <a:xfrm>
            <a:off x="5935375" y="633613"/>
            <a:ext cx="5571908" cy="5571906"/>
          </a:xfrm>
          <a:prstGeom prst="ellipse">
            <a:avLst/>
          </a:prstGeom>
          <a:solidFill>
            <a:schemeClr val="bg2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D58FA8-7E72-1B67-3A6B-9A8001EF8081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718574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e 18">
            <a:extLst>
              <a:ext uri="{FF2B5EF4-FFF2-40B4-BE49-F238E27FC236}">
                <a16:creationId xmlns:a16="http://schemas.microsoft.com/office/drawing/2014/main" id="{9F866E5C-B8AA-4805-B232-831BA01AAF16}"/>
              </a:ext>
            </a:extLst>
          </p:cNvPr>
          <p:cNvGrpSpPr/>
          <p:nvPr userDrawn="1"/>
        </p:nvGrpSpPr>
        <p:grpSpPr>
          <a:xfrm rot="8650774" flipH="1" flipV="1">
            <a:off x="7430044" y="-1843126"/>
            <a:ext cx="4436224" cy="5482435"/>
            <a:chOff x="11114088" y="2241550"/>
            <a:chExt cx="1905000" cy="2354263"/>
          </a:xfrm>
          <a:solidFill>
            <a:schemeClr val="bg2">
              <a:alpha val="53000"/>
            </a:schemeClr>
          </a:solidFill>
        </p:grpSpPr>
        <p:sp>
          <p:nvSpPr>
            <p:cNvPr id="20" name="Forme libre 5">
              <a:extLst>
                <a:ext uri="{FF2B5EF4-FFF2-40B4-BE49-F238E27FC236}">
                  <a16:creationId xmlns:a16="http://schemas.microsoft.com/office/drawing/2014/main" id="{F98614F0-2DA3-4F29-8CB3-D61424AC8506}"/>
                </a:ext>
              </a:extLst>
            </p:cNvPr>
            <p:cNvSpPr>
              <a:spLocks/>
            </p:cNvSpPr>
            <p:nvPr/>
          </p:nvSpPr>
          <p:spPr bwMode="auto">
            <a:xfrm>
              <a:off x="11114088" y="2241550"/>
              <a:ext cx="1905000" cy="2354263"/>
            </a:xfrm>
            <a:custGeom>
              <a:avLst/>
              <a:gdLst>
                <a:gd name="T0" fmla="*/ 0 w 447"/>
                <a:gd name="T1" fmla="*/ 264 h 553"/>
                <a:gd name="T2" fmla="*/ 141 w 447"/>
                <a:gd name="T3" fmla="*/ 48 h 553"/>
                <a:gd name="T4" fmla="*/ 414 w 447"/>
                <a:gd name="T5" fmla="*/ 67 h 553"/>
                <a:gd name="T6" fmla="*/ 438 w 447"/>
                <a:gd name="T7" fmla="*/ 98 h 553"/>
                <a:gd name="T8" fmla="*/ 391 w 447"/>
                <a:gd name="T9" fmla="*/ 111 h 553"/>
                <a:gd name="T10" fmla="*/ 94 w 447"/>
                <a:gd name="T11" fmla="*/ 149 h 553"/>
                <a:gd name="T12" fmla="*/ 107 w 447"/>
                <a:gd name="T13" fmla="*/ 424 h 553"/>
                <a:gd name="T14" fmla="*/ 383 w 447"/>
                <a:gd name="T15" fmla="*/ 453 h 553"/>
                <a:gd name="T16" fmla="*/ 393 w 447"/>
                <a:gd name="T17" fmla="*/ 446 h 553"/>
                <a:gd name="T18" fmla="*/ 433 w 447"/>
                <a:gd name="T19" fmla="*/ 449 h 553"/>
                <a:gd name="T20" fmla="*/ 421 w 447"/>
                <a:gd name="T21" fmla="*/ 485 h 553"/>
                <a:gd name="T22" fmla="*/ 194 w 447"/>
                <a:gd name="T23" fmla="*/ 531 h 553"/>
                <a:gd name="T24" fmla="*/ 0 w 447"/>
                <a:gd name="T25" fmla="*/ 264 h 5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47" h="553">
                  <a:moveTo>
                    <a:pt x="0" y="264"/>
                  </a:moveTo>
                  <a:cubicBezTo>
                    <a:pt x="5" y="176"/>
                    <a:pt x="49" y="96"/>
                    <a:pt x="141" y="48"/>
                  </a:cubicBezTo>
                  <a:cubicBezTo>
                    <a:pt x="235" y="0"/>
                    <a:pt x="327" y="9"/>
                    <a:pt x="414" y="67"/>
                  </a:cubicBezTo>
                  <a:cubicBezTo>
                    <a:pt x="425" y="75"/>
                    <a:pt x="439" y="82"/>
                    <a:pt x="438" y="98"/>
                  </a:cubicBezTo>
                  <a:cubicBezTo>
                    <a:pt x="437" y="120"/>
                    <a:pt x="413" y="127"/>
                    <a:pt x="391" y="111"/>
                  </a:cubicBezTo>
                  <a:cubicBezTo>
                    <a:pt x="294" y="40"/>
                    <a:pt x="166" y="56"/>
                    <a:pt x="94" y="149"/>
                  </a:cubicBezTo>
                  <a:cubicBezTo>
                    <a:pt x="30" y="231"/>
                    <a:pt x="36" y="349"/>
                    <a:pt x="107" y="424"/>
                  </a:cubicBezTo>
                  <a:cubicBezTo>
                    <a:pt x="180" y="502"/>
                    <a:pt x="296" y="514"/>
                    <a:pt x="383" y="453"/>
                  </a:cubicBezTo>
                  <a:cubicBezTo>
                    <a:pt x="386" y="451"/>
                    <a:pt x="390" y="449"/>
                    <a:pt x="393" y="446"/>
                  </a:cubicBezTo>
                  <a:cubicBezTo>
                    <a:pt x="407" y="433"/>
                    <a:pt x="420" y="433"/>
                    <a:pt x="433" y="449"/>
                  </a:cubicBezTo>
                  <a:cubicBezTo>
                    <a:pt x="447" y="467"/>
                    <a:pt x="433" y="477"/>
                    <a:pt x="421" y="485"/>
                  </a:cubicBezTo>
                  <a:cubicBezTo>
                    <a:pt x="353" y="537"/>
                    <a:pt x="277" y="553"/>
                    <a:pt x="194" y="531"/>
                  </a:cubicBezTo>
                  <a:cubicBezTo>
                    <a:pt x="79" y="501"/>
                    <a:pt x="1" y="397"/>
                    <a:pt x="0" y="26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fr-FR" noProof="0" dirty="0"/>
            </a:p>
          </p:txBody>
        </p:sp>
        <p:sp>
          <p:nvSpPr>
            <p:cNvPr id="22" name="Forme libre 6">
              <a:extLst>
                <a:ext uri="{FF2B5EF4-FFF2-40B4-BE49-F238E27FC236}">
                  <a16:creationId xmlns:a16="http://schemas.microsoft.com/office/drawing/2014/main" id="{66D52F08-13EC-4AB4-BB79-89A5395A03BF}"/>
                </a:ext>
              </a:extLst>
            </p:cNvPr>
            <p:cNvSpPr>
              <a:spLocks/>
            </p:cNvSpPr>
            <p:nvPr/>
          </p:nvSpPr>
          <p:spPr bwMode="auto">
            <a:xfrm>
              <a:off x="11412538" y="2590800"/>
              <a:ext cx="835025" cy="1673225"/>
            </a:xfrm>
            <a:custGeom>
              <a:avLst/>
              <a:gdLst>
                <a:gd name="T0" fmla="*/ 0 w 196"/>
                <a:gd name="T1" fmla="*/ 198 h 393"/>
                <a:gd name="T2" fmla="*/ 157 w 196"/>
                <a:gd name="T3" fmla="*/ 8 h 393"/>
                <a:gd name="T4" fmla="*/ 192 w 196"/>
                <a:gd name="T5" fmla="*/ 22 h 393"/>
                <a:gd name="T6" fmla="*/ 167 w 196"/>
                <a:gd name="T7" fmla="*/ 56 h 393"/>
                <a:gd name="T8" fmla="*/ 48 w 196"/>
                <a:gd name="T9" fmla="*/ 198 h 393"/>
                <a:gd name="T10" fmla="*/ 170 w 196"/>
                <a:gd name="T11" fmla="*/ 339 h 393"/>
                <a:gd name="T12" fmla="*/ 193 w 196"/>
                <a:gd name="T13" fmla="*/ 372 h 393"/>
                <a:gd name="T14" fmla="*/ 160 w 196"/>
                <a:gd name="T15" fmla="*/ 387 h 393"/>
                <a:gd name="T16" fmla="*/ 0 w 196"/>
                <a:gd name="T17" fmla="*/ 198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6" h="393">
                  <a:moveTo>
                    <a:pt x="0" y="198"/>
                  </a:moveTo>
                  <a:cubicBezTo>
                    <a:pt x="0" y="103"/>
                    <a:pt x="64" y="26"/>
                    <a:pt x="157" y="8"/>
                  </a:cubicBezTo>
                  <a:cubicBezTo>
                    <a:pt x="171" y="6"/>
                    <a:pt x="188" y="0"/>
                    <a:pt x="192" y="22"/>
                  </a:cubicBezTo>
                  <a:cubicBezTo>
                    <a:pt x="196" y="41"/>
                    <a:pt x="190" y="52"/>
                    <a:pt x="167" y="56"/>
                  </a:cubicBezTo>
                  <a:cubicBezTo>
                    <a:pt x="95" y="70"/>
                    <a:pt x="47" y="129"/>
                    <a:pt x="48" y="198"/>
                  </a:cubicBezTo>
                  <a:cubicBezTo>
                    <a:pt x="48" y="267"/>
                    <a:pt x="97" y="325"/>
                    <a:pt x="170" y="339"/>
                  </a:cubicBezTo>
                  <a:cubicBezTo>
                    <a:pt x="191" y="343"/>
                    <a:pt x="195" y="354"/>
                    <a:pt x="193" y="372"/>
                  </a:cubicBezTo>
                  <a:cubicBezTo>
                    <a:pt x="190" y="393"/>
                    <a:pt x="174" y="389"/>
                    <a:pt x="160" y="387"/>
                  </a:cubicBezTo>
                  <a:cubicBezTo>
                    <a:pt x="70" y="375"/>
                    <a:pt x="0" y="293"/>
                    <a:pt x="0" y="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fr-FR" noProof="0" dirty="0"/>
            </a:p>
          </p:txBody>
        </p:sp>
        <p:sp>
          <p:nvSpPr>
            <p:cNvPr id="23" name="Forme libre 7">
              <a:extLst>
                <a:ext uri="{FF2B5EF4-FFF2-40B4-BE49-F238E27FC236}">
                  <a16:creationId xmlns:a16="http://schemas.microsoft.com/office/drawing/2014/main" id="{2544236D-8C3A-41EF-9A68-C84A8A7D0F5A}"/>
                </a:ext>
              </a:extLst>
            </p:cNvPr>
            <p:cNvSpPr>
              <a:spLocks/>
            </p:cNvSpPr>
            <p:nvPr/>
          </p:nvSpPr>
          <p:spPr bwMode="auto">
            <a:xfrm>
              <a:off x="11728451" y="3071813"/>
              <a:ext cx="306388" cy="719138"/>
            </a:xfrm>
            <a:custGeom>
              <a:avLst/>
              <a:gdLst>
                <a:gd name="T0" fmla="*/ 0 w 72"/>
                <a:gd name="T1" fmla="*/ 84 h 169"/>
                <a:gd name="T2" fmla="*/ 20 w 72"/>
                <a:gd name="T3" fmla="*/ 20 h 169"/>
                <a:gd name="T4" fmla="*/ 42 w 72"/>
                <a:gd name="T5" fmla="*/ 9 h 169"/>
                <a:gd name="T6" fmla="*/ 62 w 72"/>
                <a:gd name="T7" fmla="*/ 44 h 169"/>
                <a:gd name="T8" fmla="*/ 62 w 72"/>
                <a:gd name="T9" fmla="*/ 125 h 169"/>
                <a:gd name="T10" fmla="*/ 43 w 72"/>
                <a:gd name="T11" fmla="*/ 159 h 169"/>
                <a:gd name="T12" fmla="*/ 20 w 72"/>
                <a:gd name="T13" fmla="*/ 148 h 169"/>
                <a:gd name="T14" fmla="*/ 0 w 72"/>
                <a:gd name="T15" fmla="*/ 84 h 1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2" h="169">
                  <a:moveTo>
                    <a:pt x="0" y="84"/>
                  </a:moveTo>
                  <a:cubicBezTo>
                    <a:pt x="2" y="62"/>
                    <a:pt x="6" y="39"/>
                    <a:pt x="20" y="20"/>
                  </a:cubicBezTo>
                  <a:cubicBezTo>
                    <a:pt x="25" y="13"/>
                    <a:pt x="31" y="0"/>
                    <a:pt x="42" y="9"/>
                  </a:cubicBezTo>
                  <a:cubicBezTo>
                    <a:pt x="53" y="18"/>
                    <a:pt x="72" y="25"/>
                    <a:pt x="62" y="44"/>
                  </a:cubicBezTo>
                  <a:cubicBezTo>
                    <a:pt x="47" y="72"/>
                    <a:pt x="47" y="97"/>
                    <a:pt x="62" y="125"/>
                  </a:cubicBezTo>
                  <a:cubicBezTo>
                    <a:pt x="72" y="143"/>
                    <a:pt x="53" y="151"/>
                    <a:pt x="43" y="159"/>
                  </a:cubicBezTo>
                  <a:cubicBezTo>
                    <a:pt x="31" y="169"/>
                    <a:pt x="25" y="156"/>
                    <a:pt x="20" y="148"/>
                  </a:cubicBezTo>
                  <a:cubicBezTo>
                    <a:pt x="6" y="129"/>
                    <a:pt x="2" y="107"/>
                    <a:pt x="0" y="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fr-FR" noProof="0" dirty="0"/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76627016-BFC4-46D4-89DB-F72E3C3461EC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bg1"/>
              </a:solidFill>
            </a:endParaRPr>
          </a:p>
        </p:txBody>
      </p:sp>
      <p:sp>
        <p:nvSpPr>
          <p:cNvPr id="15" name="Ovale 14">
            <a:extLst>
              <a:ext uri="{FF2B5EF4-FFF2-40B4-BE49-F238E27FC236}">
                <a16:creationId xmlns:a16="http://schemas.microsoft.com/office/drawing/2014/main" id="{EF515B4A-CB20-4847-8E00-0DD66F1FEBB4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996B64B9-1DF0-4EE9-BAB5-72AFA94B9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14" name="Titre 1">
            <a:extLst>
              <a:ext uri="{FF2B5EF4-FFF2-40B4-BE49-F238E27FC236}">
                <a16:creationId xmlns:a16="http://schemas.microsoft.com/office/drawing/2014/main" id="{9009D5C6-6206-4291-8037-67DC025F0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17" name="Espace réservé du texte 3">
            <a:extLst>
              <a:ext uri="{FF2B5EF4-FFF2-40B4-BE49-F238E27FC236}">
                <a16:creationId xmlns:a16="http://schemas.microsoft.com/office/drawing/2014/main" id="{BEB643FD-AA85-4A43-8EBD-AFD10DD987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18" name="Espace réservé du contenu 2">
            <a:extLst>
              <a:ext uri="{FF2B5EF4-FFF2-40B4-BE49-F238E27FC236}">
                <a16:creationId xmlns:a16="http://schemas.microsoft.com/office/drawing/2014/main" id="{9001F313-F798-43BE-AFF0-A68C84C364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172200" cy="5403850"/>
          </a:xfrm>
        </p:spPr>
        <p:txBody>
          <a:bodyPr rtlCol="0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fr-F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9E71A4-4A4F-A6FF-B037-79CAAE20A8D5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53102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 1">
            <a:extLst>
              <a:ext uri="{FF2B5EF4-FFF2-40B4-BE49-F238E27FC236}">
                <a16:creationId xmlns:a16="http://schemas.microsoft.com/office/drawing/2014/main" id="{BCC4D7FA-B85E-4477-8C62-94955B340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fr-FR" noProof="0" dirty="0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F1226BB-3E56-4E7F-8172-7EC03C9F0B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fr-FR" noProof="0" dirty="0"/>
              <a:t>Modifiez les styles du texte du masque</a:t>
            </a:r>
          </a:p>
          <a:p>
            <a:pPr lvl="1" rtl="0"/>
            <a:r>
              <a:rPr lang="fr-FR" noProof="0" dirty="0"/>
              <a:t>Deuxième niveau</a:t>
            </a:r>
          </a:p>
          <a:p>
            <a:pPr lvl="2" rtl="0"/>
            <a:r>
              <a:rPr lang="fr-FR" noProof="0" dirty="0"/>
              <a:t>Troisième niveau</a:t>
            </a:r>
          </a:p>
          <a:p>
            <a:pPr lvl="3" rtl="0"/>
            <a:r>
              <a:rPr lang="fr-FR" noProof="0" dirty="0"/>
              <a:t>Quatrième niveau</a:t>
            </a:r>
          </a:p>
          <a:p>
            <a:pPr lvl="4" rtl="0"/>
            <a:r>
              <a:rPr lang="fr-FR" noProof="0" dirty="0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95D08EF-72FB-4F19-9916-65815A9CA9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D4EC748F-88DB-4BA1-B6AB-BE1A47757B27}" type="datetime1">
              <a:rPr lang="fr-FR" noProof="0" smtClean="0"/>
              <a:t>10/07/2025</a:t>
            </a:fld>
            <a:endParaRPr lang="fr-FR" noProof="0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365084D-BC85-4A55-BD80-93876AD101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fr-FR" noProof="0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5FDEF23-A140-4DD6-A0D0-A86BD4DF34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t>‹#›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2347082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1" r:id="rId3"/>
    <p:sldLayoutId id="2147483650" r:id="rId4"/>
    <p:sldLayoutId id="2147483661" r:id="rId5"/>
    <p:sldLayoutId id="2147483662" r:id="rId6"/>
    <p:sldLayoutId id="2147483663" r:id="rId7"/>
    <p:sldLayoutId id="2147483654" r:id="rId8"/>
    <p:sldLayoutId id="2147483674" r:id="rId9"/>
    <p:sldLayoutId id="2147483675" r:id="rId10"/>
    <p:sldLayoutId id="2147483664" r:id="rId11"/>
    <p:sldLayoutId id="2147483665" r:id="rId12"/>
    <p:sldLayoutId id="2147483666" r:id="rId13"/>
    <p:sldLayoutId id="2147483667" r:id="rId14"/>
    <p:sldLayoutId id="2147483668" r:id="rId15"/>
    <p:sldLayoutId id="2147483669" r:id="rId16"/>
    <p:sldLayoutId id="2147483670" r:id="rId17"/>
    <p:sldLayoutId id="2147483671" r:id="rId18"/>
    <p:sldLayoutId id="2147483672" r:id="rId19"/>
    <p:sldLayoutId id="2147483673" r:id="rId2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325" userDrawn="1">
          <p15:clr>
            <a:srgbClr val="F26B43"/>
          </p15:clr>
        </p15:guide>
        <p15:guide id="4" pos="734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Relationship Id="rId5" Type="http://schemas.openxmlformats.org/officeDocument/2006/relationships/hyperlink" Target="https://realestate-api.azurewebsites.net/docs#/default/predict_all_predict_all_post" TargetMode="External"/><Relationship Id="rId4" Type="http://schemas.openxmlformats.org/officeDocument/2006/relationships/hyperlink" Target="https://realestate-ui.azurewebsites.net/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8EF7BD-FE81-4B20-8DC5-0B3EB736F9F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/>
          <a:p>
            <a:r>
              <a:rPr lang="en-US" sz="2400" noProof="0" dirty="0"/>
              <a:t>Real Estate Price Predictor - deployment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AFF0EFE-C50F-44EB-8978-B97795477C9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rtlCol="0"/>
          <a:lstStyle/>
          <a:p>
            <a:r>
              <a:rPr lang="en-US" dirty="0">
                <a:solidFill>
                  <a:schemeClr val="tx2"/>
                </a:solidFill>
              </a:rPr>
              <a:t>Klebert, Preeti, Sofia, Yves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5CDA61B-515D-C145-1842-006A86AA7CB2}"/>
              </a:ext>
            </a:extLst>
          </p:cNvPr>
          <p:cNvSpPr/>
          <p:nvPr/>
        </p:nvSpPr>
        <p:spPr>
          <a:xfrm>
            <a:off x="733074" y="927100"/>
            <a:ext cx="5107104" cy="5107104"/>
          </a:xfrm>
          <a:prstGeom prst="ellipse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7989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A0369-0A78-FEF2-B79D-76AB899AB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98117-0824-1B3E-C227-AEC2FE18B2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479684"/>
          </a:xfrm>
        </p:spPr>
        <p:txBody>
          <a:bodyPr/>
          <a:lstStyle/>
          <a:p>
            <a:r>
              <a:rPr lang="en-US" noProof="0" dirty="0">
                <a:solidFill>
                  <a:schemeClr val="accent2"/>
                </a:solidFill>
              </a:rPr>
              <a:t>Deployment strategy</a:t>
            </a:r>
          </a:p>
        </p:txBody>
      </p:sp>
      <p:sp>
        <p:nvSpPr>
          <p:cNvPr id="4" name="Rounded Rectangle">
            <a:extLst>
              <a:ext uri="{FF2B5EF4-FFF2-40B4-BE49-F238E27FC236}">
                <a16:creationId xmlns:a16="http://schemas.microsoft.com/office/drawing/2014/main" id="{4D164BD0-FBD9-B1B3-22AD-88BCD18EAE6E}"/>
              </a:ext>
            </a:extLst>
          </p:cNvPr>
          <p:cNvSpPr/>
          <p:nvPr/>
        </p:nvSpPr>
        <p:spPr>
          <a:xfrm>
            <a:off x="515938" y="920090"/>
            <a:ext cx="5400000" cy="2700000"/>
          </a:xfrm>
          <a:prstGeom prst="roundRect">
            <a:avLst>
              <a:gd name="adj" fmla="val 3067"/>
            </a:avLst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fr-BE" sz="15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5" name="Rounded Rectangle">
            <a:extLst>
              <a:ext uri="{FF2B5EF4-FFF2-40B4-BE49-F238E27FC236}">
                <a16:creationId xmlns:a16="http://schemas.microsoft.com/office/drawing/2014/main" id="{874F27A9-623F-7A2B-AC6E-C45DA02568D7}"/>
              </a:ext>
            </a:extLst>
          </p:cNvPr>
          <p:cNvSpPr/>
          <p:nvPr/>
        </p:nvSpPr>
        <p:spPr>
          <a:xfrm>
            <a:off x="6195527" y="920090"/>
            <a:ext cx="5400000" cy="2700000"/>
          </a:xfrm>
          <a:prstGeom prst="roundRect">
            <a:avLst>
              <a:gd name="adj" fmla="val 3067"/>
            </a:avLst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sz="15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8" name="Mobilisation &amp; Inputs Gathering">
            <a:extLst>
              <a:ext uri="{FF2B5EF4-FFF2-40B4-BE49-F238E27FC236}">
                <a16:creationId xmlns:a16="http://schemas.microsoft.com/office/drawing/2014/main" id="{6D04A847-6196-9784-F2E4-87671394D025}"/>
              </a:ext>
            </a:extLst>
          </p:cNvPr>
          <p:cNvSpPr txBox="1"/>
          <p:nvPr/>
        </p:nvSpPr>
        <p:spPr>
          <a:xfrm>
            <a:off x="515938" y="1015254"/>
            <a:ext cx="5400000" cy="3779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noProof="0" dirty="0">
                <a:solidFill>
                  <a:srgbClr val="44546A"/>
                </a:solidFill>
                <a:cs typeface="Segoe UI Light" panose="020B0502040204020203" pitchFamily="34" charset="0"/>
              </a:rPr>
              <a:t>Modular Architecture</a:t>
            </a:r>
          </a:p>
        </p:txBody>
      </p:sp>
      <p:sp>
        <p:nvSpPr>
          <p:cNvPr id="10" name="Mobilisation &amp; Inputs Gathering">
            <a:extLst>
              <a:ext uri="{FF2B5EF4-FFF2-40B4-BE49-F238E27FC236}">
                <a16:creationId xmlns:a16="http://schemas.microsoft.com/office/drawing/2014/main" id="{D7651270-AF33-89A2-188F-B1650B49DF07}"/>
              </a:ext>
            </a:extLst>
          </p:cNvPr>
          <p:cNvSpPr txBox="1"/>
          <p:nvPr/>
        </p:nvSpPr>
        <p:spPr>
          <a:xfrm>
            <a:off x="6195528" y="1022366"/>
            <a:ext cx="5400000" cy="3779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noProof="0" dirty="0">
                <a:solidFill>
                  <a:srgbClr val="44546A"/>
                </a:solidFill>
                <a:cs typeface="Segoe UI Light" panose="020B0502040204020203" pitchFamily="34" charset="0"/>
              </a:rPr>
              <a:t>Containerization</a:t>
            </a:r>
          </a:p>
        </p:txBody>
      </p:sp>
      <p:sp>
        <p:nvSpPr>
          <p:cNvPr id="11" name="Line">
            <a:extLst>
              <a:ext uri="{FF2B5EF4-FFF2-40B4-BE49-F238E27FC236}">
                <a16:creationId xmlns:a16="http://schemas.microsoft.com/office/drawing/2014/main" id="{54429448-F15C-7F03-8F94-BF2F5D968256}"/>
              </a:ext>
            </a:extLst>
          </p:cNvPr>
          <p:cNvSpPr/>
          <p:nvPr/>
        </p:nvSpPr>
        <p:spPr>
          <a:xfrm>
            <a:off x="515938" y="1475780"/>
            <a:ext cx="5400000" cy="0"/>
          </a:xfrm>
          <a:prstGeom prst="line">
            <a:avLst/>
          </a:prstGeom>
          <a:noFill/>
          <a:ln w="50800" cap="flat">
            <a:solidFill>
              <a:srgbClr val="F94F00"/>
            </a:solidFill>
            <a:prstDash val="solid"/>
            <a:miter lim="400000"/>
          </a:ln>
          <a:effectLst/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en-US" sz="1200" b="1" i="0" u="none" strike="noStrike" kern="0" cap="none" spc="0" normalizeH="0" baseline="0" noProof="0" dirty="0">
              <a:ln>
                <a:noFill/>
              </a:ln>
              <a:solidFill>
                <a:schemeClr val="accent1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12" name="Mobilisation &amp; Inputs Gathering">
            <a:extLst>
              <a:ext uri="{FF2B5EF4-FFF2-40B4-BE49-F238E27FC236}">
                <a16:creationId xmlns:a16="http://schemas.microsoft.com/office/drawing/2014/main" id="{87E5A148-D42D-4A8A-4A7B-227FC670E55C}"/>
              </a:ext>
            </a:extLst>
          </p:cNvPr>
          <p:cNvSpPr txBox="1"/>
          <p:nvPr/>
        </p:nvSpPr>
        <p:spPr>
          <a:xfrm>
            <a:off x="695938" y="1659535"/>
            <a:ext cx="5040000" cy="197467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Modular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two-layer design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:</a:t>
            </a:r>
          </a:p>
          <a:p>
            <a:pPr marL="628650" indent="-285750"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Backend: </a:t>
            </a:r>
            <a:r>
              <a:rPr lang="en-US" sz="1500" b="1" dirty="0" err="1">
                <a:solidFill>
                  <a:schemeClr val="accent1"/>
                </a:solidFill>
                <a:cs typeface="Segoe UI Light" panose="020B0502040204020203" pitchFamily="34" charset="0"/>
              </a:rPr>
              <a:t>FastAPI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 REST API 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serving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ML predictions 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(two endpoints: full features / top 30).</a:t>
            </a:r>
          </a:p>
          <a:p>
            <a:pPr marL="628650" indent="-285750"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Frontend: </a:t>
            </a:r>
            <a:r>
              <a:rPr lang="en-US" sz="1500" b="1" dirty="0" err="1">
                <a:solidFill>
                  <a:schemeClr val="accent1"/>
                </a:solidFill>
                <a:cs typeface="Segoe UI Light" panose="020B0502040204020203" pitchFamily="34" charset="0"/>
              </a:rPr>
              <a:t>Streamlit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-based UI 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enabling user interaction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This separation allowed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independent development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,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testing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 (e.g., with Postman)</a:t>
            </a:r>
          </a:p>
        </p:txBody>
      </p:sp>
      <p:sp>
        <p:nvSpPr>
          <p:cNvPr id="13" name="Mobilisation &amp; Inputs Gathering">
            <a:extLst>
              <a:ext uri="{FF2B5EF4-FFF2-40B4-BE49-F238E27FC236}">
                <a16:creationId xmlns:a16="http://schemas.microsoft.com/office/drawing/2014/main" id="{70D8A9A1-47E4-ABC0-3E7F-BE5F36B4E6BB}"/>
              </a:ext>
            </a:extLst>
          </p:cNvPr>
          <p:cNvSpPr txBox="1"/>
          <p:nvPr/>
        </p:nvSpPr>
        <p:spPr>
          <a:xfrm>
            <a:off x="6375527" y="1602078"/>
            <a:ext cx="5040000" cy="208277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93675" indent="-193675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Both the frontend and backend were </a:t>
            </a:r>
          </a:p>
          <a:p>
            <a:pPr marL="346075"/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-  fully containerized using Docker</a:t>
            </a:r>
          </a:p>
          <a:p>
            <a:pPr marL="346075"/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-  deployed as isolated services</a:t>
            </a:r>
          </a:p>
          <a:p>
            <a:pPr marL="193675" indent="-193675">
              <a:buFont typeface="Arial" panose="020B0604020202020204" pitchFamily="34" charset="0"/>
              <a:buChar char="•"/>
            </a:pPr>
            <a:endParaRPr lang="en-US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  <a:p>
            <a:pPr marL="193675" indent="-193675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This enabled us to:</a:t>
            </a:r>
          </a:p>
          <a:p>
            <a:pPr marL="650875" lvl="1" indent="-193675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Standardize builds across environments (local and cloud)</a:t>
            </a:r>
          </a:p>
          <a:p>
            <a:pPr marL="650875" lvl="1" indent="-193675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Simplify testing and versioning</a:t>
            </a:r>
          </a:p>
        </p:txBody>
      </p:sp>
      <p:sp>
        <p:nvSpPr>
          <p:cNvPr id="15" name="Line">
            <a:extLst>
              <a:ext uri="{FF2B5EF4-FFF2-40B4-BE49-F238E27FC236}">
                <a16:creationId xmlns:a16="http://schemas.microsoft.com/office/drawing/2014/main" id="{0CCDFFCA-06E3-40D6-33A0-F31563955D7C}"/>
              </a:ext>
            </a:extLst>
          </p:cNvPr>
          <p:cNvSpPr/>
          <p:nvPr/>
        </p:nvSpPr>
        <p:spPr>
          <a:xfrm>
            <a:off x="6195527" y="1475780"/>
            <a:ext cx="5400000" cy="0"/>
          </a:xfrm>
          <a:prstGeom prst="line">
            <a:avLst/>
          </a:prstGeom>
          <a:noFill/>
          <a:ln w="50800" cap="flat">
            <a:solidFill>
              <a:srgbClr val="FFB310"/>
            </a:solidFill>
            <a:prstDash val="solid"/>
            <a:miter lim="400000"/>
          </a:ln>
          <a:effectLst/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en-US" sz="12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23" name="Rounded Rectangle">
            <a:extLst>
              <a:ext uri="{FF2B5EF4-FFF2-40B4-BE49-F238E27FC236}">
                <a16:creationId xmlns:a16="http://schemas.microsoft.com/office/drawing/2014/main" id="{6892E98A-DF5A-1040-F6C3-63A08A2AB1E4}"/>
              </a:ext>
            </a:extLst>
          </p:cNvPr>
          <p:cNvSpPr/>
          <p:nvPr/>
        </p:nvSpPr>
        <p:spPr>
          <a:xfrm>
            <a:off x="515938" y="3844631"/>
            <a:ext cx="5400000" cy="2700000"/>
          </a:xfrm>
          <a:prstGeom prst="roundRect">
            <a:avLst>
              <a:gd name="adj" fmla="val 3067"/>
            </a:avLst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sz="15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30" name="Mobilisation &amp; Inputs Gathering">
            <a:extLst>
              <a:ext uri="{FF2B5EF4-FFF2-40B4-BE49-F238E27FC236}">
                <a16:creationId xmlns:a16="http://schemas.microsoft.com/office/drawing/2014/main" id="{2D0F16AC-278D-D7C7-CFC1-5659661AF08A}"/>
              </a:ext>
            </a:extLst>
          </p:cNvPr>
          <p:cNvSpPr txBox="1"/>
          <p:nvPr/>
        </p:nvSpPr>
        <p:spPr>
          <a:xfrm>
            <a:off x="515937" y="3943668"/>
            <a:ext cx="5376861" cy="3779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noProof="0" dirty="0">
                <a:solidFill>
                  <a:srgbClr val="44546A"/>
                </a:solidFill>
                <a:cs typeface="Segoe UI Light" panose="020B0502040204020203" pitchFamily="34" charset="0"/>
              </a:rPr>
              <a:t>Deployment on Render</a:t>
            </a:r>
          </a:p>
        </p:txBody>
      </p:sp>
      <p:sp>
        <p:nvSpPr>
          <p:cNvPr id="33" name="Line">
            <a:extLst>
              <a:ext uri="{FF2B5EF4-FFF2-40B4-BE49-F238E27FC236}">
                <a16:creationId xmlns:a16="http://schemas.microsoft.com/office/drawing/2014/main" id="{2BB991C4-FB9F-7CF2-621C-1B81F2CC3D44}"/>
              </a:ext>
            </a:extLst>
          </p:cNvPr>
          <p:cNvSpPr/>
          <p:nvPr/>
        </p:nvSpPr>
        <p:spPr>
          <a:xfrm>
            <a:off x="515938" y="4410725"/>
            <a:ext cx="5400000" cy="0"/>
          </a:xfrm>
          <a:prstGeom prst="line">
            <a:avLst/>
          </a:prstGeom>
          <a:noFill/>
          <a:ln w="50800" cap="flat">
            <a:solidFill>
              <a:srgbClr val="00B050"/>
            </a:solidFill>
            <a:prstDash val="solid"/>
            <a:miter lim="400000"/>
          </a:ln>
          <a:effectLst/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en-US" sz="12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34" name="Rounded Rectangle">
            <a:extLst>
              <a:ext uri="{FF2B5EF4-FFF2-40B4-BE49-F238E27FC236}">
                <a16:creationId xmlns:a16="http://schemas.microsoft.com/office/drawing/2014/main" id="{E5D190CC-A4BD-421A-6DDA-9769A729D13F}"/>
              </a:ext>
            </a:extLst>
          </p:cNvPr>
          <p:cNvSpPr/>
          <p:nvPr/>
        </p:nvSpPr>
        <p:spPr>
          <a:xfrm>
            <a:off x="6195527" y="3842804"/>
            <a:ext cx="5400000" cy="2700000"/>
          </a:xfrm>
          <a:prstGeom prst="roundRect">
            <a:avLst>
              <a:gd name="adj" fmla="val 3067"/>
            </a:avLst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sz="15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35" name="Mobilisation &amp; Inputs Gathering">
            <a:extLst>
              <a:ext uri="{FF2B5EF4-FFF2-40B4-BE49-F238E27FC236}">
                <a16:creationId xmlns:a16="http://schemas.microsoft.com/office/drawing/2014/main" id="{E32C0D2A-A0A3-8120-4091-74719F91FB31}"/>
              </a:ext>
            </a:extLst>
          </p:cNvPr>
          <p:cNvSpPr txBox="1"/>
          <p:nvPr/>
        </p:nvSpPr>
        <p:spPr>
          <a:xfrm>
            <a:off x="6195527" y="3943668"/>
            <a:ext cx="5400000" cy="3779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noProof="0" dirty="0">
                <a:solidFill>
                  <a:srgbClr val="44546A"/>
                </a:solidFill>
                <a:cs typeface="Segoe UI Light" panose="020B0502040204020203" pitchFamily="34" charset="0"/>
              </a:rPr>
              <a:t>Deployment on Azure (benefits over Render)</a:t>
            </a:r>
          </a:p>
        </p:txBody>
      </p:sp>
      <p:sp>
        <p:nvSpPr>
          <p:cNvPr id="36" name="Mobilisation &amp; Inputs Gathering">
            <a:extLst>
              <a:ext uri="{FF2B5EF4-FFF2-40B4-BE49-F238E27FC236}">
                <a16:creationId xmlns:a16="http://schemas.microsoft.com/office/drawing/2014/main" id="{4F1B77C4-4035-1835-120F-218AF686A3FE}"/>
              </a:ext>
            </a:extLst>
          </p:cNvPr>
          <p:cNvSpPr txBox="1"/>
          <p:nvPr/>
        </p:nvSpPr>
        <p:spPr>
          <a:xfrm>
            <a:off x="6375527" y="4521275"/>
            <a:ext cx="5040000" cy="11416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Better control over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environment variables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,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logs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, and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startup behavior</a:t>
            </a:r>
            <a:endParaRPr lang="en-US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Built-in monitoring 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via Azure Monitor and Application Insights.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Stable and scalable infrastructure, with support for production-grade workloads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Azure Container Registry (ACR) to host Docker images securely.</a:t>
            </a:r>
            <a:endParaRPr lang="fr-BE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BE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</p:txBody>
      </p:sp>
      <p:sp>
        <p:nvSpPr>
          <p:cNvPr id="37" name="Line">
            <a:extLst>
              <a:ext uri="{FF2B5EF4-FFF2-40B4-BE49-F238E27FC236}">
                <a16:creationId xmlns:a16="http://schemas.microsoft.com/office/drawing/2014/main" id="{305CAE86-B878-7893-0EC4-64745DDF5C62}"/>
              </a:ext>
            </a:extLst>
          </p:cNvPr>
          <p:cNvSpPr/>
          <p:nvPr/>
        </p:nvSpPr>
        <p:spPr>
          <a:xfrm>
            <a:off x="6195527" y="4410725"/>
            <a:ext cx="5400000" cy="0"/>
          </a:xfrm>
          <a:prstGeom prst="line">
            <a:avLst/>
          </a:prstGeom>
          <a:noFill/>
          <a:ln w="50800" cap="flat">
            <a:solidFill>
              <a:srgbClr val="00B0F0"/>
            </a:solidFill>
            <a:prstDash val="solid"/>
            <a:miter lim="400000"/>
          </a:ln>
          <a:effectLst/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en-US" sz="12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7" name="Mobilisation &amp; Inputs Gathering">
            <a:extLst>
              <a:ext uri="{FF2B5EF4-FFF2-40B4-BE49-F238E27FC236}">
                <a16:creationId xmlns:a16="http://schemas.microsoft.com/office/drawing/2014/main" id="{22916452-DF64-277E-15A0-FA40F805A03F}"/>
              </a:ext>
            </a:extLst>
          </p:cNvPr>
          <p:cNvSpPr txBox="1"/>
          <p:nvPr/>
        </p:nvSpPr>
        <p:spPr>
          <a:xfrm>
            <a:off x="695938" y="4521275"/>
            <a:ext cx="5040000" cy="11416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2 Web services deployed using Render:</a:t>
            </a:r>
          </a:p>
          <a:p>
            <a:pPr marL="742950" lvl="1" indent="-285750">
              <a:buFontTx/>
              <a:buChar char="-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API</a:t>
            </a:r>
          </a:p>
          <a:p>
            <a:pPr marL="742950" lvl="1" indent="-285750">
              <a:buFontTx/>
              <a:buChar char="-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Streamlit – UI</a:t>
            </a:r>
          </a:p>
          <a:p>
            <a:pPr marL="742950" lvl="1" indent="-285750">
              <a:buFontTx/>
              <a:buChar char="-"/>
            </a:pPr>
            <a:endParaRPr lang="en-US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Limited functionality on free version (API error 429 Too Many requests)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BE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15980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5C6BA8-780B-212B-FBAB-0925CED26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3650A-B36C-D455-A2E8-47C09FFAF8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479684"/>
          </a:xfrm>
        </p:spPr>
        <p:txBody>
          <a:bodyPr/>
          <a:lstStyle/>
          <a:p>
            <a:r>
              <a:rPr lang="en-US" noProof="0" dirty="0">
                <a:solidFill>
                  <a:schemeClr val="accent2"/>
                </a:solidFill>
              </a:rPr>
              <a:t>Challenges </a:t>
            </a:r>
          </a:p>
        </p:txBody>
      </p:sp>
      <p:sp>
        <p:nvSpPr>
          <p:cNvPr id="4" name="Rounded Rectangle">
            <a:extLst>
              <a:ext uri="{FF2B5EF4-FFF2-40B4-BE49-F238E27FC236}">
                <a16:creationId xmlns:a16="http://schemas.microsoft.com/office/drawing/2014/main" id="{2999E009-A7D7-6AC9-3FDD-14245B2FF48F}"/>
              </a:ext>
            </a:extLst>
          </p:cNvPr>
          <p:cNvSpPr/>
          <p:nvPr/>
        </p:nvSpPr>
        <p:spPr>
          <a:xfrm>
            <a:off x="515937" y="920089"/>
            <a:ext cx="10907623" cy="5075025"/>
          </a:xfrm>
          <a:prstGeom prst="roundRect">
            <a:avLst>
              <a:gd name="adj" fmla="val 3067"/>
            </a:avLst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fr-BE" sz="15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8" name="Mobilisation &amp; Inputs Gathering">
            <a:extLst>
              <a:ext uri="{FF2B5EF4-FFF2-40B4-BE49-F238E27FC236}">
                <a16:creationId xmlns:a16="http://schemas.microsoft.com/office/drawing/2014/main" id="{446F0031-0B58-E76D-1515-9D9C6AAFC3E9}"/>
              </a:ext>
            </a:extLst>
          </p:cNvPr>
          <p:cNvSpPr txBox="1"/>
          <p:nvPr/>
        </p:nvSpPr>
        <p:spPr>
          <a:xfrm>
            <a:off x="515938" y="1015254"/>
            <a:ext cx="10907622" cy="3779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lc="http://schemas.openxmlformats.org/drawingml/2006/lockedCanvas"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3200" b="1" noProof="0" dirty="0">
                <a:solidFill>
                  <a:srgbClr val="44546A"/>
                </a:solidFill>
                <a:cs typeface="Segoe UI Light" panose="020B0502040204020203" pitchFamily="34" charset="0"/>
              </a:rPr>
              <a:t>Misunderstanding</a:t>
            </a:r>
          </a:p>
        </p:txBody>
      </p:sp>
      <p:sp>
        <p:nvSpPr>
          <p:cNvPr id="11" name="Line">
            <a:extLst>
              <a:ext uri="{FF2B5EF4-FFF2-40B4-BE49-F238E27FC236}">
                <a16:creationId xmlns:a16="http://schemas.microsoft.com/office/drawing/2014/main" id="{7C14BD43-90EC-549E-69B7-7125B8DBF7CD}"/>
              </a:ext>
            </a:extLst>
          </p:cNvPr>
          <p:cNvSpPr/>
          <p:nvPr/>
        </p:nvSpPr>
        <p:spPr>
          <a:xfrm>
            <a:off x="515938" y="1636766"/>
            <a:ext cx="10907622" cy="0"/>
          </a:xfrm>
          <a:prstGeom prst="line">
            <a:avLst/>
          </a:prstGeom>
          <a:noFill/>
          <a:ln w="50800" cap="flat">
            <a:solidFill>
              <a:srgbClr val="F94F00"/>
            </a:solidFill>
            <a:prstDash val="solid"/>
            <a:miter lim="400000"/>
          </a:ln>
          <a:effectLst/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en-US" sz="1200" b="1" i="0" u="none" strike="noStrike" kern="0" cap="none" spc="0" normalizeH="0" baseline="0" noProof="0" dirty="0">
              <a:ln>
                <a:noFill/>
              </a:ln>
              <a:solidFill>
                <a:schemeClr val="accent1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12" name="Mobilisation &amp; Inputs Gathering">
            <a:extLst>
              <a:ext uri="{FF2B5EF4-FFF2-40B4-BE49-F238E27FC236}">
                <a16:creationId xmlns:a16="http://schemas.microsoft.com/office/drawing/2014/main" id="{B4EB77DA-39F6-70B6-EE6A-FB3113BAE464}"/>
              </a:ext>
            </a:extLst>
          </p:cNvPr>
          <p:cNvSpPr txBox="1"/>
          <p:nvPr/>
        </p:nvSpPr>
        <p:spPr>
          <a:xfrm>
            <a:off x="1152429" y="2037671"/>
            <a:ext cx="9877618" cy="197467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lc="http://schemas.openxmlformats.org/drawingml/2006/lockedCanvas"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When creating the containers in render, </a:t>
            </a:r>
          </a:p>
          <a:p>
            <a:pPr marL="457200" indent="-457200">
              <a:buFont typeface="Wingdings" panose="05000000000000000000" pitchFamily="2" charset="2"/>
              <a:buChar char="à"/>
            </a:pPr>
            <a:r>
              <a:rPr lang="en-US" sz="3200" dirty="0"/>
              <a:t>not understanding that 2 containers had to be created</a:t>
            </a:r>
          </a:p>
          <a:p>
            <a:pPr marL="457200" indent="-457200">
              <a:buFont typeface="Wingdings" panose="05000000000000000000" pitchFamily="2" charset="2"/>
              <a:buChar char="à"/>
            </a:pPr>
            <a:endParaRPr lang="en-US" sz="3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One for the API and one for the price predictor mode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3200" dirty="0"/>
          </a:p>
          <a:p>
            <a:pPr marL="360363" indent="-360363"/>
            <a:r>
              <a:rPr lang="en-US" sz="3200" dirty="0">
                <a:sym typeface="Wingdings" panose="05000000000000000000" pitchFamily="2" charset="2"/>
              </a:rPr>
              <a:t> </a:t>
            </a:r>
            <a:r>
              <a:rPr lang="en-US" sz="3200" dirty="0"/>
              <a:t>this meant that I created one container with all my files, and later had to separate them</a:t>
            </a:r>
            <a:endParaRPr lang="en-US" sz="2400" dirty="0">
              <a:solidFill>
                <a:schemeClr val="accent1"/>
              </a:solidFill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4920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19F9F-3A80-9C62-8C83-36A8D36485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2852102" cy="612746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Demo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E233DAD-8357-704B-8905-F662BC82E1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6829" y="109437"/>
            <a:ext cx="4000617" cy="646638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374262E-65CC-72AE-1AE5-AE7E8C32B6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3325" y="190741"/>
            <a:ext cx="3236394" cy="5136626"/>
          </a:xfrm>
          <a:prstGeom prst="rect">
            <a:avLst/>
          </a:prstGeom>
        </p:spPr>
      </p:pic>
      <p:sp>
        <p:nvSpPr>
          <p:cNvPr id="18" name="Rounded Rectangle">
            <a:extLst>
              <a:ext uri="{FF2B5EF4-FFF2-40B4-BE49-F238E27FC236}">
                <a16:creationId xmlns:a16="http://schemas.microsoft.com/office/drawing/2014/main" id="{7FDBD02B-FE4F-D658-ADEF-BA4E7D6A85E3}"/>
              </a:ext>
            </a:extLst>
          </p:cNvPr>
          <p:cNvSpPr/>
          <p:nvPr/>
        </p:nvSpPr>
        <p:spPr>
          <a:xfrm>
            <a:off x="515938" y="1720654"/>
            <a:ext cx="3554412" cy="1176288"/>
          </a:xfrm>
          <a:prstGeom prst="roundRect">
            <a:avLst>
              <a:gd name="adj" fmla="val 3067"/>
            </a:avLst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fr-BE" sz="15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19" name="Mobilisation &amp; Inputs Gathering">
            <a:extLst>
              <a:ext uri="{FF2B5EF4-FFF2-40B4-BE49-F238E27FC236}">
                <a16:creationId xmlns:a16="http://schemas.microsoft.com/office/drawing/2014/main" id="{E2F21825-3163-64F2-FA92-2DBC00DFE8DA}"/>
              </a:ext>
            </a:extLst>
          </p:cNvPr>
          <p:cNvSpPr txBox="1"/>
          <p:nvPr/>
        </p:nvSpPr>
        <p:spPr>
          <a:xfrm>
            <a:off x="515937" y="1798739"/>
            <a:ext cx="3554411" cy="3779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lc="http://schemas.openxmlformats.org/drawingml/2006/lockedCanvas"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dirty="0">
                <a:solidFill>
                  <a:srgbClr val="44546A"/>
                </a:solidFill>
                <a:cs typeface="Segoe UI Light" panose="020B0502040204020203" pitchFamily="34" charset="0"/>
              </a:rPr>
              <a:t>Frontend</a:t>
            </a:r>
            <a:endParaRPr lang="en-US" b="1" noProof="0" dirty="0">
              <a:solidFill>
                <a:srgbClr val="44546A"/>
              </a:solidFill>
              <a:cs typeface="Segoe UI Light" panose="020B0502040204020203" pitchFamily="34" charset="0"/>
            </a:endParaRPr>
          </a:p>
        </p:txBody>
      </p:sp>
      <p:sp>
        <p:nvSpPr>
          <p:cNvPr id="20" name="Line">
            <a:extLst>
              <a:ext uri="{FF2B5EF4-FFF2-40B4-BE49-F238E27FC236}">
                <a16:creationId xmlns:a16="http://schemas.microsoft.com/office/drawing/2014/main" id="{D594B898-1FD0-751A-7D70-11322EF83D9E}"/>
              </a:ext>
            </a:extLst>
          </p:cNvPr>
          <p:cNvSpPr/>
          <p:nvPr/>
        </p:nvSpPr>
        <p:spPr>
          <a:xfrm>
            <a:off x="515939" y="2182751"/>
            <a:ext cx="3554412" cy="0"/>
          </a:xfrm>
          <a:prstGeom prst="line">
            <a:avLst/>
          </a:prstGeom>
          <a:noFill/>
          <a:ln w="50800" cap="flat">
            <a:solidFill>
              <a:srgbClr val="F94F00"/>
            </a:solidFill>
            <a:prstDash val="solid"/>
            <a:miter lim="400000"/>
          </a:ln>
          <a:effectLst/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en-US" sz="1200" b="1" i="0" u="none" strike="noStrike" kern="0" cap="none" spc="0" normalizeH="0" baseline="0" noProof="0" dirty="0">
              <a:ln>
                <a:noFill/>
              </a:ln>
              <a:solidFill>
                <a:schemeClr val="accent1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21" name="Mobilisation &amp; Inputs Gathering">
            <a:extLst>
              <a:ext uri="{FF2B5EF4-FFF2-40B4-BE49-F238E27FC236}">
                <a16:creationId xmlns:a16="http://schemas.microsoft.com/office/drawing/2014/main" id="{726176D3-F4FD-5806-DD1B-E6472B6A924C}"/>
              </a:ext>
            </a:extLst>
          </p:cNvPr>
          <p:cNvSpPr txBox="1"/>
          <p:nvPr/>
        </p:nvSpPr>
        <p:spPr>
          <a:xfrm>
            <a:off x="678266" y="2353543"/>
            <a:ext cx="3448683" cy="44180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lc="http://schemas.openxmlformats.org/drawingml/2006/lockedCanvas"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BE" sz="1500" b="1" dirty="0">
              <a:solidFill>
                <a:schemeClr val="accent1"/>
              </a:solidFill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DCA5BF-5D7C-0A21-E9A1-09912E76D2C3}"/>
              </a:ext>
            </a:extLst>
          </p:cNvPr>
          <p:cNvSpPr txBox="1"/>
          <p:nvPr/>
        </p:nvSpPr>
        <p:spPr>
          <a:xfrm>
            <a:off x="678267" y="2146790"/>
            <a:ext cx="3131733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1600" dirty="0">
              <a:solidFill>
                <a:srgbClr val="0563C1"/>
              </a:solidFill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US" sz="1400" dirty="0">
                <a:solidFill>
                  <a:srgbClr val="0563C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https://realestate-ui.azurewebsites.net/</a:t>
            </a:r>
            <a:endParaRPr lang="en-US" sz="1400" dirty="0"/>
          </a:p>
          <a:p>
            <a:endParaRPr lang="en-US" dirty="0"/>
          </a:p>
        </p:txBody>
      </p:sp>
      <p:sp>
        <p:nvSpPr>
          <p:cNvPr id="22" name="Rounded Rectangle">
            <a:extLst>
              <a:ext uri="{FF2B5EF4-FFF2-40B4-BE49-F238E27FC236}">
                <a16:creationId xmlns:a16="http://schemas.microsoft.com/office/drawing/2014/main" id="{9FB6A6A6-5195-0E41-E0C6-B386108D8019}"/>
              </a:ext>
            </a:extLst>
          </p:cNvPr>
          <p:cNvSpPr/>
          <p:nvPr/>
        </p:nvSpPr>
        <p:spPr>
          <a:xfrm>
            <a:off x="540703" y="3179354"/>
            <a:ext cx="3554412" cy="1494631"/>
          </a:xfrm>
          <a:prstGeom prst="roundRect">
            <a:avLst>
              <a:gd name="adj" fmla="val 3067"/>
            </a:avLst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fr-BE" sz="15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23" name="Mobilisation &amp; Inputs Gathering">
            <a:extLst>
              <a:ext uri="{FF2B5EF4-FFF2-40B4-BE49-F238E27FC236}">
                <a16:creationId xmlns:a16="http://schemas.microsoft.com/office/drawing/2014/main" id="{B8F42CA3-C059-BCEB-A5D4-686F5F8C8EED}"/>
              </a:ext>
            </a:extLst>
          </p:cNvPr>
          <p:cNvSpPr txBox="1"/>
          <p:nvPr/>
        </p:nvSpPr>
        <p:spPr>
          <a:xfrm>
            <a:off x="540703" y="3257440"/>
            <a:ext cx="3554412" cy="3779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lc="http://schemas.openxmlformats.org/drawingml/2006/lockedCanvas"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dirty="0">
                <a:solidFill>
                  <a:srgbClr val="44546A"/>
                </a:solidFill>
                <a:cs typeface="Segoe UI Light" panose="020B0502040204020203" pitchFamily="34" charset="0"/>
              </a:rPr>
              <a:t>Backend</a:t>
            </a:r>
            <a:endParaRPr lang="en-US" b="1" noProof="0" dirty="0">
              <a:solidFill>
                <a:srgbClr val="44546A"/>
              </a:solidFill>
              <a:cs typeface="Segoe UI Light" panose="020B0502040204020203" pitchFamily="34" charset="0"/>
            </a:endParaRPr>
          </a:p>
        </p:txBody>
      </p:sp>
      <p:sp>
        <p:nvSpPr>
          <p:cNvPr id="25" name="Mobilisation &amp; Inputs Gathering">
            <a:extLst>
              <a:ext uri="{FF2B5EF4-FFF2-40B4-BE49-F238E27FC236}">
                <a16:creationId xmlns:a16="http://schemas.microsoft.com/office/drawing/2014/main" id="{D49C4E0E-E805-D74D-B852-65ABA4066821}"/>
              </a:ext>
            </a:extLst>
          </p:cNvPr>
          <p:cNvSpPr txBox="1"/>
          <p:nvPr/>
        </p:nvSpPr>
        <p:spPr>
          <a:xfrm>
            <a:off x="703031" y="3812244"/>
            <a:ext cx="3448683" cy="44180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lc="http://schemas.openxmlformats.org/drawingml/2006/lockedCanvas"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BE" sz="1500" b="1" dirty="0">
              <a:solidFill>
                <a:schemeClr val="accent1"/>
              </a:solidFill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AE4E8BE-4F65-20E1-F50F-8EB6DF745B54}"/>
              </a:ext>
            </a:extLst>
          </p:cNvPr>
          <p:cNvSpPr txBox="1"/>
          <p:nvPr/>
        </p:nvSpPr>
        <p:spPr>
          <a:xfrm>
            <a:off x="713189" y="3864134"/>
            <a:ext cx="372363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563C1"/>
                </a:solidFill>
                <a:hlinkClick r:id="rId5"/>
              </a:rPr>
              <a:t>https://realestate-api.azurewebsites.net/docs</a:t>
            </a:r>
            <a:endParaRPr lang="en-US" sz="1600" dirty="0">
              <a:solidFill>
                <a:srgbClr val="0563C1"/>
              </a:solidFill>
            </a:endParaRPr>
          </a:p>
        </p:txBody>
      </p:sp>
      <p:sp>
        <p:nvSpPr>
          <p:cNvPr id="27" name="Line">
            <a:extLst>
              <a:ext uri="{FF2B5EF4-FFF2-40B4-BE49-F238E27FC236}">
                <a16:creationId xmlns:a16="http://schemas.microsoft.com/office/drawing/2014/main" id="{07D47131-2D5B-60E5-F721-4AF05730FECD}"/>
              </a:ext>
            </a:extLst>
          </p:cNvPr>
          <p:cNvSpPr/>
          <p:nvPr/>
        </p:nvSpPr>
        <p:spPr>
          <a:xfrm>
            <a:off x="540703" y="3667063"/>
            <a:ext cx="3554412" cy="0"/>
          </a:xfrm>
          <a:prstGeom prst="line">
            <a:avLst/>
          </a:prstGeom>
          <a:noFill/>
          <a:ln w="50800" cap="flat">
            <a:solidFill>
              <a:srgbClr val="FFB310"/>
            </a:solidFill>
            <a:prstDash val="solid"/>
            <a:miter lim="400000"/>
          </a:ln>
          <a:effectLst/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en-US" sz="12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4802566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74F57-E251-3D32-C8D0-4C209B1C8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ounded Rectangle">
            <a:extLst>
              <a:ext uri="{FF2B5EF4-FFF2-40B4-BE49-F238E27FC236}">
                <a16:creationId xmlns:a16="http://schemas.microsoft.com/office/drawing/2014/main" id="{B6383515-94B0-6FC2-0175-A5A0457D4BD1}"/>
              </a:ext>
            </a:extLst>
          </p:cNvPr>
          <p:cNvSpPr/>
          <p:nvPr/>
        </p:nvSpPr>
        <p:spPr>
          <a:xfrm>
            <a:off x="420847" y="1359805"/>
            <a:ext cx="11386502" cy="4456796"/>
          </a:xfrm>
          <a:prstGeom prst="roundRect">
            <a:avLst>
              <a:gd name="adj" fmla="val 2568"/>
            </a:avLst>
          </a:prstGeom>
          <a:solidFill>
            <a:schemeClr val="bg1"/>
          </a:solidFill>
          <a:ln w="12700"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lIns="0" tIns="0" rIns="0" bIns="0" anchor="ctr"/>
          <a:lstStyle/>
          <a:p>
            <a:endParaRPr lang="en-US" noProof="0" dirty="0">
              <a:solidFill>
                <a:schemeClr val="accent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585407-548B-9359-5102-68F6816E5F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535774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Limits &amp; Next Steps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DFF0DA-6E7D-A157-E8D9-BF0201048CB3}"/>
              </a:ext>
            </a:extLst>
          </p:cNvPr>
          <p:cNvSpPr txBox="1"/>
          <p:nvPr/>
        </p:nvSpPr>
        <p:spPr>
          <a:xfrm>
            <a:off x="5631880" y="1678982"/>
            <a:ext cx="585471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000" b="1" noProof="0" dirty="0">
                <a:solidFill>
                  <a:schemeClr val="accent1"/>
                </a:solidFill>
              </a:rPr>
              <a:t>Use React, Angular, Vue instead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57F8B2-E725-0358-CB87-9A74F4C3EE6C}"/>
              </a:ext>
            </a:extLst>
          </p:cNvPr>
          <p:cNvSpPr txBox="1"/>
          <p:nvPr/>
        </p:nvSpPr>
        <p:spPr>
          <a:xfrm>
            <a:off x="772422" y="1693172"/>
            <a:ext cx="458564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000" b="1" noProof="0" dirty="0" err="1">
                <a:solidFill>
                  <a:schemeClr val="accent1"/>
                </a:solidFill>
              </a:rPr>
              <a:t>Streamlit</a:t>
            </a:r>
            <a:r>
              <a:rPr lang="en-US" sz="2000" b="1" dirty="0">
                <a:solidFill>
                  <a:schemeClr val="accent1"/>
                </a:solidFill>
              </a:rPr>
              <a:t> is great for quick results, but</a:t>
            </a:r>
            <a:endParaRPr lang="en-US" sz="2000" b="1" noProof="0" dirty="0">
              <a:solidFill>
                <a:schemeClr val="accent1"/>
              </a:solidFill>
            </a:endParaRPr>
          </a:p>
        </p:txBody>
      </p:sp>
      <p:sp>
        <p:nvSpPr>
          <p:cNvPr id="9" name="Arrow: Pentagon 8">
            <a:extLst>
              <a:ext uri="{FF2B5EF4-FFF2-40B4-BE49-F238E27FC236}">
                <a16:creationId xmlns:a16="http://schemas.microsoft.com/office/drawing/2014/main" id="{11999E9C-A693-2CA5-72A0-4BFB531FBBB5}"/>
              </a:ext>
            </a:extLst>
          </p:cNvPr>
          <p:cNvSpPr/>
          <p:nvPr/>
        </p:nvSpPr>
        <p:spPr>
          <a:xfrm>
            <a:off x="672397" y="2539085"/>
            <a:ext cx="5238851" cy="826193"/>
          </a:xfrm>
          <a:prstGeom prst="homePlate">
            <a:avLst/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/>
          <a:p>
            <a:pPr marL="271463"/>
            <a:r>
              <a:rPr lang="en-US" sz="1600" dirty="0">
                <a:solidFill>
                  <a:schemeClr val="accent1"/>
                </a:solidFill>
              </a:rPr>
              <a:t>Not ideal for complex apps (no routing, no advanced state management).</a:t>
            </a:r>
          </a:p>
        </p:txBody>
      </p:sp>
      <p:sp>
        <p:nvSpPr>
          <p:cNvPr id="17" name="Arrow: Pentagon 16">
            <a:extLst>
              <a:ext uri="{FF2B5EF4-FFF2-40B4-BE49-F238E27FC236}">
                <a16:creationId xmlns:a16="http://schemas.microsoft.com/office/drawing/2014/main" id="{9B36CDF9-7E00-9245-C856-90F543A88E68}"/>
              </a:ext>
            </a:extLst>
          </p:cNvPr>
          <p:cNvSpPr/>
          <p:nvPr/>
        </p:nvSpPr>
        <p:spPr>
          <a:xfrm>
            <a:off x="672397" y="3551964"/>
            <a:ext cx="5238851" cy="799892"/>
          </a:xfrm>
          <a:prstGeom prst="homePlate">
            <a:avLst/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/>
          <a:p>
            <a:pPr marL="271463"/>
            <a:r>
              <a:rPr lang="en-US" sz="1600" dirty="0">
                <a:solidFill>
                  <a:schemeClr val="accent1"/>
                </a:solidFill>
              </a:rPr>
              <a:t>Poor support for custom UI/UX or mobile responsiveness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8DE8062-8D9A-03A9-8598-5555343B9B54}"/>
              </a:ext>
            </a:extLst>
          </p:cNvPr>
          <p:cNvSpPr txBox="1"/>
          <p:nvPr/>
        </p:nvSpPr>
        <p:spPr>
          <a:xfrm>
            <a:off x="439738" y="702110"/>
            <a:ext cx="1146270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072C7"/>
                </a:solidFill>
              </a:rPr>
              <a:t>Why </a:t>
            </a:r>
            <a:r>
              <a:rPr lang="en-US" sz="2000" b="1" dirty="0" err="1">
                <a:solidFill>
                  <a:srgbClr val="0072C7"/>
                </a:solidFill>
              </a:rPr>
              <a:t>Streamlit</a:t>
            </a:r>
            <a:r>
              <a:rPr lang="en-US" sz="2000" b="1" dirty="0">
                <a:solidFill>
                  <a:srgbClr val="0072C7"/>
                </a:solidFill>
              </a:rPr>
              <a:t> Isn’t Enough for Production-Grade Apps ? </a:t>
            </a:r>
          </a:p>
        </p:txBody>
      </p:sp>
      <p:sp>
        <p:nvSpPr>
          <p:cNvPr id="38" name="Arrow: Chevron 37">
            <a:extLst>
              <a:ext uri="{FF2B5EF4-FFF2-40B4-BE49-F238E27FC236}">
                <a16:creationId xmlns:a16="http://schemas.microsoft.com/office/drawing/2014/main" id="{2A06410E-07FD-070D-0E51-E6ABC9C3C9A7}"/>
              </a:ext>
            </a:extLst>
          </p:cNvPr>
          <p:cNvSpPr/>
          <p:nvPr/>
        </p:nvSpPr>
        <p:spPr>
          <a:xfrm>
            <a:off x="5687759" y="2535260"/>
            <a:ext cx="5854711" cy="826194"/>
          </a:xfrm>
          <a:prstGeom prst="chevron">
            <a:avLst>
              <a:gd name="adj" fmla="val 48750"/>
            </a:avLst>
          </a:prstGeom>
          <a:gradFill>
            <a:gsLst>
              <a:gs pos="0">
                <a:srgbClr val="CE0368"/>
              </a:gs>
              <a:gs pos="50000">
                <a:srgbClr val="E13518"/>
              </a:gs>
              <a:gs pos="100000">
                <a:srgbClr val="F94F00"/>
              </a:gs>
            </a:gsLst>
            <a:lin ang="0" scaled="1"/>
          </a:gra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kern="0" dirty="0">
                <a:solidFill>
                  <a:schemeClr val="bg1"/>
                </a:solidFill>
                <a:latin typeface="Segoe UI (Body)"/>
                <a:cs typeface="Segoe UI Light" panose="020B0502040204020203" pitchFamily="34" charset="0"/>
              </a:rPr>
              <a:t>Full client-side routing (e.g., React Router), global state management (Redux, </a:t>
            </a:r>
            <a:r>
              <a:rPr lang="en-US" sz="1600" kern="0" dirty="0" err="1">
                <a:solidFill>
                  <a:schemeClr val="bg1"/>
                </a:solidFill>
                <a:latin typeface="Segoe UI (Body)"/>
                <a:cs typeface="Segoe UI Light" panose="020B0502040204020203" pitchFamily="34" charset="0"/>
              </a:rPr>
              <a:t>Vuex</a:t>
            </a:r>
            <a:r>
              <a:rPr lang="en-US" sz="1600" kern="0" dirty="0">
                <a:solidFill>
                  <a:schemeClr val="bg1"/>
                </a:solidFill>
                <a:latin typeface="Segoe UI (Body)"/>
                <a:cs typeface="Segoe UI Light" panose="020B0502040204020203" pitchFamily="34" charset="0"/>
              </a:rPr>
              <a:t>, </a:t>
            </a:r>
            <a:r>
              <a:rPr lang="en-US" sz="1600" kern="0" dirty="0" err="1">
                <a:solidFill>
                  <a:schemeClr val="bg1"/>
                </a:solidFill>
                <a:latin typeface="Segoe UI (Body)"/>
                <a:cs typeface="Segoe UI Light" panose="020B0502040204020203" pitchFamily="34" charset="0"/>
              </a:rPr>
              <a:t>NgRx</a:t>
            </a:r>
            <a:r>
              <a:rPr lang="en-US" sz="1600" kern="0" dirty="0">
                <a:solidFill>
                  <a:schemeClr val="bg1"/>
                </a:solidFill>
                <a:latin typeface="Segoe UI (Body)"/>
                <a:cs typeface="Segoe UI Light" panose="020B0502040204020203" pitchFamily="34" charset="0"/>
              </a:rPr>
              <a:t>…)</a:t>
            </a:r>
          </a:p>
        </p:txBody>
      </p:sp>
      <p:sp>
        <p:nvSpPr>
          <p:cNvPr id="39" name="Arrow: Pentagon 38">
            <a:extLst>
              <a:ext uri="{FF2B5EF4-FFF2-40B4-BE49-F238E27FC236}">
                <a16:creationId xmlns:a16="http://schemas.microsoft.com/office/drawing/2014/main" id="{33241DA6-24B5-7080-DAEA-D707B8DCF191}"/>
              </a:ext>
            </a:extLst>
          </p:cNvPr>
          <p:cNvSpPr/>
          <p:nvPr/>
        </p:nvSpPr>
        <p:spPr>
          <a:xfrm>
            <a:off x="672397" y="4576844"/>
            <a:ext cx="5238851" cy="799892"/>
          </a:xfrm>
          <a:prstGeom prst="homePlate">
            <a:avLst/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/>
          <a:p>
            <a:pPr marL="271463"/>
            <a:r>
              <a:rPr lang="en-US" sz="1600" dirty="0">
                <a:solidFill>
                  <a:schemeClr val="accent1"/>
                </a:solidFill>
              </a:rPr>
              <a:t>Basic security ! No enterprise IAM or fine-grained access control</a:t>
            </a: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76D1172E-0632-F8B4-5636-A36A5646BF69}"/>
              </a:ext>
            </a:extLst>
          </p:cNvPr>
          <p:cNvSpPr/>
          <p:nvPr/>
        </p:nvSpPr>
        <p:spPr>
          <a:xfrm>
            <a:off x="5687759" y="3538813"/>
            <a:ext cx="5854711" cy="826194"/>
          </a:xfrm>
          <a:prstGeom prst="chevron">
            <a:avLst>
              <a:gd name="adj" fmla="val 48750"/>
            </a:avLst>
          </a:prstGeom>
          <a:gradFill>
            <a:gsLst>
              <a:gs pos="0">
                <a:srgbClr val="CE0368"/>
              </a:gs>
              <a:gs pos="50000">
                <a:srgbClr val="E13518"/>
              </a:gs>
              <a:gs pos="100000">
                <a:srgbClr val="F94F00"/>
              </a:gs>
            </a:gsLst>
            <a:lin ang="0" scaled="1"/>
          </a:gra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kern="0" dirty="0">
                <a:solidFill>
                  <a:schemeClr val="bg1"/>
                </a:solidFill>
                <a:latin typeface="Segoe UI (Body)"/>
                <a:cs typeface="Segoe UI Light" panose="020B0502040204020203" pitchFamily="34" charset="0"/>
              </a:rPr>
              <a:t>Full control over layout, animations, themes, and responsive design (CSS, Tailwind, Material UI…)</a:t>
            </a: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5DD9F600-3AB6-9239-BBA5-1F562160DE60}"/>
              </a:ext>
            </a:extLst>
          </p:cNvPr>
          <p:cNvSpPr/>
          <p:nvPr/>
        </p:nvSpPr>
        <p:spPr>
          <a:xfrm>
            <a:off x="5738559" y="4563693"/>
            <a:ext cx="5854711" cy="826194"/>
          </a:xfrm>
          <a:prstGeom prst="chevron">
            <a:avLst>
              <a:gd name="adj" fmla="val 48750"/>
            </a:avLst>
          </a:prstGeom>
          <a:gradFill>
            <a:gsLst>
              <a:gs pos="0">
                <a:srgbClr val="CE0368"/>
              </a:gs>
              <a:gs pos="50000">
                <a:srgbClr val="E13518"/>
              </a:gs>
              <a:gs pos="100000">
                <a:srgbClr val="F94F00"/>
              </a:gs>
            </a:gsLst>
            <a:lin ang="0" scaled="1"/>
          </a:gra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kern="0" dirty="0">
                <a:solidFill>
                  <a:schemeClr val="bg1"/>
                </a:solidFill>
                <a:latin typeface="Segoe UI (Body)"/>
                <a:cs typeface="Segoe UI Light" panose="020B0502040204020203" pitchFamily="34" charset="0"/>
              </a:rPr>
              <a:t>Secure auth integration (OAuth2, Firebase, Azure AD, Auth0) with fine-grained access control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C5F39E9-6907-D43E-0B37-5C2628B1527F}"/>
              </a:ext>
            </a:extLst>
          </p:cNvPr>
          <p:cNvCxnSpPr/>
          <p:nvPr/>
        </p:nvCxnSpPr>
        <p:spPr>
          <a:xfrm>
            <a:off x="402749" y="2214880"/>
            <a:ext cx="1138650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16230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A7C1E6-B326-4EA9-7DBC-F96C35D38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BE56C-3BF2-5795-5525-8C1A4CFFA3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535774"/>
          </a:xfrm>
        </p:spPr>
        <p:txBody>
          <a:bodyPr/>
          <a:lstStyle/>
          <a:p>
            <a:r>
              <a:rPr lang="fr-BE" dirty="0">
                <a:solidFill>
                  <a:schemeClr val="accent2"/>
                </a:solidFill>
              </a:rPr>
              <a:t>Cloud </a:t>
            </a:r>
            <a:r>
              <a:rPr lang="fr-BE" dirty="0" err="1">
                <a:solidFill>
                  <a:schemeClr val="accent2"/>
                </a:solidFill>
              </a:rPr>
              <a:t>deployment</a:t>
            </a:r>
            <a:endParaRPr lang="en-US" dirty="0">
              <a:solidFill>
                <a:schemeClr val="accent2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036471-675E-576D-16DF-3FEF7E72F0F5}"/>
              </a:ext>
            </a:extLst>
          </p:cNvPr>
          <p:cNvSpPr txBox="1"/>
          <p:nvPr/>
        </p:nvSpPr>
        <p:spPr>
          <a:xfrm>
            <a:off x="439738" y="702110"/>
            <a:ext cx="1146270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072C7"/>
                </a:solidFill>
              </a:rPr>
              <a:t>Our deployment strategy moved from Render to Azure to enable better control, automation</a:t>
            </a:r>
          </a:p>
        </p:txBody>
      </p:sp>
      <p:sp>
        <p:nvSpPr>
          <p:cNvPr id="3" name="Rounded Rectangle">
            <a:extLst>
              <a:ext uri="{FF2B5EF4-FFF2-40B4-BE49-F238E27FC236}">
                <a16:creationId xmlns:a16="http://schemas.microsoft.com/office/drawing/2014/main" id="{4B9420A8-BFF9-243C-DC12-DE55D686E9CA}"/>
              </a:ext>
            </a:extLst>
          </p:cNvPr>
          <p:cNvSpPr/>
          <p:nvPr/>
        </p:nvSpPr>
        <p:spPr>
          <a:xfrm>
            <a:off x="515938" y="1237884"/>
            <a:ext cx="11386502" cy="5274676"/>
          </a:xfrm>
          <a:prstGeom prst="roundRect">
            <a:avLst>
              <a:gd name="adj" fmla="val 2568"/>
            </a:avLst>
          </a:prstGeom>
          <a:solidFill>
            <a:schemeClr val="bg1"/>
          </a:solidFill>
          <a:ln w="12700"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lIns="0" tIns="0" rIns="0" bIns="0" anchor="ctr"/>
          <a:lstStyle/>
          <a:p>
            <a:endParaRPr lang="en-US" noProof="0" dirty="0">
              <a:solidFill>
                <a:schemeClr val="accent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669E47-3218-5AC6-1AA9-024E4C9AC0EE}"/>
              </a:ext>
            </a:extLst>
          </p:cNvPr>
          <p:cNvSpPr txBox="1"/>
          <p:nvPr/>
        </p:nvSpPr>
        <p:spPr>
          <a:xfrm>
            <a:off x="5853261" y="1369789"/>
            <a:ext cx="585471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000" b="1" noProof="0" dirty="0">
                <a:solidFill>
                  <a:schemeClr val="accent1"/>
                </a:solidFill>
              </a:rPr>
              <a:t>Advantage (Azure / AWS / GCP)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702B272-D884-1A9A-7A61-65C05ED2F753}"/>
              </a:ext>
            </a:extLst>
          </p:cNvPr>
          <p:cNvSpPr txBox="1"/>
          <p:nvPr/>
        </p:nvSpPr>
        <p:spPr>
          <a:xfrm>
            <a:off x="924343" y="1383979"/>
            <a:ext cx="458564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000" b="1" noProof="0" dirty="0">
                <a:solidFill>
                  <a:schemeClr val="accent1"/>
                </a:solidFill>
              </a:rPr>
              <a:t>Challenges: limitations of Render</a:t>
            </a:r>
          </a:p>
        </p:txBody>
      </p:sp>
      <p:sp>
        <p:nvSpPr>
          <p:cNvPr id="9" name="Arrow: Pentagon 8">
            <a:extLst>
              <a:ext uri="{FF2B5EF4-FFF2-40B4-BE49-F238E27FC236}">
                <a16:creationId xmlns:a16="http://schemas.microsoft.com/office/drawing/2014/main" id="{C2256A36-01C5-30A5-23DE-E4CCC8DE48A8}"/>
              </a:ext>
            </a:extLst>
          </p:cNvPr>
          <p:cNvSpPr/>
          <p:nvPr/>
        </p:nvSpPr>
        <p:spPr>
          <a:xfrm>
            <a:off x="837899" y="1994215"/>
            <a:ext cx="5179592" cy="736181"/>
          </a:xfrm>
          <a:prstGeom prst="homePlate">
            <a:avLst/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/>
          <a:p>
            <a:pPr marL="271463"/>
            <a:r>
              <a:rPr lang="en-US" sz="1600" dirty="0">
                <a:solidFill>
                  <a:schemeClr val="accent1"/>
                </a:solidFill>
              </a:rPr>
              <a:t>Limited control over container configuration and environment variables</a:t>
            </a:r>
          </a:p>
        </p:txBody>
      </p: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C75BD6B5-41FC-0918-F6DE-2F71F9D80ACF}"/>
              </a:ext>
            </a:extLst>
          </p:cNvPr>
          <p:cNvSpPr/>
          <p:nvPr/>
        </p:nvSpPr>
        <p:spPr>
          <a:xfrm>
            <a:off x="5853260" y="1994216"/>
            <a:ext cx="5719904" cy="736180"/>
          </a:xfrm>
          <a:prstGeom prst="chevron">
            <a:avLst/>
          </a:prstGeom>
          <a:gradFill flip="none" rotWithShape="1">
            <a:gsLst>
              <a:gs pos="0">
                <a:srgbClr val="00B050">
                  <a:shade val="30000"/>
                  <a:satMod val="115000"/>
                </a:srgbClr>
              </a:gs>
              <a:gs pos="50000">
                <a:srgbClr val="00B050">
                  <a:shade val="67500"/>
                  <a:satMod val="115000"/>
                </a:srgbClr>
              </a:gs>
              <a:gs pos="100000">
                <a:srgbClr val="00B050">
                  <a:shade val="100000"/>
                  <a:satMod val="115000"/>
                </a:srgbClr>
              </a:gs>
            </a:gsLst>
            <a:lin ang="13500000" scaled="1"/>
            <a:tileRect/>
          </a:gra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Segoe UI (Body)"/>
              </a:rPr>
              <a:t>Full control over startup commands, port binding, environment variables, and scaling options</a:t>
            </a:r>
          </a:p>
        </p:txBody>
      </p:sp>
      <p:sp>
        <p:nvSpPr>
          <p:cNvPr id="17" name="Arrow: Pentagon 16">
            <a:extLst>
              <a:ext uri="{FF2B5EF4-FFF2-40B4-BE49-F238E27FC236}">
                <a16:creationId xmlns:a16="http://schemas.microsoft.com/office/drawing/2014/main" id="{4DCF3BA5-A535-BE29-88D1-19C8830B32BC}"/>
              </a:ext>
            </a:extLst>
          </p:cNvPr>
          <p:cNvSpPr/>
          <p:nvPr/>
        </p:nvSpPr>
        <p:spPr>
          <a:xfrm>
            <a:off x="837898" y="2873342"/>
            <a:ext cx="5238851" cy="799892"/>
          </a:xfrm>
          <a:prstGeom prst="homePlate">
            <a:avLst/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/>
          <a:p>
            <a:pPr marL="271463"/>
            <a:r>
              <a:rPr lang="en-US" sz="1600" dirty="0">
                <a:solidFill>
                  <a:schemeClr val="accent1"/>
                </a:solidFill>
              </a:rPr>
              <a:t>Cold starts and inconsistent performance on the free tier</a:t>
            </a:r>
          </a:p>
        </p:txBody>
      </p:sp>
      <p:sp>
        <p:nvSpPr>
          <p:cNvPr id="18" name="Arrow: Chevron 17">
            <a:extLst>
              <a:ext uri="{FF2B5EF4-FFF2-40B4-BE49-F238E27FC236}">
                <a16:creationId xmlns:a16="http://schemas.microsoft.com/office/drawing/2014/main" id="{D2032154-6670-C530-66BC-E5AD3CC8F7A8}"/>
              </a:ext>
            </a:extLst>
          </p:cNvPr>
          <p:cNvSpPr/>
          <p:nvPr/>
        </p:nvSpPr>
        <p:spPr>
          <a:xfrm>
            <a:off x="5853260" y="2873342"/>
            <a:ext cx="5779940" cy="787890"/>
          </a:xfrm>
          <a:prstGeom prst="chevron">
            <a:avLst/>
          </a:prstGeom>
          <a:gradFill flip="none" rotWithShape="1">
            <a:gsLst>
              <a:gs pos="0">
                <a:srgbClr val="00B050">
                  <a:shade val="30000"/>
                  <a:satMod val="115000"/>
                </a:srgbClr>
              </a:gs>
              <a:gs pos="50000">
                <a:srgbClr val="00B050">
                  <a:shade val="67500"/>
                  <a:satMod val="115000"/>
                </a:srgbClr>
              </a:gs>
              <a:gs pos="100000">
                <a:srgbClr val="00B050">
                  <a:shade val="100000"/>
                  <a:satMod val="115000"/>
                </a:srgbClr>
              </a:gs>
            </a:gsLst>
            <a:lin ang="13500000" scaled="1"/>
            <a:tileRect/>
          </a:gra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Segoe UI (Body)"/>
              </a:rPr>
              <a:t>Consistent runtime performance with autoscaling and production-grade plans</a:t>
            </a:r>
          </a:p>
        </p:txBody>
      </p:sp>
      <p:sp>
        <p:nvSpPr>
          <p:cNvPr id="19" name="Arrow: Pentagon 18">
            <a:extLst>
              <a:ext uri="{FF2B5EF4-FFF2-40B4-BE49-F238E27FC236}">
                <a16:creationId xmlns:a16="http://schemas.microsoft.com/office/drawing/2014/main" id="{579249A1-13C1-86BC-FED9-7FA375FEAC54}"/>
              </a:ext>
            </a:extLst>
          </p:cNvPr>
          <p:cNvSpPr/>
          <p:nvPr/>
        </p:nvSpPr>
        <p:spPr>
          <a:xfrm>
            <a:off x="837898" y="3767708"/>
            <a:ext cx="5458783" cy="1299805"/>
          </a:xfrm>
          <a:prstGeom prst="homePlate">
            <a:avLst/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/>
          <a:p>
            <a:pPr marL="271463"/>
            <a:endParaRPr lang="en-US" sz="1600" dirty="0">
              <a:solidFill>
                <a:schemeClr val="accent1"/>
              </a:solidFill>
            </a:endParaRPr>
          </a:p>
        </p:txBody>
      </p:sp>
      <p:sp>
        <p:nvSpPr>
          <p:cNvPr id="20" name="Arrow: Chevron 19">
            <a:extLst>
              <a:ext uri="{FF2B5EF4-FFF2-40B4-BE49-F238E27FC236}">
                <a16:creationId xmlns:a16="http://schemas.microsoft.com/office/drawing/2014/main" id="{0B284CA0-BA49-3535-2246-95F9DC5E6E01}"/>
              </a:ext>
            </a:extLst>
          </p:cNvPr>
          <p:cNvSpPr/>
          <p:nvPr/>
        </p:nvSpPr>
        <p:spPr>
          <a:xfrm>
            <a:off x="5853260" y="3767708"/>
            <a:ext cx="5779940" cy="1299805"/>
          </a:xfrm>
          <a:prstGeom prst="chevron">
            <a:avLst/>
          </a:prstGeom>
          <a:gradFill flip="none" rotWithShape="1">
            <a:gsLst>
              <a:gs pos="0">
                <a:srgbClr val="00B050">
                  <a:shade val="30000"/>
                  <a:satMod val="115000"/>
                </a:srgbClr>
              </a:gs>
              <a:gs pos="50000">
                <a:srgbClr val="00B050">
                  <a:shade val="67500"/>
                  <a:satMod val="115000"/>
                </a:srgbClr>
              </a:gs>
              <a:gs pos="100000">
                <a:srgbClr val="00B050">
                  <a:shade val="100000"/>
                  <a:satMod val="115000"/>
                </a:srgbClr>
              </a:gs>
            </a:gsLst>
            <a:lin ang="13500000" scaled="1"/>
            <a:tileRect/>
          </a:gra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Segoe UI (Body)"/>
              </a:rPr>
              <a:t>Full scripting support for repeatable, automated deployments via CLI and </a:t>
            </a:r>
            <a:r>
              <a:rPr lang="en-US" sz="1600" dirty="0" err="1">
                <a:latin typeface="Segoe UI (Body)"/>
              </a:rPr>
              <a:t>IaC</a:t>
            </a:r>
            <a:r>
              <a:rPr lang="en-US" sz="1600" dirty="0">
                <a:latin typeface="Segoe UI (Body)"/>
              </a:rPr>
              <a:t> (e.g., Bicep, Terraform)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1A234E-B797-D253-74BF-29E037D0EF73}"/>
              </a:ext>
            </a:extLst>
          </p:cNvPr>
          <p:cNvSpPr txBox="1"/>
          <p:nvPr/>
        </p:nvSpPr>
        <p:spPr>
          <a:xfrm>
            <a:off x="737319" y="3874495"/>
            <a:ext cx="488715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1463"/>
            <a:r>
              <a:rPr lang="en-US" sz="1600" b="1" dirty="0">
                <a:solidFill>
                  <a:schemeClr val="accent1"/>
                </a:solidFill>
              </a:rPr>
              <a:t>No scripting </a:t>
            </a:r>
            <a:r>
              <a:rPr lang="en-US" sz="1600" dirty="0">
                <a:solidFill>
                  <a:schemeClr val="accent1"/>
                </a:solidFill>
              </a:rPr>
              <a:t>unlike</a:t>
            </a:r>
            <a:r>
              <a:rPr lang="en-US" sz="1600" b="1" dirty="0">
                <a:solidFill>
                  <a:schemeClr val="accent1"/>
                </a:solidFill>
              </a:rPr>
              <a:t> Azure CLI</a:t>
            </a:r>
            <a:r>
              <a:rPr lang="en-US" sz="1600" dirty="0">
                <a:solidFill>
                  <a:schemeClr val="accent1"/>
                </a:solidFill>
              </a:rPr>
              <a:t>, </a:t>
            </a:r>
            <a:r>
              <a:rPr lang="en-US" sz="1600" b="1" dirty="0">
                <a:solidFill>
                  <a:schemeClr val="accent1"/>
                </a:solidFill>
              </a:rPr>
              <a:t>AWS CLI</a:t>
            </a:r>
            <a:r>
              <a:rPr lang="en-US" sz="1600" dirty="0">
                <a:solidFill>
                  <a:schemeClr val="accent1"/>
                </a:solidFill>
              </a:rPr>
              <a:t>, or </a:t>
            </a:r>
            <a:r>
              <a:rPr lang="en-US" sz="1600" b="1" dirty="0">
                <a:solidFill>
                  <a:schemeClr val="accent1"/>
                </a:solidFill>
              </a:rPr>
              <a:t>Google Cloud SDK</a:t>
            </a:r>
          </a:p>
          <a:p>
            <a:pPr marL="271463"/>
            <a:endParaRPr lang="en-US" sz="1600" dirty="0">
              <a:solidFill>
                <a:schemeClr val="accent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140AE7A-5608-614C-CE1F-204A182FAEFB}"/>
              </a:ext>
            </a:extLst>
          </p:cNvPr>
          <p:cNvSpPr txBox="1"/>
          <p:nvPr/>
        </p:nvSpPr>
        <p:spPr>
          <a:xfrm>
            <a:off x="1409531" y="4440667"/>
            <a:ext cx="379559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1463"/>
            <a:r>
              <a:rPr lang="en-US" sz="1600" dirty="0">
                <a:solidFill>
                  <a:schemeClr val="accent1"/>
                </a:solidFill>
              </a:rPr>
              <a:t>Repeatable, scripted deployments difficult to implement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B5A1A2BC-51F1-1E3D-1CA0-E63FA3E3E6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057" y="4457978"/>
            <a:ext cx="582210" cy="527706"/>
          </a:xfrm>
          <a:prstGeom prst="rect">
            <a:avLst/>
          </a:prstGeom>
        </p:spPr>
      </p:pic>
      <p:sp>
        <p:nvSpPr>
          <p:cNvPr id="25" name="Arrow: Pentagon 24">
            <a:extLst>
              <a:ext uri="{FF2B5EF4-FFF2-40B4-BE49-F238E27FC236}">
                <a16:creationId xmlns:a16="http://schemas.microsoft.com/office/drawing/2014/main" id="{E0DF5759-F5AB-3448-A8B8-68223711BF04}"/>
              </a:ext>
            </a:extLst>
          </p:cNvPr>
          <p:cNvSpPr/>
          <p:nvPr/>
        </p:nvSpPr>
        <p:spPr>
          <a:xfrm>
            <a:off x="837898" y="5158748"/>
            <a:ext cx="5393123" cy="1115303"/>
          </a:xfrm>
          <a:prstGeom prst="homePlate">
            <a:avLst/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/>
          <a:p>
            <a:pPr marL="271463"/>
            <a:endParaRPr lang="en-US" sz="1600" dirty="0">
              <a:solidFill>
                <a:schemeClr val="accent1"/>
              </a:solidFill>
            </a:endParaRPr>
          </a:p>
        </p:txBody>
      </p:sp>
      <p:sp>
        <p:nvSpPr>
          <p:cNvPr id="26" name="Arrow: Chevron 25">
            <a:extLst>
              <a:ext uri="{FF2B5EF4-FFF2-40B4-BE49-F238E27FC236}">
                <a16:creationId xmlns:a16="http://schemas.microsoft.com/office/drawing/2014/main" id="{EB6A214A-0792-9C1B-707B-D7B98E1A2969}"/>
              </a:ext>
            </a:extLst>
          </p:cNvPr>
          <p:cNvSpPr/>
          <p:nvPr/>
        </p:nvSpPr>
        <p:spPr>
          <a:xfrm>
            <a:off x="5859050" y="5158749"/>
            <a:ext cx="5774150" cy="1097788"/>
          </a:xfrm>
          <a:prstGeom prst="chevron">
            <a:avLst/>
          </a:prstGeom>
          <a:gradFill flip="none" rotWithShape="1">
            <a:gsLst>
              <a:gs pos="0">
                <a:srgbClr val="00B050">
                  <a:shade val="30000"/>
                  <a:satMod val="115000"/>
                </a:srgbClr>
              </a:gs>
              <a:gs pos="50000">
                <a:srgbClr val="00B050">
                  <a:shade val="67500"/>
                  <a:satMod val="115000"/>
                </a:srgbClr>
              </a:gs>
              <a:gs pos="100000">
                <a:srgbClr val="00B050">
                  <a:shade val="100000"/>
                  <a:satMod val="115000"/>
                </a:srgbClr>
              </a:gs>
            </a:gsLst>
            <a:lin ang="13500000" scaled="1"/>
            <a:tileRect/>
          </a:gra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Segoe UI (Body)"/>
              </a:rPr>
              <a:t>Built-in tools like </a:t>
            </a:r>
            <a:r>
              <a:rPr lang="en-US" sz="1600" b="1" dirty="0">
                <a:latin typeface="Segoe UI (Body)"/>
              </a:rPr>
              <a:t>Azure Monitor</a:t>
            </a:r>
            <a:r>
              <a:rPr lang="en-US" sz="1600" dirty="0">
                <a:latin typeface="Segoe UI (Body)"/>
              </a:rPr>
              <a:t>, </a:t>
            </a:r>
            <a:r>
              <a:rPr lang="en-US" sz="1600" b="1" dirty="0">
                <a:latin typeface="Segoe UI (Body)"/>
              </a:rPr>
              <a:t>Application Insights</a:t>
            </a:r>
            <a:r>
              <a:rPr lang="en-US" sz="1600" dirty="0">
                <a:latin typeface="Segoe UI (Body)"/>
              </a:rPr>
              <a:t>, </a:t>
            </a:r>
            <a:r>
              <a:rPr lang="en-US" sz="1600" b="1" dirty="0">
                <a:latin typeface="Segoe UI (Body)"/>
              </a:rPr>
              <a:t>CloudWatc</a:t>
            </a:r>
            <a:r>
              <a:rPr lang="en-US" sz="1600" dirty="0">
                <a:latin typeface="Segoe UI (Body)"/>
              </a:rPr>
              <a:t>h, and </a:t>
            </a:r>
            <a:r>
              <a:rPr lang="en-US" sz="1600" b="1" dirty="0" err="1">
                <a:latin typeface="Segoe UI (Body)"/>
              </a:rPr>
              <a:t>Stackdriver</a:t>
            </a:r>
            <a:r>
              <a:rPr lang="en-US" sz="1600" dirty="0">
                <a:latin typeface="Segoe UI (Body)"/>
              </a:rPr>
              <a:t> for observability and debugging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FAB98E-0864-3D50-0DE6-19B35A58D4C5}"/>
              </a:ext>
            </a:extLst>
          </p:cNvPr>
          <p:cNvSpPr txBox="1"/>
          <p:nvPr/>
        </p:nvSpPr>
        <p:spPr>
          <a:xfrm>
            <a:off x="773589" y="5155450"/>
            <a:ext cx="488715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1463"/>
            <a:r>
              <a:rPr lang="en-US" sz="1600" b="1" dirty="0">
                <a:solidFill>
                  <a:schemeClr val="accent1"/>
                </a:solidFill>
              </a:rPr>
              <a:t>No integrated monitoring or diagnostics tools, </a:t>
            </a:r>
            <a:endParaRPr lang="en-US" sz="160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591150B-30BA-1729-7D31-5E6382B8AE72}"/>
              </a:ext>
            </a:extLst>
          </p:cNvPr>
          <p:cNvSpPr txBox="1"/>
          <p:nvPr/>
        </p:nvSpPr>
        <p:spPr>
          <a:xfrm>
            <a:off x="1409531" y="5751367"/>
            <a:ext cx="379559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1463"/>
            <a:r>
              <a:rPr lang="en-US" sz="1600" dirty="0">
                <a:solidFill>
                  <a:schemeClr val="accent1"/>
                </a:solidFill>
              </a:rPr>
              <a:t>Debugging is difficult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767F7854-6D1C-0629-4417-D4239BB482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3927" y="5603399"/>
            <a:ext cx="582210" cy="527706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8F4171F-8FDD-293F-DEDA-C3F5E5AB4D8B}"/>
              </a:ext>
            </a:extLst>
          </p:cNvPr>
          <p:cNvCxnSpPr/>
          <p:nvPr/>
        </p:nvCxnSpPr>
        <p:spPr>
          <a:xfrm>
            <a:off x="515938" y="1833880"/>
            <a:ext cx="1138650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1024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B828E4-6531-F41F-A2BA-A382821341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158876"/>
            <a:ext cx="11150600" cy="436870"/>
          </a:xfrm>
        </p:spPr>
        <p:txBody>
          <a:bodyPr/>
          <a:lstStyle/>
          <a:p>
            <a:r>
              <a:rPr lang="en-US" sz="2400" dirty="0">
                <a:solidFill>
                  <a:schemeClr val="accent2"/>
                </a:solidFill>
              </a:rPr>
              <a:t>Real Estate App Deployment with Docker &amp; Azure Services</a:t>
            </a:r>
            <a:endParaRPr lang="en-US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8D1CB2-27ED-780F-EA0E-265493EF71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4478" y="743879"/>
            <a:ext cx="8615098" cy="5606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04030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E133CB-3CFD-82E3-86E9-0CB6D81F6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008" y="2508664"/>
            <a:ext cx="11150600" cy="920336"/>
          </a:xfrm>
        </p:spPr>
        <p:txBody>
          <a:bodyPr/>
          <a:lstStyle/>
          <a:p>
            <a:pPr algn="ctr"/>
            <a:r>
              <a:rPr lang="en-US" dirty="0"/>
              <a:t>Backup slide</a:t>
            </a: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20387187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A0369-0A78-FEF2-B79D-76AB899AB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98117-0824-1B3E-C227-AEC2FE18B2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479684"/>
          </a:xfrm>
        </p:spPr>
        <p:txBody>
          <a:bodyPr/>
          <a:lstStyle/>
          <a:p>
            <a:r>
              <a:rPr lang="en-US" noProof="0" dirty="0">
                <a:solidFill>
                  <a:schemeClr val="accent2"/>
                </a:solidFill>
              </a:rPr>
              <a:t>Deployment strategy</a:t>
            </a:r>
          </a:p>
        </p:txBody>
      </p:sp>
      <p:sp>
        <p:nvSpPr>
          <p:cNvPr id="4" name="Rounded Rectangle">
            <a:extLst>
              <a:ext uri="{FF2B5EF4-FFF2-40B4-BE49-F238E27FC236}">
                <a16:creationId xmlns:a16="http://schemas.microsoft.com/office/drawing/2014/main" id="{4D164BD0-FBD9-B1B3-22AD-88BCD18EAE6E}"/>
              </a:ext>
            </a:extLst>
          </p:cNvPr>
          <p:cNvSpPr/>
          <p:nvPr/>
        </p:nvSpPr>
        <p:spPr>
          <a:xfrm>
            <a:off x="515938" y="920090"/>
            <a:ext cx="4873480" cy="2949703"/>
          </a:xfrm>
          <a:prstGeom prst="roundRect">
            <a:avLst>
              <a:gd name="adj" fmla="val 3067"/>
            </a:avLst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fr-BE" sz="15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5" name="Rounded Rectangle">
            <a:extLst>
              <a:ext uri="{FF2B5EF4-FFF2-40B4-BE49-F238E27FC236}">
                <a16:creationId xmlns:a16="http://schemas.microsoft.com/office/drawing/2014/main" id="{874F27A9-623F-7A2B-AC6E-C45DA02568D7}"/>
              </a:ext>
            </a:extLst>
          </p:cNvPr>
          <p:cNvSpPr/>
          <p:nvPr/>
        </p:nvSpPr>
        <p:spPr>
          <a:xfrm>
            <a:off x="5551747" y="920090"/>
            <a:ext cx="6114792" cy="2949005"/>
          </a:xfrm>
          <a:prstGeom prst="roundRect">
            <a:avLst>
              <a:gd name="adj" fmla="val 3067"/>
            </a:avLst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sz="15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8" name="Mobilisation &amp; Inputs Gathering">
            <a:extLst>
              <a:ext uri="{FF2B5EF4-FFF2-40B4-BE49-F238E27FC236}">
                <a16:creationId xmlns:a16="http://schemas.microsoft.com/office/drawing/2014/main" id="{6D04A847-6196-9784-F2E4-87671394D025}"/>
              </a:ext>
            </a:extLst>
          </p:cNvPr>
          <p:cNvSpPr txBox="1"/>
          <p:nvPr/>
        </p:nvSpPr>
        <p:spPr>
          <a:xfrm>
            <a:off x="515938" y="1024585"/>
            <a:ext cx="5168582" cy="3779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lc="http://schemas.openxmlformats.org/drawingml/2006/lockedCanvas"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noProof="0" dirty="0">
                <a:solidFill>
                  <a:srgbClr val="44546A"/>
                </a:solidFill>
                <a:cs typeface="Segoe UI Light" panose="020B0502040204020203" pitchFamily="34" charset="0"/>
              </a:rPr>
              <a:t>Modular Architecture</a:t>
            </a:r>
          </a:p>
        </p:txBody>
      </p:sp>
      <p:sp>
        <p:nvSpPr>
          <p:cNvPr id="10" name="Mobilisation &amp; Inputs Gathering">
            <a:extLst>
              <a:ext uri="{FF2B5EF4-FFF2-40B4-BE49-F238E27FC236}">
                <a16:creationId xmlns:a16="http://schemas.microsoft.com/office/drawing/2014/main" id="{D7651270-AF33-89A2-188F-B1650B49DF07}"/>
              </a:ext>
            </a:extLst>
          </p:cNvPr>
          <p:cNvSpPr txBox="1"/>
          <p:nvPr/>
        </p:nvSpPr>
        <p:spPr>
          <a:xfrm>
            <a:off x="6029326" y="1031697"/>
            <a:ext cx="5168581" cy="3779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lc="http://schemas.openxmlformats.org/drawingml/2006/lockedCanvas"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noProof="0" dirty="0">
                <a:solidFill>
                  <a:srgbClr val="44546A"/>
                </a:solidFill>
                <a:cs typeface="Segoe UI Light" panose="020B0502040204020203" pitchFamily="34" charset="0"/>
              </a:rPr>
              <a:t>Containerization</a:t>
            </a:r>
          </a:p>
        </p:txBody>
      </p:sp>
      <p:sp>
        <p:nvSpPr>
          <p:cNvPr id="11" name="Line">
            <a:extLst>
              <a:ext uri="{FF2B5EF4-FFF2-40B4-BE49-F238E27FC236}">
                <a16:creationId xmlns:a16="http://schemas.microsoft.com/office/drawing/2014/main" id="{54429448-F15C-7F03-8F94-BF2F5D968256}"/>
              </a:ext>
            </a:extLst>
          </p:cNvPr>
          <p:cNvSpPr/>
          <p:nvPr/>
        </p:nvSpPr>
        <p:spPr>
          <a:xfrm>
            <a:off x="515938" y="1438456"/>
            <a:ext cx="4873480" cy="0"/>
          </a:xfrm>
          <a:prstGeom prst="line">
            <a:avLst/>
          </a:prstGeom>
          <a:noFill/>
          <a:ln w="50800" cap="flat">
            <a:solidFill>
              <a:srgbClr val="F94F00"/>
            </a:solidFill>
            <a:prstDash val="solid"/>
            <a:miter lim="400000"/>
          </a:ln>
          <a:effectLst/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en-US" sz="1200" b="1" i="0" u="none" strike="noStrike" kern="0" cap="none" spc="0" normalizeH="0" baseline="0" noProof="0" dirty="0">
              <a:ln>
                <a:noFill/>
              </a:ln>
              <a:solidFill>
                <a:schemeClr val="accent1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12" name="Mobilisation &amp; Inputs Gathering">
            <a:extLst>
              <a:ext uri="{FF2B5EF4-FFF2-40B4-BE49-F238E27FC236}">
                <a16:creationId xmlns:a16="http://schemas.microsoft.com/office/drawing/2014/main" id="{87E5A148-D42D-4A8A-4A7B-227FC670E55C}"/>
              </a:ext>
            </a:extLst>
          </p:cNvPr>
          <p:cNvSpPr txBox="1"/>
          <p:nvPr/>
        </p:nvSpPr>
        <p:spPr>
          <a:xfrm>
            <a:off x="678266" y="1609248"/>
            <a:ext cx="4531043" cy="197467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lc="http://schemas.openxmlformats.org/drawingml/2006/lockedCanvas"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We adopted a modular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two-layer design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:</a:t>
            </a:r>
          </a:p>
          <a:p>
            <a:pPr marL="628650" indent="-285750"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Backend: </a:t>
            </a:r>
            <a:r>
              <a:rPr lang="en-US" sz="1500" b="1" dirty="0" err="1">
                <a:solidFill>
                  <a:schemeClr val="accent1"/>
                </a:solidFill>
                <a:cs typeface="Segoe UI Light" panose="020B0502040204020203" pitchFamily="34" charset="0"/>
              </a:rPr>
              <a:t>FastAPI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 REST API 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serving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ML predictions 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(two endpoints: full features / top 30).</a:t>
            </a:r>
          </a:p>
          <a:p>
            <a:pPr marL="628650" indent="-285750"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Frontend: </a:t>
            </a:r>
            <a:r>
              <a:rPr lang="en-US" sz="1500" b="1" dirty="0" err="1">
                <a:solidFill>
                  <a:schemeClr val="accent1"/>
                </a:solidFill>
                <a:cs typeface="Segoe UI Light" panose="020B0502040204020203" pitchFamily="34" charset="0"/>
              </a:rPr>
              <a:t>Streamlit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-based UI 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enabling user interaction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This separation allowed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independent development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,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testing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 (e.g., with Postman)</a:t>
            </a:r>
          </a:p>
        </p:txBody>
      </p:sp>
      <p:sp>
        <p:nvSpPr>
          <p:cNvPr id="13" name="Mobilisation &amp; Inputs Gathering">
            <a:extLst>
              <a:ext uri="{FF2B5EF4-FFF2-40B4-BE49-F238E27FC236}">
                <a16:creationId xmlns:a16="http://schemas.microsoft.com/office/drawing/2014/main" id="{70D8A9A1-47E4-ABC0-3E7F-BE5F36B4E6BB}"/>
              </a:ext>
            </a:extLst>
          </p:cNvPr>
          <p:cNvSpPr txBox="1"/>
          <p:nvPr/>
        </p:nvSpPr>
        <p:spPr>
          <a:xfrm>
            <a:off x="5791199" y="1632242"/>
            <a:ext cx="5696269" cy="87233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lc="http://schemas.openxmlformats.org/drawingml/2006/lockedCanvas"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93675" indent="-193675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Both the frontend and backend were </a:t>
            </a:r>
          </a:p>
          <a:p>
            <a:pPr marL="539750" indent="-193675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fully containerized using Docker</a:t>
            </a:r>
          </a:p>
          <a:p>
            <a:pPr marL="539750" indent="-193675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deployed as isolated services</a:t>
            </a:r>
          </a:p>
          <a:p>
            <a:pPr marL="193675" indent="-193675">
              <a:buFont typeface="Arial" panose="020B0604020202020204" pitchFamily="34" charset="0"/>
              <a:buChar char="•"/>
            </a:pPr>
            <a:endParaRPr lang="en-US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  <a:p>
            <a:pPr marL="193675" indent="-193675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This enabled us to:</a:t>
            </a:r>
          </a:p>
          <a:p>
            <a:pPr marL="650875" lvl="1" indent="-193675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Standardize builds across environments (local and cloud).</a:t>
            </a:r>
          </a:p>
          <a:p>
            <a:pPr marL="650875" lvl="1" indent="-193675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Simplify testing and versioning.</a:t>
            </a:r>
          </a:p>
          <a:p>
            <a:pPr marL="193675" indent="-193675">
              <a:buFont typeface="Arial" panose="020B0604020202020204" pitchFamily="34" charset="0"/>
              <a:buChar char="•"/>
            </a:pPr>
            <a:endParaRPr lang="en-US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  <a:p>
            <a:pPr marL="193675" indent="-193675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Ensure parity between dev, staging, and production.</a:t>
            </a:r>
          </a:p>
        </p:txBody>
      </p:sp>
      <p:sp>
        <p:nvSpPr>
          <p:cNvPr id="15" name="Line">
            <a:extLst>
              <a:ext uri="{FF2B5EF4-FFF2-40B4-BE49-F238E27FC236}">
                <a16:creationId xmlns:a16="http://schemas.microsoft.com/office/drawing/2014/main" id="{0CCDFFCA-06E3-40D6-33A0-F31563955D7C}"/>
              </a:ext>
            </a:extLst>
          </p:cNvPr>
          <p:cNvSpPr/>
          <p:nvPr/>
        </p:nvSpPr>
        <p:spPr>
          <a:xfrm>
            <a:off x="5551747" y="1438456"/>
            <a:ext cx="6114791" cy="0"/>
          </a:xfrm>
          <a:prstGeom prst="line">
            <a:avLst/>
          </a:prstGeom>
          <a:noFill/>
          <a:ln w="50800" cap="flat">
            <a:solidFill>
              <a:srgbClr val="FFB310"/>
            </a:solidFill>
            <a:prstDash val="solid"/>
            <a:miter lim="400000"/>
          </a:ln>
          <a:effectLst/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en-US" sz="12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23" name="Rounded Rectangle">
            <a:extLst>
              <a:ext uri="{FF2B5EF4-FFF2-40B4-BE49-F238E27FC236}">
                <a16:creationId xmlns:a16="http://schemas.microsoft.com/office/drawing/2014/main" id="{6892E98A-DF5A-1040-F6C3-63A08A2AB1E4}"/>
              </a:ext>
            </a:extLst>
          </p:cNvPr>
          <p:cNvSpPr/>
          <p:nvPr/>
        </p:nvSpPr>
        <p:spPr>
          <a:xfrm>
            <a:off x="515938" y="4040584"/>
            <a:ext cx="4884740" cy="2303063"/>
          </a:xfrm>
          <a:prstGeom prst="roundRect">
            <a:avLst>
              <a:gd name="adj" fmla="val 3067"/>
            </a:avLst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sz="15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30" name="Mobilisation &amp; Inputs Gathering">
            <a:extLst>
              <a:ext uri="{FF2B5EF4-FFF2-40B4-BE49-F238E27FC236}">
                <a16:creationId xmlns:a16="http://schemas.microsoft.com/office/drawing/2014/main" id="{2D0F16AC-278D-D7C7-CFC1-5659661AF08A}"/>
              </a:ext>
            </a:extLst>
          </p:cNvPr>
          <p:cNvSpPr txBox="1"/>
          <p:nvPr/>
        </p:nvSpPr>
        <p:spPr>
          <a:xfrm>
            <a:off x="515937" y="4167612"/>
            <a:ext cx="5376861" cy="3779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lc="http://schemas.openxmlformats.org/drawingml/2006/lockedCanvas"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noProof="0" dirty="0">
                <a:solidFill>
                  <a:srgbClr val="44546A"/>
                </a:solidFill>
                <a:cs typeface="Segoe UI Light" panose="020B0502040204020203" pitchFamily="34" charset="0"/>
              </a:rPr>
              <a:t>Deployment on Azure</a:t>
            </a:r>
          </a:p>
        </p:txBody>
      </p:sp>
      <p:sp>
        <p:nvSpPr>
          <p:cNvPr id="32" name="Mobilisation &amp; Inputs Gathering">
            <a:extLst>
              <a:ext uri="{FF2B5EF4-FFF2-40B4-BE49-F238E27FC236}">
                <a16:creationId xmlns:a16="http://schemas.microsoft.com/office/drawing/2014/main" id="{0E4337C1-044D-1EF6-D36A-59FD7DE9BE1D}"/>
              </a:ext>
            </a:extLst>
          </p:cNvPr>
          <p:cNvSpPr txBox="1"/>
          <p:nvPr/>
        </p:nvSpPr>
        <p:spPr>
          <a:xfrm>
            <a:off x="805498" y="4717895"/>
            <a:ext cx="4186757" cy="11416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lc="http://schemas.openxmlformats.org/drawingml/2006/lockedCanvas"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We chose Azure for its enterprise-grade deployment capabilities and flexibility: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Azure App Service 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for both frontend (</a:t>
            </a:r>
            <a:r>
              <a:rPr lang="en-US" sz="1500" dirty="0" err="1">
                <a:solidFill>
                  <a:schemeClr val="accent1"/>
                </a:solidFill>
                <a:cs typeface="Segoe UI Light" panose="020B0502040204020203" pitchFamily="34" charset="0"/>
              </a:rPr>
              <a:t>Streamlit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) and backend (</a:t>
            </a:r>
            <a:r>
              <a:rPr lang="en-US" sz="1500" dirty="0" err="1">
                <a:solidFill>
                  <a:schemeClr val="accent1"/>
                </a:solidFill>
                <a:cs typeface="Segoe UI Light" panose="020B0502040204020203" pitchFamily="34" charset="0"/>
              </a:rPr>
              <a:t>FastAPI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Azure Container Registry (ACR)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 to host Docker images securely.</a:t>
            </a:r>
            <a:endParaRPr lang="fr-BE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</p:txBody>
      </p:sp>
      <p:sp>
        <p:nvSpPr>
          <p:cNvPr id="33" name="Line">
            <a:extLst>
              <a:ext uri="{FF2B5EF4-FFF2-40B4-BE49-F238E27FC236}">
                <a16:creationId xmlns:a16="http://schemas.microsoft.com/office/drawing/2014/main" id="{2BB991C4-FB9F-7CF2-621C-1B81F2CC3D44}"/>
              </a:ext>
            </a:extLst>
          </p:cNvPr>
          <p:cNvSpPr/>
          <p:nvPr/>
        </p:nvSpPr>
        <p:spPr>
          <a:xfrm>
            <a:off x="515938" y="4592513"/>
            <a:ext cx="4873480" cy="0"/>
          </a:xfrm>
          <a:prstGeom prst="line">
            <a:avLst/>
          </a:prstGeom>
          <a:noFill/>
          <a:ln w="50800" cap="flat">
            <a:solidFill>
              <a:srgbClr val="00B050"/>
            </a:solidFill>
            <a:prstDash val="solid"/>
            <a:miter lim="400000"/>
          </a:ln>
          <a:effectLst/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en-US" sz="12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34" name="Rounded Rectangle">
            <a:extLst>
              <a:ext uri="{FF2B5EF4-FFF2-40B4-BE49-F238E27FC236}">
                <a16:creationId xmlns:a16="http://schemas.microsoft.com/office/drawing/2014/main" id="{E5D190CC-A4BD-421A-6DDA-9769A729D13F}"/>
              </a:ext>
            </a:extLst>
          </p:cNvPr>
          <p:cNvSpPr/>
          <p:nvPr/>
        </p:nvSpPr>
        <p:spPr>
          <a:xfrm>
            <a:off x="5551747" y="4038756"/>
            <a:ext cx="6148762" cy="2304891"/>
          </a:xfrm>
          <a:prstGeom prst="roundRect">
            <a:avLst>
              <a:gd name="adj" fmla="val 3067"/>
            </a:avLst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sz="15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35" name="Mobilisation &amp; Inputs Gathering">
            <a:extLst>
              <a:ext uri="{FF2B5EF4-FFF2-40B4-BE49-F238E27FC236}">
                <a16:creationId xmlns:a16="http://schemas.microsoft.com/office/drawing/2014/main" id="{E32C0D2A-A0A3-8120-4091-74719F91FB31}"/>
              </a:ext>
            </a:extLst>
          </p:cNvPr>
          <p:cNvSpPr txBox="1"/>
          <p:nvPr/>
        </p:nvSpPr>
        <p:spPr>
          <a:xfrm>
            <a:off x="5551746" y="4169655"/>
            <a:ext cx="6148761" cy="3779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lc="http://schemas.openxmlformats.org/drawingml/2006/lockedCanvas"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noProof="0" dirty="0">
                <a:solidFill>
                  <a:srgbClr val="44546A"/>
                </a:solidFill>
                <a:cs typeface="Segoe UI Light" panose="020B0502040204020203" pitchFamily="34" charset="0"/>
              </a:rPr>
              <a:t>Deployment on Azure (benefits over Render)</a:t>
            </a:r>
          </a:p>
        </p:txBody>
      </p:sp>
      <p:sp>
        <p:nvSpPr>
          <p:cNvPr id="36" name="Mobilisation &amp; Inputs Gathering">
            <a:extLst>
              <a:ext uri="{FF2B5EF4-FFF2-40B4-BE49-F238E27FC236}">
                <a16:creationId xmlns:a16="http://schemas.microsoft.com/office/drawing/2014/main" id="{4F1B77C4-4035-1835-120F-218AF686A3FE}"/>
              </a:ext>
            </a:extLst>
          </p:cNvPr>
          <p:cNvSpPr txBox="1"/>
          <p:nvPr/>
        </p:nvSpPr>
        <p:spPr>
          <a:xfrm>
            <a:off x="5735782" y="4717226"/>
            <a:ext cx="5964725" cy="11416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lc="http://schemas.openxmlformats.org/drawingml/2006/lockedCanvas"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Better control over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environment variables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,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logs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, and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startup behavior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Built-in monitoring 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via Azure Monitor and Application Insights.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Stable and scalable infrastructure, with support for production-grade workloads.</a:t>
            </a:r>
            <a:endParaRPr lang="fr-BE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</p:txBody>
      </p:sp>
      <p:sp>
        <p:nvSpPr>
          <p:cNvPr id="37" name="Line">
            <a:extLst>
              <a:ext uri="{FF2B5EF4-FFF2-40B4-BE49-F238E27FC236}">
                <a16:creationId xmlns:a16="http://schemas.microsoft.com/office/drawing/2014/main" id="{305CAE86-B878-7893-0EC4-64745DDF5C62}"/>
              </a:ext>
            </a:extLst>
          </p:cNvPr>
          <p:cNvSpPr/>
          <p:nvPr/>
        </p:nvSpPr>
        <p:spPr>
          <a:xfrm>
            <a:off x="5551747" y="4606676"/>
            <a:ext cx="6148762" cy="0"/>
          </a:xfrm>
          <a:prstGeom prst="line">
            <a:avLst/>
          </a:prstGeom>
          <a:noFill/>
          <a:ln w="50800" cap="flat">
            <a:solidFill>
              <a:srgbClr val="00B0F0"/>
            </a:solidFill>
            <a:prstDash val="solid"/>
            <a:miter lim="400000"/>
          </a:ln>
          <a:effectLst/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en-US" sz="12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74116799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Contoso v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C567A"/>
      </a:accent1>
      <a:accent2>
        <a:srgbClr val="0072C7"/>
      </a:accent2>
      <a:accent3>
        <a:srgbClr val="0D1D51"/>
      </a:accent3>
      <a:accent4>
        <a:srgbClr val="666666"/>
      </a:accent4>
      <a:accent5>
        <a:srgbClr val="3C76A6"/>
      </a:accent5>
      <a:accent6>
        <a:srgbClr val="1E44BC"/>
      </a:accent6>
      <a:hlink>
        <a:srgbClr val="0563C1"/>
      </a:hlink>
      <a:folHlink>
        <a:srgbClr val="954F72"/>
      </a:folHlink>
    </a:clrScheme>
    <a:fontScheme name="Contoso v1">
      <a:majorFont>
        <a:latin typeface="Corbel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0740356_TF34076243" id="{4913AA83-2306-4E2D-8830-C2A4E9B3D067}" vid="{57B55DBD-592B-4A90-8C6D-F8F746751AD2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Contoso v1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2C567A"/>
    </a:accent1>
    <a:accent2>
      <a:srgbClr val="0072C7"/>
    </a:accent2>
    <a:accent3>
      <a:srgbClr val="0D1D51"/>
    </a:accent3>
    <a:accent4>
      <a:srgbClr val="666666"/>
    </a:accent4>
    <a:accent5>
      <a:srgbClr val="3C76A6"/>
    </a:accent5>
    <a:accent6>
      <a:srgbClr val="1E44BC"/>
    </a:accent6>
    <a:hlink>
      <a:srgbClr val="0563C1"/>
    </a:hlink>
    <a:folHlink>
      <a:srgbClr val="954F72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0" ma:contentTypeDescription="Create a new document." ma:contentTypeScope="" ma:versionID="e39e7e9e36de66d473ce04bb4ab2dbb8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9dc5994665da46609c24125788630d8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519797F-2510-4681-A59B-FCD8F3733FE0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A4C31332-3081-4BD9-AD6F-078B4521F35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FF4E1AF-DB5E-4764-961C-6F82B33E9E6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Présentation sphérique en bleu</Template>
  <TotalTime>8113</TotalTime>
  <Words>1415</Words>
  <Application>Microsoft Office PowerPoint</Application>
  <PresentationFormat>Widescreen</PresentationFormat>
  <Paragraphs>169</Paragraphs>
  <Slides>9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Arial</vt:lpstr>
      <vt:lpstr>Calibri</vt:lpstr>
      <vt:lpstr>Corbel</vt:lpstr>
      <vt:lpstr>Segoe UI (Body)</vt:lpstr>
      <vt:lpstr>Segoe UI Light</vt:lpstr>
      <vt:lpstr>Wingdings</vt:lpstr>
      <vt:lpstr>Thème Office</vt:lpstr>
      <vt:lpstr>Real Estate Price Predictor - deployment</vt:lpstr>
      <vt:lpstr>Deployment strategy</vt:lpstr>
      <vt:lpstr>Challenges </vt:lpstr>
      <vt:lpstr>Demo</vt:lpstr>
      <vt:lpstr>Limits &amp; Next Steps</vt:lpstr>
      <vt:lpstr>Cloud deployment</vt:lpstr>
      <vt:lpstr>Real Estate App Deployment with Docker &amp; Azure Services</vt:lpstr>
      <vt:lpstr>Backup slide</vt:lpstr>
      <vt:lpstr>Deployment strategy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Titre de la présentation</dc:title>
  <dc:creator>Yves Schillings</dc:creator>
  <cp:lastModifiedBy>Yves SCHILLINGS</cp:lastModifiedBy>
  <cp:revision>411</cp:revision>
  <dcterms:created xsi:type="dcterms:W3CDTF">2024-05-06T12:06:53Z</dcterms:created>
  <dcterms:modified xsi:type="dcterms:W3CDTF">2025-07-10T10:58:32Z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