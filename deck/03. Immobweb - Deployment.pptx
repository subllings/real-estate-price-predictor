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7" r:id="rId5"/>
    <p:sldId id="410" r:id="rId6"/>
    <p:sldId id="412" r:id="rId7"/>
    <p:sldId id="411" r:id="rId8"/>
    <p:sldId id="408" r:id="rId9"/>
    <p:sldId id="409" r:id="rId1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368"/>
    <a:srgbClr val="0072C7"/>
    <a:srgbClr val="F94F00"/>
    <a:srgbClr val="D73285"/>
    <a:srgbClr val="F5F5F5"/>
    <a:srgbClr val="464646"/>
    <a:srgbClr val="FFB310"/>
    <a:srgbClr val="FAFAFA"/>
    <a:srgbClr val="FFFFFF"/>
    <a:srgbClr val="A973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07" autoAdjust="0"/>
    <p:restoredTop sz="56622" autoAdjust="0"/>
  </p:normalViewPr>
  <p:slideViewPr>
    <p:cSldViewPr snapToGrid="0" showGuides="1">
      <p:cViewPr varScale="1">
        <p:scale>
          <a:sx n="80" d="100"/>
          <a:sy n="80" d="100"/>
        </p:scale>
        <p:origin x="3592" y="4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4328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23DB037-710F-4A44-BDF0-28DC42F2FAE9}" type="datetime1">
              <a:rPr lang="fr-FR" smtClean="0"/>
              <a:t>09/07/2025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718FD-5C33-42D8-BCA9-0B83DD06AC51}" type="datetime1">
              <a:rPr lang="fr-FR" smtClean="0"/>
              <a:pPr/>
              <a:t>09/07/2025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7EB7-82ED-461E-092B-1C4B4675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0906A-1723-FA26-1162-E9E0443B4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68E71-A821-DC96-C5FB-1D67F4F5B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– Deployment Strategy (Short Talk)</a:t>
            </a:r>
          </a:p>
          <a:p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adopted a </a:t>
            </a:r>
            <a:r>
              <a:rPr lang="en-US" b="1" dirty="0"/>
              <a:t>modular two-layer design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/>
              <a:t>FastAPI</a:t>
            </a:r>
            <a:r>
              <a:rPr lang="en-US" dirty="0"/>
              <a:t> backend serving two prediction endpoints.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/>
              <a:t>Streamlit</a:t>
            </a:r>
            <a:r>
              <a:rPr lang="en-US" dirty="0"/>
              <a:t>-based frontend for user interaction.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allowed </a:t>
            </a:r>
            <a:r>
              <a:rPr lang="en-US" b="1" dirty="0"/>
              <a:t>independent development and testing</a:t>
            </a:r>
            <a:r>
              <a:rPr lang="en-US" dirty="0"/>
              <a:t>, e.g., with Postman.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containerized both services with Docker, deployed them separately, and ensured consistent builds across environments. This helped with </a:t>
            </a:r>
            <a:r>
              <a:rPr lang="en-US" b="1" dirty="0"/>
              <a:t>versioning, testing</a:t>
            </a:r>
            <a:r>
              <a:rPr lang="en-US" dirty="0"/>
              <a:t>, and </a:t>
            </a:r>
            <a:r>
              <a:rPr lang="en-US" b="1" dirty="0"/>
              <a:t>parity</a:t>
            </a:r>
            <a:r>
              <a:rPr lang="en-US" dirty="0"/>
              <a:t> between dev, staging, and production.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deployment, we chose </a:t>
            </a:r>
            <a:r>
              <a:rPr lang="en-US" b="1" dirty="0"/>
              <a:t>Azure</a:t>
            </a:r>
            <a:r>
              <a:rPr lang="en-US" dirty="0"/>
              <a:t> for its enterprise-grade flexibility: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used Azure App Service for both frontend and backend,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ACR to securely host Docker images.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Compared to Render, Azure gives us better control over </a:t>
            </a:r>
            <a:r>
              <a:rPr lang="en-US" b="1" dirty="0"/>
              <a:t>startup behavior</a:t>
            </a:r>
            <a:r>
              <a:rPr lang="en-US" dirty="0"/>
              <a:t>, </a:t>
            </a:r>
            <a:r>
              <a:rPr lang="en-US" b="1" dirty="0"/>
              <a:t>environment variables</a:t>
            </a:r>
            <a:r>
              <a:rPr lang="en-US" dirty="0"/>
              <a:t>, and </a:t>
            </a:r>
            <a:r>
              <a:rPr lang="en-US" b="1" dirty="0"/>
              <a:t>logs</a:t>
            </a:r>
            <a:r>
              <a:rPr lang="en-US" dirty="0"/>
              <a:t>, along with built-in </a:t>
            </a:r>
            <a:r>
              <a:rPr lang="en-US" b="1" dirty="0"/>
              <a:t>monitoring tools</a:t>
            </a:r>
            <a:r>
              <a:rPr lang="en-US" dirty="0"/>
              <a:t> and scalable infrastructure.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FD9D9-44A1-B1C8-984C-541E4300F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806721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– Real Estate App Deployment (Talk)</a:t>
            </a:r>
          </a:p>
          <a:p>
            <a:r>
              <a:rPr lang="en-US" dirty="0"/>
              <a:t>This diagram shows our </a:t>
            </a:r>
            <a:r>
              <a:rPr lang="en-US" b="1" dirty="0"/>
              <a:t>end-to-end architecture</a:t>
            </a:r>
            <a:r>
              <a:rPr lang="en-US" dirty="0"/>
              <a:t> for deploying the real estate price prediction app using </a:t>
            </a:r>
            <a:r>
              <a:rPr lang="en-US" b="1" dirty="0"/>
              <a:t>Docker and Azure services</a:t>
            </a:r>
            <a:r>
              <a:rPr lang="en-US" dirty="0"/>
              <a:t>.</a:t>
            </a:r>
          </a:p>
          <a:p>
            <a:r>
              <a:rPr lang="en-US" dirty="0"/>
              <a:t>We designed the system with </a:t>
            </a:r>
            <a:r>
              <a:rPr lang="en-US" b="1" dirty="0"/>
              <a:t>two separate components</a:t>
            </a:r>
            <a:r>
              <a:rPr lang="en-US" dirty="0"/>
              <a:t>:</a:t>
            </a:r>
          </a:p>
          <a:p>
            <a:r>
              <a:rPr lang="en-US" b="1" dirty="0"/>
              <a:t>1. Frontend – </a:t>
            </a:r>
            <a:r>
              <a:rPr lang="en-US" b="1" dirty="0" err="1"/>
              <a:t>Streamlit</a:t>
            </a:r>
            <a:r>
              <a:rPr lang="en-US" b="1" dirty="0"/>
              <a:t> UI</a:t>
            </a:r>
          </a:p>
          <a:p>
            <a:r>
              <a:rPr lang="en-US" dirty="0"/>
              <a:t>The user interacts with a simple interface to input property details.</a:t>
            </a:r>
          </a:p>
          <a:p>
            <a:r>
              <a:rPr lang="en-US" dirty="0"/>
              <a:t>These inputs are processed by the </a:t>
            </a:r>
            <a:r>
              <a:rPr lang="en-US" dirty="0" err="1"/>
              <a:t>InputFeatureConverter</a:t>
            </a:r>
            <a:r>
              <a:rPr lang="en-US" dirty="0"/>
              <a:t>, then passed as </a:t>
            </a:r>
            <a:r>
              <a:rPr lang="en-US" b="1" dirty="0"/>
              <a:t>JSON</a:t>
            </a:r>
            <a:r>
              <a:rPr lang="en-US" dirty="0"/>
              <a:t> to the backend API.</a:t>
            </a:r>
          </a:p>
          <a:p>
            <a:r>
              <a:rPr lang="en-US" dirty="0"/>
              <a:t>After receiving the predicted price, the result is displayed to the user.</a:t>
            </a:r>
          </a:p>
          <a:p>
            <a:r>
              <a:rPr lang="en-US" b="1" dirty="0"/>
              <a:t>2. Backend – </a:t>
            </a:r>
            <a:r>
              <a:rPr lang="en-US" b="1" dirty="0" err="1"/>
              <a:t>FastAPI</a:t>
            </a:r>
            <a:endParaRPr lang="en-US" b="1" dirty="0"/>
          </a:p>
          <a:p>
            <a:r>
              <a:rPr lang="en-US" dirty="0"/>
              <a:t>The backend exposes a </a:t>
            </a:r>
            <a:r>
              <a:rPr lang="en-US" b="1" dirty="0"/>
              <a:t>REST API</a:t>
            </a:r>
            <a:r>
              <a:rPr lang="en-US" dirty="0"/>
              <a:t> with two endpoints:</a:t>
            </a:r>
          </a:p>
          <a:p>
            <a:pPr lvl="1"/>
            <a:r>
              <a:rPr lang="en-US" dirty="0"/>
              <a:t>Predict All: uses all features for maximum accuracy.</a:t>
            </a:r>
          </a:p>
          <a:p>
            <a:pPr lvl="1"/>
            <a:r>
              <a:rPr lang="en-US" dirty="0"/>
              <a:t>Predict Top 30: uses only the 30 most important features for a faster, lightweight prediction.</a:t>
            </a:r>
          </a:p>
          <a:p>
            <a:r>
              <a:rPr lang="en-US" dirty="0"/>
              <a:t>Both endpoints load the appropriate .</a:t>
            </a:r>
            <a:r>
              <a:rPr lang="en-US" dirty="0" err="1"/>
              <a:t>pkl</a:t>
            </a:r>
            <a:r>
              <a:rPr lang="en-US" dirty="0"/>
              <a:t> models and return the prediction as JSON.</a:t>
            </a:r>
          </a:p>
          <a:p>
            <a:r>
              <a:rPr lang="en-US" b="1" dirty="0"/>
              <a:t>3. Containerization &amp; Azure Deployment</a:t>
            </a:r>
          </a:p>
          <a:p>
            <a:r>
              <a:rPr lang="en-US" dirty="0"/>
              <a:t>We built </a:t>
            </a:r>
            <a:r>
              <a:rPr lang="en-US" b="1" dirty="0"/>
              <a:t>separate Docker images</a:t>
            </a:r>
            <a:r>
              <a:rPr lang="en-US" dirty="0"/>
              <a:t> for the frontend and backend.</a:t>
            </a:r>
          </a:p>
          <a:p>
            <a:r>
              <a:rPr lang="en-US" dirty="0"/>
              <a:t>These images are pushed to </a:t>
            </a:r>
            <a:r>
              <a:rPr lang="en-US" b="1" dirty="0"/>
              <a:t>Azure Container Registry (ACR)</a:t>
            </a:r>
            <a:r>
              <a:rPr lang="en-US" dirty="0"/>
              <a:t>.</a:t>
            </a:r>
          </a:p>
          <a:p>
            <a:r>
              <a:rPr lang="en-US" dirty="0"/>
              <a:t>They are then deployed to </a:t>
            </a:r>
            <a:r>
              <a:rPr lang="en-US" b="1" dirty="0"/>
              <a:t>Azure App Service</a:t>
            </a:r>
            <a:r>
              <a:rPr lang="en-US" dirty="0"/>
              <a:t> — one for the frontend UI, one for the backend API.</a:t>
            </a:r>
          </a:p>
          <a:p>
            <a:r>
              <a:rPr lang="en-US" dirty="0"/>
              <a:t>We use </a:t>
            </a:r>
            <a:r>
              <a:rPr lang="en-US" b="1" dirty="0"/>
              <a:t>Azure Monitor and Application Insights</a:t>
            </a:r>
            <a:r>
              <a:rPr lang="en-US" dirty="0"/>
              <a:t> for observability and diagnostics.</a:t>
            </a:r>
          </a:p>
          <a:p>
            <a:r>
              <a:rPr lang="en-US" dirty="0"/>
              <a:t>This setup ensures </a:t>
            </a:r>
            <a:r>
              <a:rPr lang="en-US" b="1" dirty="0"/>
              <a:t>modularity, scalability, and traceability</a:t>
            </a:r>
            <a:r>
              <a:rPr lang="en-US" dirty="0"/>
              <a:t>, with each component independently testable and upgradable.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88038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852F-A958-B4E4-75BD-F2665FC8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820DB-4134-2D8F-B0FB-1E84D8141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C11C9-84B7-9D19-D456-E1CEFBCDC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is great for prototyping, but it doesn't scale well for complex production apps. </a:t>
            </a:r>
          </a:p>
          <a:p>
            <a:r>
              <a:rPr lang="en-US" dirty="0"/>
              <a:t>Here’s why we may </a:t>
            </a:r>
            <a:r>
              <a:rPr lang="en-US" dirty="0" err="1"/>
              <a:t>moveto</a:t>
            </a:r>
            <a:r>
              <a:rPr lang="en-US" dirty="0"/>
              <a:t> frameworks like </a:t>
            </a:r>
            <a:r>
              <a:rPr lang="en-US" b="1" dirty="0"/>
              <a:t>React</a:t>
            </a:r>
            <a:r>
              <a:rPr lang="en-US" dirty="0"/>
              <a:t>: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Streamlit</a:t>
            </a:r>
            <a:r>
              <a:rPr lang="en-US" dirty="0"/>
              <a:t> has no routing and lacks advanced state management.</a:t>
            </a:r>
            <a:br>
              <a:rPr lang="en-US" dirty="0"/>
            </a:br>
            <a:r>
              <a:rPr lang="en-US" dirty="0"/>
              <a:t>With React or Angular, we get </a:t>
            </a:r>
            <a:r>
              <a:rPr lang="en-US" b="1" dirty="0"/>
              <a:t>client-side routing</a:t>
            </a:r>
            <a:r>
              <a:rPr lang="en-US" dirty="0"/>
              <a:t> and </a:t>
            </a:r>
            <a:r>
              <a:rPr lang="en-US" b="1" dirty="0"/>
              <a:t>global state control</a:t>
            </a:r>
            <a:r>
              <a:rPr lang="en-US" dirty="0"/>
              <a:t> using tools like Redux.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Streamlit</a:t>
            </a:r>
            <a:r>
              <a:rPr lang="en-US" dirty="0"/>
              <a:t> is limited in UI flexibility and mobile responsiveness.</a:t>
            </a:r>
            <a:br>
              <a:rPr lang="en-US" dirty="0"/>
            </a:br>
            <a:r>
              <a:rPr lang="en-US" dirty="0"/>
              <a:t>In React, we can fully </a:t>
            </a:r>
            <a:r>
              <a:rPr lang="en-US" b="1" dirty="0"/>
              <a:t>customize the design</a:t>
            </a:r>
            <a:r>
              <a:rPr lang="en-US" dirty="0"/>
              <a:t> with CSS, Tailwind, and animations.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Security is very basic on </a:t>
            </a:r>
            <a:r>
              <a:rPr lang="en-US" dirty="0" err="1"/>
              <a:t>Streamlit</a:t>
            </a:r>
            <a:r>
              <a:rPr lang="en-US" dirty="0"/>
              <a:t> — no enterprise-grade access control.</a:t>
            </a:r>
            <a:br>
              <a:rPr lang="en-US" dirty="0"/>
            </a:br>
            <a:r>
              <a:rPr lang="en-US" dirty="0"/>
              <a:t>Modern frameworks integrate with </a:t>
            </a:r>
            <a:r>
              <a:rPr lang="en-US" b="1" dirty="0"/>
              <a:t>OAuth2, Firebase, or Azure AD</a:t>
            </a:r>
            <a:r>
              <a:rPr lang="en-US" dirty="0"/>
              <a:t>, enabling </a:t>
            </a:r>
            <a:r>
              <a:rPr lang="en-US" b="1" dirty="0"/>
              <a:t>fine-grained user access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737D3-F154-BA75-AFA6-566E4EE4D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82010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F387-FBB8-21A8-D8C7-BFA60B19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EB048-8144-71CF-0979-DCA532398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5F3F4-FB20-4E2F-1275-3B04622E4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moved from Render to Azure to gain more control, automation, and observability.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Here's a summary of the main reasons: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Render offers limited control over container startup, ports, and environment variables.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Azure provides full control over these aspects.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experienced cold starts and inconsistent performance on Render.</a:t>
            </a:r>
            <a:br>
              <a:rPr lang="en-US" dirty="0"/>
            </a:b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Azure ensures stable performance with autoscaling and production-grade plans.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Render lacks scripting tools for automated deployments.</a:t>
            </a:r>
            <a:br>
              <a:rPr lang="en-US" dirty="0"/>
            </a:b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Azure supports full automation via CLI and Infrastructure as Code tools like Bicep and Terraform.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Render does not offer integrated monitoring or diagnostics.</a:t>
            </a:r>
            <a:br>
              <a:rPr lang="en-US" dirty="0"/>
            </a:br>
            <a:r>
              <a:rPr lang="en-US" dirty="0"/>
              <a:t>Azure includes tools like Monitor and Application Insights for observability and debugging.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C136A-C575-2830-EA9B-F07BAEFCB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28286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13">
            <a:extLst>
              <a:ext uri="{FF2B5EF4-FFF2-40B4-BE49-F238E27FC236}">
                <a16:creationId xmlns:a16="http://schemas.microsoft.com/office/drawing/2014/main" id="{4CBBF2B8-706E-B44D-97A9-0D39894DD103}"/>
              </a:ext>
            </a:extLst>
          </p:cNvPr>
          <p:cNvSpPr/>
          <p:nvPr userDrawn="1"/>
        </p:nvSpPr>
        <p:spPr>
          <a:xfrm>
            <a:off x="0" y="946150"/>
            <a:ext cx="3413125" cy="50785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4059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sous-titre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4059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001" y="927100"/>
            <a:ext cx="5107104" cy="5107104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7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e 3">
            <a:extLst>
              <a:ext uri="{FF2B5EF4-FFF2-40B4-BE49-F238E27FC236}">
                <a16:creationId xmlns:a16="http://schemas.microsoft.com/office/drawing/2014/main" id="{A3810CFD-79E6-B72B-CEA1-215AAF66B3B1}"/>
              </a:ext>
            </a:extLst>
          </p:cNvPr>
          <p:cNvSpPr/>
          <p:nvPr userDrawn="1"/>
        </p:nvSpPr>
        <p:spPr>
          <a:xfrm>
            <a:off x="474441" y="701041"/>
            <a:ext cx="5621559" cy="5593080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lide_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sous-titre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E79295A-6329-DCD2-C50F-8266607D726E}"/>
              </a:ext>
            </a:extLst>
          </p:cNvPr>
          <p:cNvSpPr txBox="1"/>
          <p:nvPr userDrawn="1"/>
        </p:nvSpPr>
        <p:spPr>
          <a:xfrm>
            <a:off x="6343650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Klebert, Preeti, Sofia, Yves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1832B6A8-6A08-18E1-91EB-6DAAE10C2064}"/>
              </a:ext>
            </a:extLst>
          </p:cNvPr>
          <p:cNvSpPr>
            <a:spLocks/>
          </p:cNvSpPr>
          <p:nvPr userDrawn="1"/>
        </p:nvSpPr>
        <p:spPr bwMode="auto">
          <a:xfrm rot="18900000">
            <a:off x="137557" y="799106"/>
            <a:ext cx="3908719" cy="7654304"/>
          </a:xfrm>
          <a:custGeom>
            <a:avLst/>
            <a:gdLst>
              <a:gd name="T0" fmla="*/ 0 w 196"/>
              <a:gd name="T1" fmla="*/ 198 h 393"/>
              <a:gd name="T2" fmla="*/ 157 w 196"/>
              <a:gd name="T3" fmla="*/ 8 h 393"/>
              <a:gd name="T4" fmla="*/ 192 w 196"/>
              <a:gd name="T5" fmla="*/ 22 h 393"/>
              <a:gd name="T6" fmla="*/ 167 w 196"/>
              <a:gd name="T7" fmla="*/ 56 h 393"/>
              <a:gd name="T8" fmla="*/ 48 w 196"/>
              <a:gd name="T9" fmla="*/ 198 h 393"/>
              <a:gd name="T10" fmla="*/ 170 w 196"/>
              <a:gd name="T11" fmla="*/ 339 h 393"/>
              <a:gd name="T12" fmla="*/ 193 w 196"/>
              <a:gd name="T13" fmla="*/ 372 h 393"/>
              <a:gd name="T14" fmla="*/ 160 w 196"/>
              <a:gd name="T15" fmla="*/ 387 h 393"/>
              <a:gd name="T16" fmla="*/ 0 w 196"/>
              <a:gd name="T17" fmla="*/ 198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6" h="393">
                <a:moveTo>
                  <a:pt x="0" y="198"/>
                </a:moveTo>
                <a:cubicBezTo>
                  <a:pt x="0" y="103"/>
                  <a:pt x="64" y="26"/>
                  <a:pt x="157" y="8"/>
                </a:cubicBezTo>
                <a:cubicBezTo>
                  <a:pt x="171" y="6"/>
                  <a:pt x="188" y="0"/>
                  <a:pt x="192" y="22"/>
                </a:cubicBezTo>
                <a:cubicBezTo>
                  <a:pt x="196" y="41"/>
                  <a:pt x="190" y="52"/>
                  <a:pt x="167" y="56"/>
                </a:cubicBezTo>
                <a:cubicBezTo>
                  <a:pt x="95" y="70"/>
                  <a:pt x="47" y="129"/>
                  <a:pt x="48" y="198"/>
                </a:cubicBezTo>
                <a:cubicBezTo>
                  <a:pt x="48" y="267"/>
                  <a:pt x="97" y="325"/>
                  <a:pt x="170" y="339"/>
                </a:cubicBezTo>
                <a:cubicBezTo>
                  <a:pt x="191" y="343"/>
                  <a:pt x="195" y="354"/>
                  <a:pt x="193" y="372"/>
                </a:cubicBezTo>
                <a:cubicBezTo>
                  <a:pt x="190" y="393"/>
                  <a:pt x="174" y="389"/>
                  <a:pt x="160" y="387"/>
                </a:cubicBezTo>
                <a:cubicBezTo>
                  <a:pt x="70" y="375"/>
                  <a:pt x="0" y="293"/>
                  <a:pt x="0" y="198"/>
                </a:cubicBezTo>
                <a:close/>
              </a:path>
            </a:pathLst>
          </a:custGeom>
          <a:solidFill>
            <a:schemeClr val="bg2">
              <a:alpha val="91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12140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’en-tête de section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Le texte factice vient ici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F5677D09-47D7-CCF7-2824-73AE268C3491}"/>
              </a:ext>
            </a:extLst>
          </p:cNvPr>
          <p:cNvSpPr/>
          <p:nvPr userDrawn="1"/>
        </p:nvSpPr>
        <p:spPr>
          <a:xfrm>
            <a:off x="2725725" y="2057869"/>
            <a:ext cx="6740550" cy="6706402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3" name="Espace réservé d’image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 dirty="0"/>
              <a:t>Click icon to add picture</a:t>
            </a:r>
            <a:endParaRPr lang="fr-FR" noProof="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701AE4-277C-9A10-FE8A-9778D46D8C86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F4D28FD-B22F-E8CD-6EAE-7714345CB627}"/>
              </a:ext>
            </a:extLst>
          </p:cNvPr>
          <p:cNvSpPr/>
          <p:nvPr userDrawn="1"/>
        </p:nvSpPr>
        <p:spPr>
          <a:xfrm>
            <a:off x="5595924" y="-1664724"/>
            <a:ext cx="7764475" cy="7725140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a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62871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219700" y="744537"/>
            <a:ext cx="5327650" cy="541972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8" name="Espace réservé d’image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D5D98-9711-D54A-A698-B6CE8FFA62DB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3" name="Espace réservé d’image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792E1-F742-3074-A5F9-070939893A6F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 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accent2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La rubrique 01 inclut ici</a:t>
            </a:r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La rubrique 02 inclut ici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Espace réservé d’image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9" name="Espace réservé d’image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5">
            <a:extLst>
              <a:ext uri="{FF2B5EF4-FFF2-40B4-BE49-F238E27FC236}">
                <a16:creationId xmlns:a16="http://schemas.microsoft.com/office/drawing/2014/main" id="{1C1A95BC-42CA-4166-918D-DF4306881408}"/>
              </a:ext>
            </a:extLst>
          </p:cNvPr>
          <p:cNvSpPr>
            <a:spLocks/>
          </p:cNvSpPr>
          <p:nvPr/>
        </p:nvSpPr>
        <p:spPr bwMode="auto">
          <a:xfrm rot="8650774" flipH="1" flipV="1">
            <a:off x="7430044" y="-1843126"/>
            <a:ext cx="4436224" cy="5482435"/>
          </a:xfrm>
          <a:custGeom>
            <a:avLst/>
            <a:gdLst>
              <a:gd name="T0" fmla="*/ 0 w 447"/>
              <a:gd name="T1" fmla="*/ 264 h 553"/>
              <a:gd name="T2" fmla="*/ 141 w 447"/>
              <a:gd name="T3" fmla="*/ 48 h 553"/>
              <a:gd name="T4" fmla="*/ 414 w 447"/>
              <a:gd name="T5" fmla="*/ 67 h 553"/>
              <a:gd name="T6" fmla="*/ 438 w 447"/>
              <a:gd name="T7" fmla="*/ 98 h 553"/>
              <a:gd name="T8" fmla="*/ 391 w 447"/>
              <a:gd name="T9" fmla="*/ 111 h 553"/>
              <a:gd name="T10" fmla="*/ 94 w 447"/>
              <a:gd name="T11" fmla="*/ 149 h 553"/>
              <a:gd name="T12" fmla="*/ 107 w 447"/>
              <a:gd name="T13" fmla="*/ 424 h 553"/>
              <a:gd name="T14" fmla="*/ 383 w 447"/>
              <a:gd name="T15" fmla="*/ 453 h 553"/>
              <a:gd name="T16" fmla="*/ 393 w 447"/>
              <a:gd name="T17" fmla="*/ 446 h 553"/>
              <a:gd name="T18" fmla="*/ 433 w 447"/>
              <a:gd name="T19" fmla="*/ 449 h 553"/>
              <a:gd name="T20" fmla="*/ 421 w 447"/>
              <a:gd name="T21" fmla="*/ 485 h 553"/>
              <a:gd name="T22" fmla="*/ 194 w 447"/>
              <a:gd name="T23" fmla="*/ 531 h 553"/>
              <a:gd name="T24" fmla="*/ 0 w 447"/>
              <a:gd name="T25" fmla="*/ 264 h 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7" h="553">
                <a:moveTo>
                  <a:pt x="0" y="264"/>
                </a:moveTo>
                <a:cubicBezTo>
                  <a:pt x="5" y="176"/>
                  <a:pt x="49" y="96"/>
                  <a:pt x="141" y="48"/>
                </a:cubicBezTo>
                <a:cubicBezTo>
                  <a:pt x="235" y="0"/>
                  <a:pt x="327" y="9"/>
                  <a:pt x="414" y="67"/>
                </a:cubicBezTo>
                <a:cubicBezTo>
                  <a:pt x="425" y="75"/>
                  <a:pt x="439" y="82"/>
                  <a:pt x="438" y="98"/>
                </a:cubicBezTo>
                <a:cubicBezTo>
                  <a:pt x="437" y="120"/>
                  <a:pt x="413" y="127"/>
                  <a:pt x="391" y="111"/>
                </a:cubicBezTo>
                <a:cubicBezTo>
                  <a:pt x="294" y="40"/>
                  <a:pt x="166" y="56"/>
                  <a:pt x="94" y="149"/>
                </a:cubicBezTo>
                <a:cubicBezTo>
                  <a:pt x="30" y="231"/>
                  <a:pt x="36" y="349"/>
                  <a:pt x="107" y="424"/>
                </a:cubicBezTo>
                <a:cubicBezTo>
                  <a:pt x="180" y="502"/>
                  <a:pt x="296" y="514"/>
                  <a:pt x="383" y="453"/>
                </a:cubicBezTo>
                <a:cubicBezTo>
                  <a:pt x="386" y="451"/>
                  <a:pt x="390" y="449"/>
                  <a:pt x="393" y="446"/>
                </a:cubicBezTo>
                <a:cubicBezTo>
                  <a:pt x="407" y="433"/>
                  <a:pt x="420" y="433"/>
                  <a:pt x="433" y="449"/>
                </a:cubicBezTo>
                <a:cubicBezTo>
                  <a:pt x="447" y="467"/>
                  <a:pt x="433" y="477"/>
                  <a:pt x="421" y="485"/>
                </a:cubicBezTo>
                <a:cubicBezTo>
                  <a:pt x="353" y="537"/>
                  <a:pt x="277" y="553"/>
                  <a:pt x="194" y="531"/>
                </a:cubicBezTo>
                <a:cubicBezTo>
                  <a:pt x="79" y="501"/>
                  <a:pt x="1" y="397"/>
                  <a:pt x="0" y="264"/>
                </a:cubicBezTo>
                <a:close/>
              </a:path>
            </a:pathLst>
          </a:custGeom>
          <a:solidFill>
            <a:schemeClr val="bg2"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0346-C48D-9154-4B3A-BC0A857667B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3" name="Ovale 14">
            <a:extLst>
              <a:ext uri="{FF2B5EF4-FFF2-40B4-BE49-F238E27FC236}">
                <a16:creationId xmlns:a16="http://schemas.microsoft.com/office/drawing/2014/main" id="{A0FA356A-CDA9-3E00-45F3-46BC0E4E851C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0FDC1-90C9-20B8-59C6-400EFDED6889}"/>
              </a:ext>
            </a:extLst>
          </p:cNvPr>
          <p:cNvSpPr txBox="1"/>
          <p:nvPr userDrawn="1"/>
        </p:nvSpPr>
        <p:spPr>
          <a:xfrm>
            <a:off x="11294533" y="6409397"/>
            <a:ext cx="4425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9EC71654-96A5-4280-94F3-931C61A9F92C}" type="slidenum">
              <a:rPr lang="fr-FR" sz="1100" noProof="0" smtClean="0">
                <a:solidFill>
                  <a:schemeClr val="bg1"/>
                </a:solidFill>
              </a:rPr>
              <a:pPr algn="ctr"/>
              <a:t>‹#›</a:t>
            </a:fld>
            <a:endParaRPr lang="fr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0346-C48D-9154-4B3A-BC0A857667B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12" name="Ovale 14">
            <a:extLst>
              <a:ext uri="{FF2B5EF4-FFF2-40B4-BE49-F238E27FC236}">
                <a16:creationId xmlns:a16="http://schemas.microsoft.com/office/drawing/2014/main" id="{734766E6-4390-378C-A712-DB530A8039E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86DB4-DBFC-EBAD-1FA5-32FDD1B7F359}"/>
              </a:ext>
            </a:extLst>
          </p:cNvPr>
          <p:cNvSpPr txBox="1"/>
          <p:nvPr userDrawn="1"/>
        </p:nvSpPr>
        <p:spPr>
          <a:xfrm>
            <a:off x="11218333" y="6418617"/>
            <a:ext cx="5888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9EC71654-96A5-4280-94F3-931C61A9F92C}" type="slidenum">
              <a:rPr lang="fr-FR" sz="1100" noProof="0" smtClean="0">
                <a:solidFill>
                  <a:schemeClr val="bg1"/>
                </a:solidFill>
              </a:rPr>
              <a:pPr algn="ctr"/>
              <a:t>‹#›</a:t>
            </a:fld>
            <a:endParaRPr lang="fr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73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0346-C48D-9154-4B3A-BC0A857667B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5" name="Ovale 14">
            <a:extLst>
              <a:ext uri="{FF2B5EF4-FFF2-40B4-BE49-F238E27FC236}">
                <a16:creationId xmlns:a16="http://schemas.microsoft.com/office/drawing/2014/main" id="{8031AE70-6869-01C6-A2C4-A0EA198A2A4B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EC908-6DAD-0441-5F48-763968F5C814}"/>
              </a:ext>
            </a:extLst>
          </p:cNvPr>
          <p:cNvSpPr txBox="1"/>
          <p:nvPr userDrawn="1"/>
        </p:nvSpPr>
        <p:spPr>
          <a:xfrm>
            <a:off x="11226800" y="6417385"/>
            <a:ext cx="5785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9EC71654-96A5-4280-94F3-931C61A9F92C}" type="slidenum">
              <a:rPr lang="fr-FR" sz="1100" noProof="0" smtClean="0">
                <a:solidFill>
                  <a:schemeClr val="bg1"/>
                </a:solidFill>
              </a:rPr>
              <a:pPr algn="ctr"/>
              <a:t>‹#›</a:t>
            </a:fld>
            <a:endParaRPr lang="fr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58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’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Ovale 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5" name="Ovale 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2" name="Forme libre : Forme 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7" name="Forme libre : Forme 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1" name="Espace réservé d’image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2" name="Espace réservé d’image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3" name="Espace réservé d’image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33" name="Espace réservé du contenu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725763-0538-50B3-49D9-E960F4466C77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courrier électronique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fr-FR" noProof="0" dirty="0"/>
              <a:t>Url site web ici</a:t>
            </a:r>
          </a:p>
        </p:txBody>
      </p:sp>
      <p:pic>
        <p:nvPicPr>
          <p:cNvPr id="17" name="Graphisme 16" descr="Envelop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sme 17" descr="Réseau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2432A-A0B0-1058-586E-D11950BCF882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6" name="Rectangle 13">
            <a:extLst>
              <a:ext uri="{FF2B5EF4-FFF2-40B4-BE49-F238E27FC236}">
                <a16:creationId xmlns:a16="http://schemas.microsoft.com/office/drawing/2014/main" id="{6962BDB2-D0AB-5E22-73AC-E91AF4C3907E}"/>
              </a:ext>
            </a:extLst>
          </p:cNvPr>
          <p:cNvSpPr/>
          <p:nvPr userDrawn="1"/>
        </p:nvSpPr>
        <p:spPr>
          <a:xfrm>
            <a:off x="-1200638" y="728545"/>
            <a:ext cx="4686788" cy="53056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Ovale 3">
            <a:extLst>
              <a:ext uri="{FF2B5EF4-FFF2-40B4-BE49-F238E27FC236}">
                <a16:creationId xmlns:a16="http://schemas.microsoft.com/office/drawing/2014/main" id="{B7EC228F-CA6C-3562-58CD-F5D3A8931A7A}"/>
              </a:ext>
            </a:extLst>
          </p:cNvPr>
          <p:cNvSpPr/>
          <p:nvPr userDrawn="1"/>
        </p:nvSpPr>
        <p:spPr>
          <a:xfrm>
            <a:off x="577688" y="595422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sme 18" descr="Envelop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sme 19" descr="Réseau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ous-titr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courrier électronique</a:t>
            </a: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fr-FR" noProof="0" dirty="0"/>
              <a:t>Url site web ici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en-US" noProof="0"/>
              <a:t>Click to edit Master title style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sous-titre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3707CB-8F35-D917-8891-54BCA697BA5F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Klebert, Preeti, Sofia, Yves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D4E2E-3C74-203C-981D-A7C573131B4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Klebert, Preeti, Sofia, Yves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1B128-8CD3-6C1A-4BEF-92093750CC9A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orme libre 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0" name="Forme libre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2" name="Forme libre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B9D06-4406-57A0-2D56-983780EFA8D1}"/>
              </a:ext>
            </a:extLst>
          </p:cNvPr>
          <p:cNvSpPr txBox="1"/>
          <p:nvPr userDrawn="1"/>
        </p:nvSpPr>
        <p:spPr>
          <a:xfrm>
            <a:off x="454878" y="6356787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orme libre 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3" name="Forme libre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4" name="Forme libre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Espace réservé du contenu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64A9D-4A64-EAE6-0ECE-6DF7739D6329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’image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Rectangle 13">
            <a:extLst>
              <a:ext uri="{FF2B5EF4-FFF2-40B4-BE49-F238E27FC236}">
                <a16:creationId xmlns:a16="http://schemas.microsoft.com/office/drawing/2014/main" id="{551326AA-5942-DF13-4836-DC9F0D7C83CD}"/>
              </a:ext>
            </a:extLst>
          </p:cNvPr>
          <p:cNvSpPr/>
          <p:nvPr userDrawn="1"/>
        </p:nvSpPr>
        <p:spPr>
          <a:xfrm>
            <a:off x="8593121" y="768485"/>
            <a:ext cx="3598879" cy="530566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D7FE6334-9EA3-2851-0B15-5E4EDB7103FE}"/>
              </a:ext>
            </a:extLst>
          </p:cNvPr>
          <p:cNvSpPr/>
          <p:nvPr userDrawn="1"/>
        </p:nvSpPr>
        <p:spPr>
          <a:xfrm>
            <a:off x="5935375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8FA8-7E72-1B67-3A6B-9A8001EF8081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orme libre 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2" name="Forme libre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3" name="Forme libre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E71A4-4A4F-A6FF-B037-79CAAE20A8D5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</a:rPr>
              <a:t>Klebert, Preeti, Sofia, Yves</a:t>
            </a:r>
            <a:endParaRPr lang="en-US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4EC748F-88DB-4BA1-B6AB-BE1A47757B27}" type="datetime1">
              <a:rPr lang="fr-FR" noProof="0" smtClean="0"/>
              <a:t>09/07/2025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74" r:id="rId9"/>
    <p:sldLayoutId id="2147483675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realestate-api.azurewebsites.net/docs#/default/predict_all_predict_all_post" TargetMode="External"/><Relationship Id="rId4" Type="http://schemas.openxmlformats.org/officeDocument/2006/relationships/hyperlink" Target="https://realestate-ui.azurewebsites.net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sz="2400" noProof="0" dirty="0"/>
              <a:t>Real Estate Price Predictor - deployment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>
                <a:solidFill>
                  <a:schemeClr val="tx2"/>
                </a:solidFill>
              </a:rPr>
              <a:t>Klebert, Preeti, Sofia, Yves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CDA61B-515D-C145-1842-006A86AA7CB2}"/>
              </a:ext>
            </a:extLst>
          </p:cNvPr>
          <p:cNvSpPr/>
          <p:nvPr/>
        </p:nvSpPr>
        <p:spPr>
          <a:xfrm>
            <a:off x="733074" y="927100"/>
            <a:ext cx="5107104" cy="510710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0369-0A78-FEF2-B79D-76AB899A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8117-0824-1B3E-C227-AEC2FE18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479684"/>
          </a:xfrm>
        </p:spPr>
        <p:txBody>
          <a:bodyPr/>
          <a:lstStyle/>
          <a:p>
            <a:r>
              <a:rPr lang="en-US" noProof="0" dirty="0">
                <a:solidFill>
                  <a:schemeClr val="accent2"/>
                </a:solidFill>
              </a:rPr>
              <a:t>Deployment strategy</a:t>
            </a:r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4D164BD0-FBD9-B1B3-22AD-88BCD18EAE6E}"/>
              </a:ext>
            </a:extLst>
          </p:cNvPr>
          <p:cNvSpPr/>
          <p:nvPr/>
        </p:nvSpPr>
        <p:spPr>
          <a:xfrm>
            <a:off x="515938" y="920090"/>
            <a:ext cx="4873480" cy="2949703"/>
          </a:xfrm>
          <a:prstGeom prst="roundRect">
            <a:avLst>
              <a:gd name="adj" fmla="val 3067"/>
            </a:avLst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fr-BE" sz="15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874F27A9-623F-7A2B-AC6E-C45DA02568D7}"/>
              </a:ext>
            </a:extLst>
          </p:cNvPr>
          <p:cNvSpPr/>
          <p:nvPr/>
        </p:nvSpPr>
        <p:spPr>
          <a:xfrm>
            <a:off x="5551747" y="920090"/>
            <a:ext cx="6114792" cy="2949005"/>
          </a:xfrm>
          <a:prstGeom prst="roundRect">
            <a:avLst>
              <a:gd name="adj" fmla="val 3067"/>
            </a:avLst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8" name="Mobilisation &amp; Inputs Gathering">
            <a:extLst>
              <a:ext uri="{FF2B5EF4-FFF2-40B4-BE49-F238E27FC236}">
                <a16:creationId xmlns:a16="http://schemas.microsoft.com/office/drawing/2014/main" id="{6D04A847-6196-9784-F2E4-87671394D025}"/>
              </a:ext>
            </a:extLst>
          </p:cNvPr>
          <p:cNvSpPr txBox="1"/>
          <p:nvPr/>
        </p:nvSpPr>
        <p:spPr>
          <a:xfrm>
            <a:off x="515938" y="1024585"/>
            <a:ext cx="5168582" cy="37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noProof="0" dirty="0">
                <a:solidFill>
                  <a:srgbClr val="44546A"/>
                </a:solidFill>
                <a:cs typeface="Segoe UI Light" panose="020B0502040204020203" pitchFamily="34" charset="0"/>
              </a:rPr>
              <a:t>Modular Architecture</a:t>
            </a:r>
          </a:p>
        </p:txBody>
      </p:sp>
      <p:sp>
        <p:nvSpPr>
          <p:cNvPr id="10" name="Mobilisation &amp; Inputs Gathering">
            <a:extLst>
              <a:ext uri="{FF2B5EF4-FFF2-40B4-BE49-F238E27FC236}">
                <a16:creationId xmlns:a16="http://schemas.microsoft.com/office/drawing/2014/main" id="{D7651270-AF33-89A2-188F-B1650B49DF07}"/>
              </a:ext>
            </a:extLst>
          </p:cNvPr>
          <p:cNvSpPr txBox="1"/>
          <p:nvPr/>
        </p:nvSpPr>
        <p:spPr>
          <a:xfrm>
            <a:off x="6029326" y="1031697"/>
            <a:ext cx="5168581" cy="37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noProof="0" dirty="0">
                <a:solidFill>
                  <a:srgbClr val="44546A"/>
                </a:solidFill>
                <a:cs typeface="Segoe UI Light" panose="020B0502040204020203" pitchFamily="34" charset="0"/>
              </a:rPr>
              <a:t>Containerization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54429448-F15C-7F03-8F94-BF2F5D968256}"/>
              </a:ext>
            </a:extLst>
          </p:cNvPr>
          <p:cNvSpPr/>
          <p:nvPr/>
        </p:nvSpPr>
        <p:spPr>
          <a:xfrm>
            <a:off x="515938" y="1438456"/>
            <a:ext cx="4873480" cy="0"/>
          </a:xfrm>
          <a:prstGeom prst="line">
            <a:avLst/>
          </a:prstGeom>
          <a:noFill/>
          <a:ln w="50800" cap="flat">
            <a:solidFill>
              <a:srgbClr val="F94F0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12" name="Mobilisation &amp; Inputs Gathering">
            <a:extLst>
              <a:ext uri="{FF2B5EF4-FFF2-40B4-BE49-F238E27FC236}">
                <a16:creationId xmlns:a16="http://schemas.microsoft.com/office/drawing/2014/main" id="{87E5A148-D42D-4A8A-4A7B-227FC670E55C}"/>
              </a:ext>
            </a:extLst>
          </p:cNvPr>
          <p:cNvSpPr txBox="1"/>
          <p:nvPr/>
        </p:nvSpPr>
        <p:spPr>
          <a:xfrm>
            <a:off x="678266" y="1609248"/>
            <a:ext cx="4531043" cy="19746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We adopted a modular 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two-layer design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:</a:t>
            </a:r>
          </a:p>
          <a:p>
            <a:pPr marL="6286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Backend: </a:t>
            </a:r>
            <a:r>
              <a:rPr lang="en-US" sz="1500" b="1" dirty="0" err="1">
                <a:solidFill>
                  <a:schemeClr val="accent1"/>
                </a:solidFill>
                <a:cs typeface="Segoe UI Light" panose="020B0502040204020203" pitchFamily="34" charset="0"/>
              </a:rPr>
              <a:t>FastAPI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 REST API 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serving 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ML predictions 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(two endpoints: full features / top 30).</a:t>
            </a:r>
          </a:p>
          <a:p>
            <a:pPr marL="6286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Frontend: </a:t>
            </a:r>
            <a:r>
              <a:rPr lang="en-US" sz="1500" b="1" dirty="0" err="1">
                <a:solidFill>
                  <a:schemeClr val="accent1"/>
                </a:solidFill>
                <a:cs typeface="Segoe UI Light" panose="020B0502040204020203" pitchFamily="34" charset="0"/>
              </a:rPr>
              <a:t>Streamlit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-based UI 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enabling user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This separation allowed 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independent development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, 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testing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 (e.g., with Postman)</a:t>
            </a:r>
          </a:p>
        </p:txBody>
      </p:sp>
      <p:sp>
        <p:nvSpPr>
          <p:cNvPr id="13" name="Mobilisation &amp; Inputs Gathering">
            <a:extLst>
              <a:ext uri="{FF2B5EF4-FFF2-40B4-BE49-F238E27FC236}">
                <a16:creationId xmlns:a16="http://schemas.microsoft.com/office/drawing/2014/main" id="{70D8A9A1-47E4-ABC0-3E7F-BE5F36B4E6BB}"/>
              </a:ext>
            </a:extLst>
          </p:cNvPr>
          <p:cNvSpPr txBox="1"/>
          <p:nvPr/>
        </p:nvSpPr>
        <p:spPr>
          <a:xfrm>
            <a:off x="5791199" y="1632242"/>
            <a:ext cx="5696269" cy="872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3675" indent="-1936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Both the frontend and backend were </a:t>
            </a:r>
          </a:p>
          <a:p>
            <a:pPr marL="539750" indent="-1936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fully containerized using Docker</a:t>
            </a:r>
          </a:p>
          <a:p>
            <a:pPr marL="539750" indent="-1936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deployed as isolated services</a:t>
            </a:r>
          </a:p>
          <a:p>
            <a:pPr marL="193675" indent="-193675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cs typeface="Segoe UI Light" panose="020B0502040204020203" pitchFamily="34" charset="0"/>
            </a:endParaRPr>
          </a:p>
          <a:p>
            <a:pPr marL="193675" indent="-1936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This enabled us to:</a:t>
            </a:r>
          </a:p>
          <a:p>
            <a:pPr marL="650875" lvl="1" indent="-1936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Standardize builds across environments (local and cloud).</a:t>
            </a:r>
          </a:p>
          <a:p>
            <a:pPr marL="650875" lvl="1" indent="-1936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Simplify testing and versioning.</a:t>
            </a:r>
          </a:p>
          <a:p>
            <a:pPr marL="193675" indent="-193675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cs typeface="Segoe UI Light" panose="020B0502040204020203" pitchFamily="34" charset="0"/>
            </a:endParaRPr>
          </a:p>
          <a:p>
            <a:pPr marL="193675" indent="-1936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Ensure parity between dev, staging, and production.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0CCDFFCA-06E3-40D6-33A0-F31563955D7C}"/>
              </a:ext>
            </a:extLst>
          </p:cNvPr>
          <p:cNvSpPr/>
          <p:nvPr/>
        </p:nvSpPr>
        <p:spPr>
          <a:xfrm>
            <a:off x="5551747" y="1438456"/>
            <a:ext cx="6114791" cy="0"/>
          </a:xfrm>
          <a:prstGeom prst="line">
            <a:avLst/>
          </a:prstGeom>
          <a:noFill/>
          <a:ln w="50800" cap="flat">
            <a:solidFill>
              <a:srgbClr val="FFB31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6892E98A-DF5A-1040-F6C3-63A08A2AB1E4}"/>
              </a:ext>
            </a:extLst>
          </p:cNvPr>
          <p:cNvSpPr/>
          <p:nvPr/>
        </p:nvSpPr>
        <p:spPr>
          <a:xfrm>
            <a:off x="515938" y="4040584"/>
            <a:ext cx="4884740" cy="2303063"/>
          </a:xfrm>
          <a:prstGeom prst="roundRect">
            <a:avLst>
              <a:gd name="adj" fmla="val 3067"/>
            </a:avLst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30" name="Mobilisation &amp; Inputs Gathering">
            <a:extLst>
              <a:ext uri="{FF2B5EF4-FFF2-40B4-BE49-F238E27FC236}">
                <a16:creationId xmlns:a16="http://schemas.microsoft.com/office/drawing/2014/main" id="{2D0F16AC-278D-D7C7-CFC1-5659661AF08A}"/>
              </a:ext>
            </a:extLst>
          </p:cNvPr>
          <p:cNvSpPr txBox="1"/>
          <p:nvPr/>
        </p:nvSpPr>
        <p:spPr>
          <a:xfrm>
            <a:off x="515937" y="4167612"/>
            <a:ext cx="5376861" cy="37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noProof="0" dirty="0">
                <a:solidFill>
                  <a:srgbClr val="44546A"/>
                </a:solidFill>
                <a:cs typeface="Segoe UI Light" panose="020B0502040204020203" pitchFamily="34" charset="0"/>
              </a:rPr>
              <a:t>Deployment on Azure</a:t>
            </a:r>
          </a:p>
        </p:txBody>
      </p:sp>
      <p:sp>
        <p:nvSpPr>
          <p:cNvPr id="32" name="Mobilisation &amp; Inputs Gathering">
            <a:extLst>
              <a:ext uri="{FF2B5EF4-FFF2-40B4-BE49-F238E27FC236}">
                <a16:creationId xmlns:a16="http://schemas.microsoft.com/office/drawing/2014/main" id="{0E4337C1-044D-1EF6-D36A-59FD7DE9BE1D}"/>
              </a:ext>
            </a:extLst>
          </p:cNvPr>
          <p:cNvSpPr txBox="1"/>
          <p:nvPr/>
        </p:nvSpPr>
        <p:spPr>
          <a:xfrm>
            <a:off x="805498" y="4717895"/>
            <a:ext cx="4186757" cy="11416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We chose Azure for its enterprise-grade deployment capabilities and flexibility: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Azure App Service for both frontend (</a:t>
            </a:r>
            <a:r>
              <a:rPr lang="en-US" sz="1500" dirty="0" err="1">
                <a:solidFill>
                  <a:schemeClr val="accent1"/>
                </a:solidFill>
                <a:cs typeface="Segoe UI Light" panose="020B0502040204020203" pitchFamily="34" charset="0"/>
              </a:rPr>
              <a:t>Streamlit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) and backend (</a:t>
            </a:r>
            <a:r>
              <a:rPr lang="en-US" sz="1500" dirty="0" err="1">
                <a:solidFill>
                  <a:schemeClr val="accent1"/>
                </a:solidFill>
                <a:cs typeface="Segoe UI Light" panose="020B0502040204020203" pitchFamily="34" charset="0"/>
              </a:rPr>
              <a:t>FastAPI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Azure Container Registry (ACR) to host Docker images securely.</a:t>
            </a:r>
            <a:endParaRPr lang="fr-BE" sz="1500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sp>
        <p:nvSpPr>
          <p:cNvPr id="33" name="Line">
            <a:extLst>
              <a:ext uri="{FF2B5EF4-FFF2-40B4-BE49-F238E27FC236}">
                <a16:creationId xmlns:a16="http://schemas.microsoft.com/office/drawing/2014/main" id="{2BB991C4-FB9F-7CF2-621C-1B81F2CC3D44}"/>
              </a:ext>
            </a:extLst>
          </p:cNvPr>
          <p:cNvSpPr/>
          <p:nvPr/>
        </p:nvSpPr>
        <p:spPr>
          <a:xfrm>
            <a:off x="515938" y="4592513"/>
            <a:ext cx="4873480" cy="0"/>
          </a:xfrm>
          <a:prstGeom prst="line">
            <a:avLst/>
          </a:prstGeom>
          <a:noFill/>
          <a:ln w="50800" cap="flat">
            <a:solidFill>
              <a:srgbClr val="00B05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34" name="Rounded Rectangle">
            <a:extLst>
              <a:ext uri="{FF2B5EF4-FFF2-40B4-BE49-F238E27FC236}">
                <a16:creationId xmlns:a16="http://schemas.microsoft.com/office/drawing/2014/main" id="{E5D190CC-A4BD-421A-6DDA-9769A729D13F}"/>
              </a:ext>
            </a:extLst>
          </p:cNvPr>
          <p:cNvSpPr/>
          <p:nvPr/>
        </p:nvSpPr>
        <p:spPr>
          <a:xfrm>
            <a:off x="5551747" y="4038756"/>
            <a:ext cx="6148762" cy="2304891"/>
          </a:xfrm>
          <a:prstGeom prst="roundRect">
            <a:avLst>
              <a:gd name="adj" fmla="val 3067"/>
            </a:avLst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35" name="Mobilisation &amp; Inputs Gathering">
            <a:extLst>
              <a:ext uri="{FF2B5EF4-FFF2-40B4-BE49-F238E27FC236}">
                <a16:creationId xmlns:a16="http://schemas.microsoft.com/office/drawing/2014/main" id="{E32C0D2A-A0A3-8120-4091-74719F91FB31}"/>
              </a:ext>
            </a:extLst>
          </p:cNvPr>
          <p:cNvSpPr txBox="1"/>
          <p:nvPr/>
        </p:nvSpPr>
        <p:spPr>
          <a:xfrm>
            <a:off x="5551746" y="4169655"/>
            <a:ext cx="6148761" cy="37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noProof="0" dirty="0">
                <a:solidFill>
                  <a:srgbClr val="44546A"/>
                </a:solidFill>
                <a:cs typeface="Segoe UI Light" panose="020B0502040204020203" pitchFamily="34" charset="0"/>
              </a:rPr>
              <a:t>Deployment on Azure (benefits over Render)</a:t>
            </a:r>
          </a:p>
        </p:txBody>
      </p:sp>
      <p:sp>
        <p:nvSpPr>
          <p:cNvPr id="36" name="Mobilisation &amp; Inputs Gathering">
            <a:extLst>
              <a:ext uri="{FF2B5EF4-FFF2-40B4-BE49-F238E27FC236}">
                <a16:creationId xmlns:a16="http://schemas.microsoft.com/office/drawing/2014/main" id="{4F1B77C4-4035-1835-120F-218AF686A3FE}"/>
              </a:ext>
            </a:extLst>
          </p:cNvPr>
          <p:cNvSpPr txBox="1"/>
          <p:nvPr/>
        </p:nvSpPr>
        <p:spPr>
          <a:xfrm>
            <a:off x="5735782" y="4717226"/>
            <a:ext cx="5964725" cy="11416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Better control over 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environment variables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, 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logs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, and </a:t>
            </a: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startup behavior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1"/>
                </a:solidFill>
                <a:cs typeface="Segoe UI Light" panose="020B0502040204020203" pitchFamily="34" charset="0"/>
              </a:rPr>
              <a:t>Built-in monitoring </a:t>
            </a: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via Azure Monitor and Application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1"/>
                </a:solidFill>
                <a:cs typeface="Segoe UI Light" panose="020B0502040204020203" pitchFamily="34" charset="0"/>
              </a:rPr>
              <a:t>Stable and scalable infrastructure, with support for production-grade workloads.</a:t>
            </a:r>
            <a:endParaRPr lang="fr-BE" sz="1500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305CAE86-B878-7893-0EC4-64745DDF5C62}"/>
              </a:ext>
            </a:extLst>
          </p:cNvPr>
          <p:cNvSpPr/>
          <p:nvPr/>
        </p:nvSpPr>
        <p:spPr>
          <a:xfrm>
            <a:off x="5551747" y="4606676"/>
            <a:ext cx="6148762" cy="0"/>
          </a:xfrm>
          <a:prstGeom prst="line">
            <a:avLst/>
          </a:prstGeom>
          <a:noFill/>
          <a:ln w="50800" cap="flat">
            <a:solidFill>
              <a:srgbClr val="00B0F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4116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28E4-6531-F41F-A2BA-A3828213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58876"/>
            <a:ext cx="11150600" cy="436870"/>
          </a:xfrm>
        </p:spPr>
        <p:txBody>
          <a:bodyPr/>
          <a:lstStyle/>
          <a:p>
            <a:r>
              <a:rPr lang="en-US" sz="2400" dirty="0">
                <a:solidFill>
                  <a:schemeClr val="accent2"/>
                </a:solidFill>
              </a:rPr>
              <a:t>Real Estate App Deployment with Docker &amp; Azure Services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D1CB2-27ED-780F-EA0E-265493EF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78" y="743879"/>
            <a:ext cx="8615098" cy="56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0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9F9F-3A80-9C62-8C83-36A8D364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2852102" cy="61274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Demo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233DAD-8357-704B-8905-F662BC82E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829" y="109437"/>
            <a:ext cx="4000617" cy="64663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74262E-65CC-72AE-1AE5-AE7E8C32B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325" y="190741"/>
            <a:ext cx="3236394" cy="5136626"/>
          </a:xfrm>
          <a:prstGeom prst="rect">
            <a:avLst/>
          </a:prstGeom>
        </p:spPr>
      </p:pic>
      <p:sp>
        <p:nvSpPr>
          <p:cNvPr id="18" name="Rounded Rectangle">
            <a:extLst>
              <a:ext uri="{FF2B5EF4-FFF2-40B4-BE49-F238E27FC236}">
                <a16:creationId xmlns:a16="http://schemas.microsoft.com/office/drawing/2014/main" id="{7FDBD02B-FE4F-D658-ADEF-BA4E7D6A85E3}"/>
              </a:ext>
            </a:extLst>
          </p:cNvPr>
          <p:cNvSpPr/>
          <p:nvPr/>
        </p:nvSpPr>
        <p:spPr>
          <a:xfrm>
            <a:off x="515938" y="1720654"/>
            <a:ext cx="3554412" cy="1176288"/>
          </a:xfrm>
          <a:prstGeom prst="roundRect">
            <a:avLst>
              <a:gd name="adj" fmla="val 3067"/>
            </a:avLst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fr-BE" sz="15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19" name="Mobilisation &amp; Inputs Gathering">
            <a:extLst>
              <a:ext uri="{FF2B5EF4-FFF2-40B4-BE49-F238E27FC236}">
                <a16:creationId xmlns:a16="http://schemas.microsoft.com/office/drawing/2014/main" id="{E2F21825-3163-64F2-FA92-2DBC00DFE8DA}"/>
              </a:ext>
            </a:extLst>
          </p:cNvPr>
          <p:cNvSpPr txBox="1"/>
          <p:nvPr/>
        </p:nvSpPr>
        <p:spPr>
          <a:xfrm>
            <a:off x="515937" y="1798739"/>
            <a:ext cx="3554411" cy="37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44546A"/>
                </a:solidFill>
                <a:cs typeface="Segoe UI Light" panose="020B0502040204020203" pitchFamily="34" charset="0"/>
              </a:rPr>
              <a:t>Frontend</a:t>
            </a:r>
            <a:endParaRPr lang="en-US" b="1" noProof="0" dirty="0">
              <a:solidFill>
                <a:srgbClr val="44546A"/>
              </a:solidFill>
              <a:cs typeface="Segoe UI Light" panose="020B0502040204020203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D594B898-1FD0-751A-7D70-11322EF83D9E}"/>
              </a:ext>
            </a:extLst>
          </p:cNvPr>
          <p:cNvSpPr/>
          <p:nvPr/>
        </p:nvSpPr>
        <p:spPr>
          <a:xfrm>
            <a:off x="515939" y="2182751"/>
            <a:ext cx="3554412" cy="0"/>
          </a:xfrm>
          <a:prstGeom prst="line">
            <a:avLst/>
          </a:prstGeom>
          <a:noFill/>
          <a:ln w="50800" cap="flat">
            <a:solidFill>
              <a:srgbClr val="F94F0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21" name="Mobilisation &amp; Inputs Gathering">
            <a:extLst>
              <a:ext uri="{FF2B5EF4-FFF2-40B4-BE49-F238E27FC236}">
                <a16:creationId xmlns:a16="http://schemas.microsoft.com/office/drawing/2014/main" id="{726176D3-F4FD-5806-DD1B-E6472B6A924C}"/>
              </a:ext>
            </a:extLst>
          </p:cNvPr>
          <p:cNvSpPr txBox="1"/>
          <p:nvPr/>
        </p:nvSpPr>
        <p:spPr>
          <a:xfrm>
            <a:off x="678266" y="2353543"/>
            <a:ext cx="3448683" cy="441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BE" sz="1500" b="1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CA5BF-5D7C-0A21-E9A1-09912E76D2C3}"/>
              </a:ext>
            </a:extLst>
          </p:cNvPr>
          <p:cNvSpPr txBox="1"/>
          <p:nvPr/>
        </p:nvSpPr>
        <p:spPr>
          <a:xfrm>
            <a:off x="678267" y="2146790"/>
            <a:ext cx="31317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solidFill>
                <a:srgbClr val="0563C1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400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https://realestate-ui.azurewebsites.net/</a:t>
            </a:r>
            <a:endParaRPr lang="en-US" sz="1400" dirty="0"/>
          </a:p>
          <a:p>
            <a:endParaRPr lang="en-US" dirty="0"/>
          </a:p>
        </p:txBody>
      </p:sp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9FB6A6A6-5195-0E41-E0C6-B386108D8019}"/>
              </a:ext>
            </a:extLst>
          </p:cNvPr>
          <p:cNvSpPr/>
          <p:nvPr/>
        </p:nvSpPr>
        <p:spPr>
          <a:xfrm>
            <a:off x="540703" y="3179354"/>
            <a:ext cx="3554412" cy="1494631"/>
          </a:xfrm>
          <a:prstGeom prst="roundRect">
            <a:avLst>
              <a:gd name="adj" fmla="val 3067"/>
            </a:avLst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fr-BE" sz="15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  <p:sp>
        <p:nvSpPr>
          <p:cNvPr id="23" name="Mobilisation &amp; Inputs Gathering">
            <a:extLst>
              <a:ext uri="{FF2B5EF4-FFF2-40B4-BE49-F238E27FC236}">
                <a16:creationId xmlns:a16="http://schemas.microsoft.com/office/drawing/2014/main" id="{B8F42CA3-C059-BCEB-A5D4-686F5F8C8EED}"/>
              </a:ext>
            </a:extLst>
          </p:cNvPr>
          <p:cNvSpPr txBox="1"/>
          <p:nvPr/>
        </p:nvSpPr>
        <p:spPr>
          <a:xfrm>
            <a:off x="540703" y="3257440"/>
            <a:ext cx="3554412" cy="37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44546A"/>
                </a:solidFill>
                <a:cs typeface="Segoe UI Light" panose="020B0502040204020203" pitchFamily="34" charset="0"/>
              </a:rPr>
              <a:t>Backend</a:t>
            </a:r>
            <a:endParaRPr lang="en-US" b="1" noProof="0" dirty="0">
              <a:solidFill>
                <a:srgbClr val="44546A"/>
              </a:solidFill>
              <a:cs typeface="Segoe UI Light" panose="020B0502040204020203" pitchFamily="34" charset="0"/>
            </a:endParaRPr>
          </a:p>
        </p:txBody>
      </p:sp>
      <p:sp>
        <p:nvSpPr>
          <p:cNvPr id="25" name="Mobilisation &amp; Inputs Gathering">
            <a:extLst>
              <a:ext uri="{FF2B5EF4-FFF2-40B4-BE49-F238E27FC236}">
                <a16:creationId xmlns:a16="http://schemas.microsoft.com/office/drawing/2014/main" id="{D49C4E0E-E805-D74D-B852-65ABA4066821}"/>
              </a:ext>
            </a:extLst>
          </p:cNvPr>
          <p:cNvSpPr txBox="1"/>
          <p:nvPr/>
        </p:nvSpPr>
        <p:spPr>
          <a:xfrm>
            <a:off x="703031" y="3812244"/>
            <a:ext cx="3448683" cy="441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numCol="1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BE" sz="1500" b="1" dirty="0">
              <a:solidFill>
                <a:schemeClr val="accent1"/>
              </a:solidFill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4E8BE-4F65-20E1-F50F-8EB6DF745B54}"/>
              </a:ext>
            </a:extLst>
          </p:cNvPr>
          <p:cNvSpPr txBox="1"/>
          <p:nvPr/>
        </p:nvSpPr>
        <p:spPr>
          <a:xfrm>
            <a:off x="713189" y="3864134"/>
            <a:ext cx="37236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563C1"/>
                </a:solidFill>
                <a:hlinkClick r:id="rId5"/>
              </a:rPr>
              <a:t>https://realestate-api.azurewebsites.net/docs</a:t>
            </a:r>
            <a:endParaRPr lang="en-US" sz="1600" dirty="0">
              <a:solidFill>
                <a:srgbClr val="0563C1"/>
              </a:solidFill>
            </a:endParaRPr>
          </a:p>
        </p:txBody>
      </p:sp>
      <p:sp>
        <p:nvSpPr>
          <p:cNvPr id="27" name="Line">
            <a:extLst>
              <a:ext uri="{FF2B5EF4-FFF2-40B4-BE49-F238E27FC236}">
                <a16:creationId xmlns:a16="http://schemas.microsoft.com/office/drawing/2014/main" id="{07D47131-2D5B-60E5-F721-4AF05730FECD}"/>
              </a:ext>
            </a:extLst>
          </p:cNvPr>
          <p:cNvSpPr/>
          <p:nvPr/>
        </p:nvSpPr>
        <p:spPr>
          <a:xfrm>
            <a:off x="540703" y="3667063"/>
            <a:ext cx="3554412" cy="0"/>
          </a:xfrm>
          <a:prstGeom prst="line">
            <a:avLst/>
          </a:prstGeom>
          <a:noFill/>
          <a:ln w="50800" cap="flat">
            <a:solidFill>
              <a:srgbClr val="FFB31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ea typeface="+mn-ea"/>
              <a:cs typeface="Segoe UI"/>
              <a:sym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8025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4F57-E251-3D32-C8D0-4C209B1C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">
            <a:extLst>
              <a:ext uri="{FF2B5EF4-FFF2-40B4-BE49-F238E27FC236}">
                <a16:creationId xmlns:a16="http://schemas.microsoft.com/office/drawing/2014/main" id="{B6383515-94B0-6FC2-0175-A5A0457D4BD1}"/>
              </a:ext>
            </a:extLst>
          </p:cNvPr>
          <p:cNvSpPr/>
          <p:nvPr/>
        </p:nvSpPr>
        <p:spPr>
          <a:xfrm>
            <a:off x="420847" y="1359805"/>
            <a:ext cx="11386502" cy="4456796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85407-548B-9359-5102-68F6816E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53577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Limits &amp; Next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FF0DA-6E7D-A157-E8D9-BF0201048CB3}"/>
              </a:ext>
            </a:extLst>
          </p:cNvPr>
          <p:cNvSpPr txBox="1"/>
          <p:nvPr/>
        </p:nvSpPr>
        <p:spPr>
          <a:xfrm>
            <a:off x="5631880" y="1678982"/>
            <a:ext cx="5854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noProof="0" dirty="0">
                <a:solidFill>
                  <a:schemeClr val="accent1"/>
                </a:solidFill>
              </a:rPr>
              <a:t>Use React, Angular, Vue instead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7F8B2-E725-0358-CB87-9A74F4C3EE6C}"/>
              </a:ext>
            </a:extLst>
          </p:cNvPr>
          <p:cNvSpPr txBox="1"/>
          <p:nvPr/>
        </p:nvSpPr>
        <p:spPr>
          <a:xfrm>
            <a:off x="772422" y="1693172"/>
            <a:ext cx="4585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noProof="0" dirty="0" err="1">
                <a:solidFill>
                  <a:schemeClr val="accent1"/>
                </a:solidFill>
              </a:rPr>
              <a:t>Streamlit</a:t>
            </a:r>
            <a:r>
              <a:rPr lang="en-US" sz="2000" b="1" dirty="0">
                <a:solidFill>
                  <a:schemeClr val="accent1"/>
                </a:solidFill>
              </a:rPr>
              <a:t> is great for quick results, but</a:t>
            </a:r>
            <a:endParaRPr lang="en-US" sz="2000" b="1" noProof="0" dirty="0">
              <a:solidFill>
                <a:schemeClr val="accent1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11999E9C-A693-2CA5-72A0-4BFB531FBBB5}"/>
              </a:ext>
            </a:extLst>
          </p:cNvPr>
          <p:cNvSpPr/>
          <p:nvPr/>
        </p:nvSpPr>
        <p:spPr>
          <a:xfrm>
            <a:off x="672397" y="2539085"/>
            <a:ext cx="5238851" cy="826193"/>
          </a:xfrm>
          <a:prstGeom prst="homePlate">
            <a:avLst/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271463"/>
            <a:r>
              <a:rPr lang="en-US" sz="1600" dirty="0">
                <a:solidFill>
                  <a:schemeClr val="accent1"/>
                </a:solidFill>
              </a:rPr>
              <a:t>Not ideal for complex apps (no routing, no advanced state management).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B36CDF9-7E00-9245-C856-90F543A88E68}"/>
              </a:ext>
            </a:extLst>
          </p:cNvPr>
          <p:cNvSpPr/>
          <p:nvPr/>
        </p:nvSpPr>
        <p:spPr>
          <a:xfrm>
            <a:off x="672397" y="3551964"/>
            <a:ext cx="5238851" cy="799892"/>
          </a:xfrm>
          <a:prstGeom prst="homePlate">
            <a:avLst/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271463"/>
            <a:r>
              <a:rPr lang="en-US" sz="1600" dirty="0">
                <a:solidFill>
                  <a:schemeClr val="accent1"/>
                </a:solidFill>
              </a:rPr>
              <a:t>Poor support for custom UI/UX or mobile responsiveness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DE8062-8D9A-03A9-8598-5555343B9B54}"/>
              </a:ext>
            </a:extLst>
          </p:cNvPr>
          <p:cNvSpPr txBox="1"/>
          <p:nvPr/>
        </p:nvSpPr>
        <p:spPr>
          <a:xfrm>
            <a:off x="439738" y="702110"/>
            <a:ext cx="114627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2C7"/>
                </a:solidFill>
              </a:rPr>
              <a:t>Why </a:t>
            </a:r>
            <a:r>
              <a:rPr lang="en-US" sz="2000" b="1" dirty="0" err="1">
                <a:solidFill>
                  <a:srgbClr val="0072C7"/>
                </a:solidFill>
              </a:rPr>
              <a:t>Streamlit</a:t>
            </a:r>
            <a:r>
              <a:rPr lang="en-US" sz="2000" b="1" dirty="0">
                <a:solidFill>
                  <a:srgbClr val="0072C7"/>
                </a:solidFill>
              </a:rPr>
              <a:t> Isn’t Enough for Production-Grade Apps ? 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2A06410E-07FD-070D-0E51-E6ABC9C3C9A7}"/>
              </a:ext>
            </a:extLst>
          </p:cNvPr>
          <p:cNvSpPr/>
          <p:nvPr/>
        </p:nvSpPr>
        <p:spPr>
          <a:xfrm>
            <a:off x="5687759" y="2535260"/>
            <a:ext cx="5854711" cy="826194"/>
          </a:xfrm>
          <a:prstGeom prst="chevron">
            <a:avLst>
              <a:gd name="adj" fmla="val 48750"/>
            </a:avLst>
          </a:prstGeom>
          <a:gradFill>
            <a:gsLst>
              <a:gs pos="0">
                <a:srgbClr val="CE0368"/>
              </a:gs>
              <a:gs pos="50000">
                <a:srgbClr val="E13518"/>
              </a:gs>
              <a:gs pos="100000">
                <a:srgbClr val="F94F00"/>
              </a:gs>
            </a:gsLst>
            <a:lin ang="0" scaled="1"/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kern="0" dirty="0">
                <a:solidFill>
                  <a:schemeClr val="bg1"/>
                </a:solidFill>
                <a:latin typeface="Segoe UI (Body)"/>
                <a:cs typeface="Segoe UI Light" panose="020B0502040204020203" pitchFamily="34" charset="0"/>
              </a:rPr>
              <a:t>Full client-side routing (e.g., React Router), global state management (Redux, </a:t>
            </a:r>
            <a:r>
              <a:rPr lang="en-US" sz="1600" kern="0" dirty="0" err="1">
                <a:solidFill>
                  <a:schemeClr val="bg1"/>
                </a:solidFill>
                <a:latin typeface="Segoe UI (Body)"/>
                <a:cs typeface="Segoe UI Light" panose="020B0502040204020203" pitchFamily="34" charset="0"/>
              </a:rPr>
              <a:t>Vuex</a:t>
            </a:r>
            <a:r>
              <a:rPr lang="en-US" sz="1600" kern="0" dirty="0">
                <a:solidFill>
                  <a:schemeClr val="bg1"/>
                </a:solidFill>
                <a:latin typeface="Segoe UI (Body)"/>
                <a:cs typeface="Segoe UI Light" panose="020B0502040204020203" pitchFamily="34" charset="0"/>
              </a:rPr>
              <a:t>, </a:t>
            </a:r>
            <a:r>
              <a:rPr lang="en-US" sz="1600" kern="0" dirty="0" err="1">
                <a:solidFill>
                  <a:schemeClr val="bg1"/>
                </a:solidFill>
                <a:latin typeface="Segoe UI (Body)"/>
                <a:cs typeface="Segoe UI Light" panose="020B0502040204020203" pitchFamily="34" charset="0"/>
              </a:rPr>
              <a:t>NgRx</a:t>
            </a:r>
            <a:r>
              <a:rPr lang="en-US" sz="1600" kern="0" dirty="0">
                <a:solidFill>
                  <a:schemeClr val="bg1"/>
                </a:solidFill>
                <a:latin typeface="Segoe UI (Body)"/>
                <a:cs typeface="Segoe UI Light" panose="020B0502040204020203" pitchFamily="34" charset="0"/>
              </a:rPr>
              <a:t>…)</a:t>
            </a:r>
          </a:p>
        </p:txBody>
      </p:sp>
      <p:sp>
        <p:nvSpPr>
          <p:cNvPr id="39" name="Arrow: Pentagon 38">
            <a:extLst>
              <a:ext uri="{FF2B5EF4-FFF2-40B4-BE49-F238E27FC236}">
                <a16:creationId xmlns:a16="http://schemas.microsoft.com/office/drawing/2014/main" id="{33241DA6-24B5-7080-DAEA-D707B8DCF191}"/>
              </a:ext>
            </a:extLst>
          </p:cNvPr>
          <p:cNvSpPr/>
          <p:nvPr/>
        </p:nvSpPr>
        <p:spPr>
          <a:xfrm>
            <a:off x="672397" y="4576844"/>
            <a:ext cx="5238851" cy="799892"/>
          </a:xfrm>
          <a:prstGeom prst="homePlate">
            <a:avLst/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271463"/>
            <a:r>
              <a:rPr lang="en-US" sz="1600" dirty="0">
                <a:solidFill>
                  <a:schemeClr val="accent1"/>
                </a:solidFill>
              </a:rPr>
              <a:t>Basic security ! No enterprise IAM or fine-grained access control</a:t>
            </a: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76D1172E-0632-F8B4-5636-A36A5646BF69}"/>
              </a:ext>
            </a:extLst>
          </p:cNvPr>
          <p:cNvSpPr/>
          <p:nvPr/>
        </p:nvSpPr>
        <p:spPr>
          <a:xfrm>
            <a:off x="5687759" y="3538813"/>
            <a:ext cx="5854711" cy="826194"/>
          </a:xfrm>
          <a:prstGeom prst="chevron">
            <a:avLst>
              <a:gd name="adj" fmla="val 48750"/>
            </a:avLst>
          </a:prstGeom>
          <a:gradFill>
            <a:gsLst>
              <a:gs pos="0">
                <a:srgbClr val="CE0368"/>
              </a:gs>
              <a:gs pos="50000">
                <a:srgbClr val="E13518"/>
              </a:gs>
              <a:gs pos="100000">
                <a:srgbClr val="F94F00"/>
              </a:gs>
            </a:gsLst>
            <a:lin ang="0" scaled="1"/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kern="0" dirty="0">
                <a:solidFill>
                  <a:schemeClr val="bg1"/>
                </a:solidFill>
                <a:latin typeface="Segoe UI (Body)"/>
                <a:cs typeface="Segoe UI Light" panose="020B0502040204020203" pitchFamily="34" charset="0"/>
              </a:rPr>
              <a:t>Full control over layout, animations, themes, and responsive design (CSS, Tailwind, Material UI…)</a:t>
            </a: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5DD9F600-3AB6-9239-BBA5-1F562160DE60}"/>
              </a:ext>
            </a:extLst>
          </p:cNvPr>
          <p:cNvSpPr/>
          <p:nvPr/>
        </p:nvSpPr>
        <p:spPr>
          <a:xfrm>
            <a:off x="5738559" y="4563693"/>
            <a:ext cx="5854711" cy="826194"/>
          </a:xfrm>
          <a:prstGeom prst="chevron">
            <a:avLst>
              <a:gd name="adj" fmla="val 48750"/>
            </a:avLst>
          </a:prstGeom>
          <a:gradFill>
            <a:gsLst>
              <a:gs pos="0">
                <a:srgbClr val="CE0368"/>
              </a:gs>
              <a:gs pos="50000">
                <a:srgbClr val="E13518"/>
              </a:gs>
              <a:gs pos="100000">
                <a:srgbClr val="F94F00"/>
              </a:gs>
            </a:gsLst>
            <a:lin ang="0" scaled="1"/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kern="0" dirty="0">
                <a:solidFill>
                  <a:schemeClr val="bg1"/>
                </a:solidFill>
                <a:latin typeface="Segoe UI (Body)"/>
                <a:cs typeface="Segoe UI Light" panose="020B0502040204020203" pitchFamily="34" charset="0"/>
              </a:rPr>
              <a:t>Secure auth integration (OAuth2, Firebase, Azure AD, Auth0) with fine-grained access control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C5F39E9-6907-D43E-0B37-5C2628B1527F}"/>
              </a:ext>
            </a:extLst>
          </p:cNvPr>
          <p:cNvCxnSpPr/>
          <p:nvPr/>
        </p:nvCxnSpPr>
        <p:spPr>
          <a:xfrm>
            <a:off x="402749" y="2214880"/>
            <a:ext cx="113865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62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7C1E6-B326-4EA9-7DBC-F96C35D3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E56C-3BF2-5795-5525-8C1A4CFF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535774"/>
          </a:xfrm>
        </p:spPr>
        <p:txBody>
          <a:bodyPr/>
          <a:lstStyle/>
          <a:p>
            <a:r>
              <a:rPr lang="fr-BE" dirty="0">
                <a:solidFill>
                  <a:schemeClr val="accent2"/>
                </a:solidFill>
              </a:rPr>
              <a:t>Cloud </a:t>
            </a:r>
            <a:r>
              <a:rPr lang="fr-BE" dirty="0" err="1">
                <a:solidFill>
                  <a:schemeClr val="accent2"/>
                </a:solidFill>
              </a:rPr>
              <a:t>deployment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036471-675E-576D-16DF-3FEF7E72F0F5}"/>
              </a:ext>
            </a:extLst>
          </p:cNvPr>
          <p:cNvSpPr txBox="1"/>
          <p:nvPr/>
        </p:nvSpPr>
        <p:spPr>
          <a:xfrm>
            <a:off x="439738" y="702110"/>
            <a:ext cx="114627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2C7"/>
                </a:solidFill>
              </a:rPr>
              <a:t>Our deployment strategy moved from Render to Azure to enable better control, automation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4B9420A8-BFF9-243C-DC12-DE55D686E9CA}"/>
              </a:ext>
            </a:extLst>
          </p:cNvPr>
          <p:cNvSpPr/>
          <p:nvPr/>
        </p:nvSpPr>
        <p:spPr>
          <a:xfrm>
            <a:off x="515938" y="1237884"/>
            <a:ext cx="11386502" cy="5274676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69E47-3218-5AC6-1AA9-024E4C9AC0EE}"/>
              </a:ext>
            </a:extLst>
          </p:cNvPr>
          <p:cNvSpPr txBox="1"/>
          <p:nvPr/>
        </p:nvSpPr>
        <p:spPr>
          <a:xfrm>
            <a:off x="5853261" y="1369789"/>
            <a:ext cx="5854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noProof="0" dirty="0">
                <a:solidFill>
                  <a:schemeClr val="accent1"/>
                </a:solidFill>
              </a:rPr>
              <a:t>Advantage (Azure / AWS / GCP)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2B272-D884-1A9A-7A61-65C05ED2F753}"/>
              </a:ext>
            </a:extLst>
          </p:cNvPr>
          <p:cNvSpPr txBox="1"/>
          <p:nvPr/>
        </p:nvSpPr>
        <p:spPr>
          <a:xfrm>
            <a:off x="924343" y="1383979"/>
            <a:ext cx="4585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noProof="0" dirty="0">
                <a:solidFill>
                  <a:schemeClr val="accent1"/>
                </a:solidFill>
              </a:rPr>
              <a:t>Challenges: limitations of Render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2256A36-01C5-30A5-23DE-E4CCC8DE48A8}"/>
              </a:ext>
            </a:extLst>
          </p:cNvPr>
          <p:cNvSpPr/>
          <p:nvPr/>
        </p:nvSpPr>
        <p:spPr>
          <a:xfrm>
            <a:off x="837899" y="1994215"/>
            <a:ext cx="5179592" cy="736181"/>
          </a:xfrm>
          <a:prstGeom prst="homePlate">
            <a:avLst/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271463"/>
            <a:r>
              <a:rPr lang="en-US" sz="1600" dirty="0">
                <a:solidFill>
                  <a:schemeClr val="accent1"/>
                </a:solidFill>
              </a:rPr>
              <a:t>Limited control over container configuration and environment variables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C75BD6B5-41FC-0918-F6DE-2F71F9D80ACF}"/>
              </a:ext>
            </a:extLst>
          </p:cNvPr>
          <p:cNvSpPr/>
          <p:nvPr/>
        </p:nvSpPr>
        <p:spPr>
          <a:xfrm>
            <a:off x="5853260" y="1994216"/>
            <a:ext cx="5719904" cy="736180"/>
          </a:xfrm>
          <a:prstGeom prst="chevron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egoe UI (Body)"/>
              </a:rPr>
              <a:t>Full control over startup commands, port binding, environment variables, and scaling options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4DCF3BA5-A535-BE29-88D1-19C8830B32BC}"/>
              </a:ext>
            </a:extLst>
          </p:cNvPr>
          <p:cNvSpPr/>
          <p:nvPr/>
        </p:nvSpPr>
        <p:spPr>
          <a:xfrm>
            <a:off x="837898" y="2873342"/>
            <a:ext cx="5238851" cy="799892"/>
          </a:xfrm>
          <a:prstGeom prst="homePlate">
            <a:avLst/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271463"/>
            <a:r>
              <a:rPr lang="en-US" sz="1600" dirty="0">
                <a:solidFill>
                  <a:schemeClr val="accent1"/>
                </a:solidFill>
              </a:rPr>
              <a:t>Cold starts and inconsistent performance on the free tier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D2032154-6670-C530-66BC-E5AD3CC8F7A8}"/>
              </a:ext>
            </a:extLst>
          </p:cNvPr>
          <p:cNvSpPr/>
          <p:nvPr/>
        </p:nvSpPr>
        <p:spPr>
          <a:xfrm>
            <a:off x="5853260" y="2873342"/>
            <a:ext cx="5779940" cy="787890"/>
          </a:xfrm>
          <a:prstGeom prst="chevron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egoe UI (Body)"/>
              </a:rPr>
              <a:t>Consistent runtime performance with autoscaling and production-grade plans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579249A1-13C1-86BC-FED9-7FA375FEAC54}"/>
              </a:ext>
            </a:extLst>
          </p:cNvPr>
          <p:cNvSpPr/>
          <p:nvPr/>
        </p:nvSpPr>
        <p:spPr>
          <a:xfrm>
            <a:off x="837898" y="3767708"/>
            <a:ext cx="5458783" cy="1299805"/>
          </a:xfrm>
          <a:prstGeom prst="homePlate">
            <a:avLst/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271463"/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0B284CA0-BA49-3535-2246-95F9DC5E6E01}"/>
              </a:ext>
            </a:extLst>
          </p:cNvPr>
          <p:cNvSpPr/>
          <p:nvPr/>
        </p:nvSpPr>
        <p:spPr>
          <a:xfrm>
            <a:off x="5853260" y="3767708"/>
            <a:ext cx="5779940" cy="1299805"/>
          </a:xfrm>
          <a:prstGeom prst="chevron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egoe UI (Body)"/>
              </a:rPr>
              <a:t>Full scripting support for repeatable, automated deployments via CLI and </a:t>
            </a:r>
            <a:r>
              <a:rPr lang="en-US" sz="1600" dirty="0" err="1">
                <a:latin typeface="Segoe UI (Body)"/>
              </a:rPr>
              <a:t>IaC</a:t>
            </a:r>
            <a:r>
              <a:rPr lang="en-US" sz="1600" dirty="0">
                <a:latin typeface="Segoe UI (Body)"/>
              </a:rPr>
              <a:t> (e.g., Bicep, Terraform)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A234E-B797-D253-74BF-29E037D0EF73}"/>
              </a:ext>
            </a:extLst>
          </p:cNvPr>
          <p:cNvSpPr txBox="1"/>
          <p:nvPr/>
        </p:nvSpPr>
        <p:spPr>
          <a:xfrm>
            <a:off x="737319" y="3874495"/>
            <a:ext cx="48871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/>
            <a:r>
              <a:rPr lang="en-US" sz="1600" b="1" dirty="0">
                <a:solidFill>
                  <a:schemeClr val="accent1"/>
                </a:solidFill>
              </a:rPr>
              <a:t>No scripting </a:t>
            </a:r>
            <a:r>
              <a:rPr lang="en-US" sz="1600" dirty="0">
                <a:solidFill>
                  <a:schemeClr val="accent1"/>
                </a:solidFill>
              </a:rPr>
              <a:t>unlike</a:t>
            </a:r>
            <a:r>
              <a:rPr lang="en-US" sz="1600" b="1" dirty="0">
                <a:solidFill>
                  <a:schemeClr val="accent1"/>
                </a:solidFill>
              </a:rPr>
              <a:t> Azure CLI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b="1" dirty="0">
                <a:solidFill>
                  <a:schemeClr val="accent1"/>
                </a:solidFill>
              </a:rPr>
              <a:t>AWS CLI</a:t>
            </a:r>
            <a:r>
              <a:rPr lang="en-US" sz="1600" dirty="0">
                <a:solidFill>
                  <a:schemeClr val="accent1"/>
                </a:solidFill>
              </a:rPr>
              <a:t>, or </a:t>
            </a:r>
            <a:r>
              <a:rPr lang="en-US" sz="1600" b="1" dirty="0">
                <a:solidFill>
                  <a:schemeClr val="accent1"/>
                </a:solidFill>
              </a:rPr>
              <a:t>Google Cloud SDK</a:t>
            </a:r>
          </a:p>
          <a:p>
            <a:pPr marL="271463"/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40AE7A-5608-614C-CE1F-204A182FAEFB}"/>
              </a:ext>
            </a:extLst>
          </p:cNvPr>
          <p:cNvSpPr txBox="1"/>
          <p:nvPr/>
        </p:nvSpPr>
        <p:spPr>
          <a:xfrm>
            <a:off x="1409531" y="4440667"/>
            <a:ext cx="37955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/>
            <a:r>
              <a:rPr lang="en-US" sz="1600" dirty="0">
                <a:solidFill>
                  <a:schemeClr val="accent1"/>
                </a:solidFill>
              </a:rPr>
              <a:t>Repeatable, scripted deployments difficult to implement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5A1A2BC-51F1-1E3D-1CA0-E63FA3E3E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057" y="4457978"/>
            <a:ext cx="582210" cy="527706"/>
          </a:xfrm>
          <a:prstGeom prst="rect">
            <a:avLst/>
          </a:prstGeom>
        </p:spPr>
      </p:pic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E0DF5759-F5AB-3448-A8B8-68223711BF04}"/>
              </a:ext>
            </a:extLst>
          </p:cNvPr>
          <p:cNvSpPr/>
          <p:nvPr/>
        </p:nvSpPr>
        <p:spPr>
          <a:xfrm>
            <a:off x="837898" y="5158748"/>
            <a:ext cx="5393123" cy="1115303"/>
          </a:xfrm>
          <a:prstGeom prst="homePlate">
            <a:avLst/>
          </a:prstGeom>
          <a:solidFill>
            <a:schemeClr val="bg1">
              <a:alpha val="87000"/>
            </a:schemeClr>
          </a:solidFill>
          <a:ln w="12700" cap="flat">
            <a:noFill/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271463"/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EB6A214A-0792-9C1B-707B-D7B98E1A2969}"/>
              </a:ext>
            </a:extLst>
          </p:cNvPr>
          <p:cNvSpPr/>
          <p:nvPr/>
        </p:nvSpPr>
        <p:spPr>
          <a:xfrm>
            <a:off x="5859050" y="5158749"/>
            <a:ext cx="5774150" cy="1097788"/>
          </a:xfrm>
          <a:prstGeom prst="chevron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egoe UI (Body)"/>
              </a:rPr>
              <a:t>Built-in tools like </a:t>
            </a:r>
            <a:r>
              <a:rPr lang="en-US" sz="1600" b="1" dirty="0">
                <a:latin typeface="Segoe UI (Body)"/>
              </a:rPr>
              <a:t>Azure Monitor</a:t>
            </a:r>
            <a:r>
              <a:rPr lang="en-US" sz="1600" dirty="0">
                <a:latin typeface="Segoe UI (Body)"/>
              </a:rPr>
              <a:t>, </a:t>
            </a:r>
            <a:r>
              <a:rPr lang="en-US" sz="1600" b="1" dirty="0">
                <a:latin typeface="Segoe UI (Body)"/>
              </a:rPr>
              <a:t>Application Insights</a:t>
            </a:r>
            <a:r>
              <a:rPr lang="en-US" sz="1600" dirty="0">
                <a:latin typeface="Segoe UI (Body)"/>
              </a:rPr>
              <a:t>, </a:t>
            </a:r>
            <a:r>
              <a:rPr lang="en-US" sz="1600" b="1" dirty="0">
                <a:latin typeface="Segoe UI (Body)"/>
              </a:rPr>
              <a:t>CloudWatc</a:t>
            </a:r>
            <a:r>
              <a:rPr lang="en-US" sz="1600" dirty="0">
                <a:latin typeface="Segoe UI (Body)"/>
              </a:rPr>
              <a:t>h, and </a:t>
            </a:r>
            <a:r>
              <a:rPr lang="en-US" sz="1600" b="1" dirty="0" err="1">
                <a:latin typeface="Segoe UI (Body)"/>
              </a:rPr>
              <a:t>Stackdriver</a:t>
            </a:r>
            <a:r>
              <a:rPr lang="en-US" sz="1600" dirty="0">
                <a:latin typeface="Segoe UI (Body)"/>
              </a:rPr>
              <a:t> for observability and debugging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FAB98E-0864-3D50-0DE6-19B35A58D4C5}"/>
              </a:ext>
            </a:extLst>
          </p:cNvPr>
          <p:cNvSpPr txBox="1"/>
          <p:nvPr/>
        </p:nvSpPr>
        <p:spPr>
          <a:xfrm>
            <a:off x="773589" y="5155450"/>
            <a:ext cx="4887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/>
            <a:r>
              <a:rPr lang="en-US" sz="1600" b="1" dirty="0">
                <a:solidFill>
                  <a:schemeClr val="accent1"/>
                </a:solidFill>
              </a:rPr>
              <a:t>No integrated monitoring or diagnostics tools, 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91150B-30BA-1729-7D31-5E6382B8AE72}"/>
              </a:ext>
            </a:extLst>
          </p:cNvPr>
          <p:cNvSpPr txBox="1"/>
          <p:nvPr/>
        </p:nvSpPr>
        <p:spPr>
          <a:xfrm>
            <a:off x="1409531" y="5751367"/>
            <a:ext cx="37955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/>
            <a:r>
              <a:rPr lang="en-US" sz="1600" dirty="0">
                <a:solidFill>
                  <a:schemeClr val="accent1"/>
                </a:solidFill>
              </a:rPr>
              <a:t>Debugging is difficult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67F7854-6D1C-0629-4417-D4239BB48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27" y="5603399"/>
            <a:ext cx="582210" cy="5277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F4171F-8FDD-293F-DEDA-C3F5E5AB4D8B}"/>
              </a:ext>
            </a:extLst>
          </p:cNvPr>
          <p:cNvCxnSpPr/>
          <p:nvPr/>
        </p:nvCxnSpPr>
        <p:spPr>
          <a:xfrm>
            <a:off x="515938" y="1833880"/>
            <a:ext cx="113865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024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56_TF34076243" id="{4913AA83-2306-4E2D-8830-C2A4E9B3D067}" vid="{57B55DBD-592B-4A90-8C6D-F8F746751AD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toso v1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C567A"/>
    </a:accent1>
    <a:accent2>
      <a:srgbClr val="0072C7"/>
    </a:accent2>
    <a:accent3>
      <a:srgbClr val="0D1D51"/>
    </a:accent3>
    <a:accent4>
      <a:srgbClr val="666666"/>
    </a:accent4>
    <a:accent5>
      <a:srgbClr val="3C76A6"/>
    </a:accent5>
    <a:accent6>
      <a:srgbClr val="1E44BC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sphérique en bleu</Template>
  <TotalTime>7916</TotalTime>
  <Words>1066</Words>
  <Application>Microsoft Office PowerPoint</Application>
  <PresentationFormat>Widescreen</PresentationFormat>
  <Paragraphs>118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Corbel</vt:lpstr>
      <vt:lpstr>Segoe UI (Body)</vt:lpstr>
      <vt:lpstr>Segoe UI Light</vt:lpstr>
      <vt:lpstr>Thème Office</vt:lpstr>
      <vt:lpstr>Real Estate Price Predictor - deployment</vt:lpstr>
      <vt:lpstr>Deployment strategy</vt:lpstr>
      <vt:lpstr>Real Estate App Deployment with Docker &amp; Azure Services</vt:lpstr>
      <vt:lpstr>Demo</vt:lpstr>
      <vt:lpstr>Limits &amp; Next Steps</vt:lpstr>
      <vt:lpstr>Cloud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Yves Schillings</dc:creator>
  <cp:lastModifiedBy>Yves SCHILLINGS</cp:lastModifiedBy>
  <cp:revision>406</cp:revision>
  <dcterms:created xsi:type="dcterms:W3CDTF">2024-05-06T12:06:53Z</dcterms:created>
  <dcterms:modified xsi:type="dcterms:W3CDTF">2025-07-09T08:09:28Z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