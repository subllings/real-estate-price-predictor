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7" r:id="rId5"/>
    <p:sldId id="410" r:id="rId6"/>
    <p:sldId id="412" r:id="rId7"/>
    <p:sldId id="411" r:id="rId8"/>
    <p:sldId id="408" r:id="rId9"/>
    <p:sldId id="409" r:id="rId10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368"/>
    <a:srgbClr val="0072C7"/>
    <a:srgbClr val="F94F00"/>
    <a:srgbClr val="D73285"/>
    <a:srgbClr val="F5F5F5"/>
    <a:srgbClr val="464646"/>
    <a:srgbClr val="FFB310"/>
    <a:srgbClr val="FAFAFA"/>
    <a:srgbClr val="FFFFFF"/>
    <a:srgbClr val="A973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07" autoAdjust="0"/>
    <p:restoredTop sz="56622" autoAdjust="0"/>
  </p:normalViewPr>
  <p:slideViewPr>
    <p:cSldViewPr snapToGrid="0" showGuides="1">
      <p:cViewPr varScale="1">
        <p:scale>
          <a:sx n="80" d="100"/>
          <a:sy n="80" d="100"/>
        </p:scale>
        <p:origin x="3592" y="4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4328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23DB037-710F-4A44-BDF0-28DC42F2FAE9}" type="datetime1">
              <a:rPr lang="fr-FR" smtClean="0"/>
              <a:t>09/07/2025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18A1656-FDB1-442A-B22F-67D2FDA9ED13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47850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4718FD-5C33-42D8-BCA9-0B83DD06AC51}" type="datetime1">
              <a:rPr lang="fr-FR" smtClean="0"/>
              <a:pPr/>
              <a:t>09/07/2025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336304E-FDE3-4B4F-A3B7-EBE87F3FA5E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553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Deployment Strategy (Short Talk)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adopted a </a:t>
            </a:r>
            <a:r>
              <a:rPr lang="en-US" b="1" dirty="0"/>
              <a:t>modular two-layer design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FastAPI</a:t>
            </a:r>
            <a:r>
              <a:rPr lang="en-US" dirty="0"/>
              <a:t> backend serving two prediction endpoints.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Streamlit</a:t>
            </a:r>
            <a:r>
              <a:rPr lang="en-US" dirty="0"/>
              <a:t>-based frontend for user interaction.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allowed </a:t>
            </a:r>
            <a:r>
              <a:rPr lang="en-US" b="1" dirty="0"/>
              <a:t>independent development and testing</a:t>
            </a:r>
            <a:r>
              <a:rPr lang="en-US" dirty="0"/>
              <a:t>, e.g., with Postman.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containerized both services with Docker, deployed them separately, and ensured consistent builds across environments. This helped with </a:t>
            </a:r>
            <a:r>
              <a:rPr lang="en-US" b="1" dirty="0"/>
              <a:t>versioning, testing</a:t>
            </a:r>
            <a:r>
              <a:rPr lang="en-US" dirty="0"/>
              <a:t>, and </a:t>
            </a:r>
            <a:r>
              <a:rPr lang="en-US" b="1" dirty="0"/>
              <a:t>parity</a:t>
            </a:r>
            <a:r>
              <a:rPr lang="en-US" dirty="0"/>
              <a:t> between dev, staging, and production.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deployment, we chose </a:t>
            </a:r>
            <a:r>
              <a:rPr lang="en-US" b="1" dirty="0"/>
              <a:t>Azure</a:t>
            </a:r>
            <a:r>
              <a:rPr lang="en-US" dirty="0"/>
              <a:t> for its enterprise-grade flexibility: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Azure App Service for both frontend and backend,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ACR to securely host Docker images.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Render, Azure gives us better control over </a:t>
            </a:r>
            <a:r>
              <a:rPr lang="en-US" b="1" dirty="0"/>
              <a:t>startup behavior</a:t>
            </a:r>
            <a:r>
              <a:rPr lang="en-US" dirty="0"/>
              <a:t>, </a:t>
            </a:r>
            <a:r>
              <a:rPr lang="en-US" b="1" dirty="0"/>
              <a:t>environment variables</a:t>
            </a:r>
            <a:r>
              <a:rPr lang="en-US" dirty="0"/>
              <a:t>, and </a:t>
            </a:r>
            <a:r>
              <a:rPr lang="en-US" b="1" dirty="0"/>
              <a:t>logs</a:t>
            </a:r>
            <a:r>
              <a:rPr lang="en-US" dirty="0"/>
              <a:t>, along with built-in </a:t>
            </a:r>
            <a:r>
              <a:rPr lang="en-US" b="1" dirty="0"/>
              <a:t>monitoring tools</a:t>
            </a:r>
            <a:r>
              <a:rPr lang="en-US" dirty="0"/>
              <a:t> and scalable infrastructure.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2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Real Estate App Deployment (Talk)</a:t>
            </a:r>
          </a:p>
          <a:p>
            <a:r>
              <a:rPr lang="en-US" dirty="0"/>
              <a:t>This diagram shows our </a:t>
            </a:r>
            <a:r>
              <a:rPr lang="en-US" b="1" dirty="0"/>
              <a:t>end-to-end architecture</a:t>
            </a:r>
            <a:r>
              <a:rPr lang="en-US" dirty="0"/>
              <a:t> for deploying the real estate price prediction app using </a:t>
            </a:r>
            <a:r>
              <a:rPr lang="en-US" b="1" dirty="0"/>
              <a:t>Docker and Azure services</a:t>
            </a:r>
            <a:r>
              <a:rPr lang="en-US" dirty="0"/>
              <a:t>.</a:t>
            </a:r>
          </a:p>
          <a:p>
            <a:r>
              <a:rPr lang="en-US" dirty="0"/>
              <a:t>We designed the system with </a:t>
            </a:r>
            <a:r>
              <a:rPr lang="en-US" b="1" dirty="0"/>
              <a:t>two separate components</a:t>
            </a:r>
            <a:r>
              <a:rPr lang="en-US" dirty="0"/>
              <a:t>:</a:t>
            </a:r>
          </a:p>
          <a:p>
            <a:r>
              <a:rPr lang="en-US" b="1" dirty="0"/>
              <a:t>1. Frontend – </a:t>
            </a:r>
            <a:r>
              <a:rPr lang="en-US" b="1" dirty="0" err="1"/>
              <a:t>Streamlit</a:t>
            </a:r>
            <a:r>
              <a:rPr lang="en-US" b="1" dirty="0"/>
              <a:t> UI</a:t>
            </a:r>
          </a:p>
          <a:p>
            <a:r>
              <a:rPr lang="en-US" dirty="0"/>
              <a:t>The user interacts with a simple interface to input property details.</a:t>
            </a:r>
          </a:p>
          <a:p>
            <a:r>
              <a:rPr lang="en-US" dirty="0"/>
              <a:t>These inputs are processed by the </a:t>
            </a:r>
            <a:r>
              <a:rPr lang="en-US" dirty="0" err="1"/>
              <a:t>InputFeatureConverter</a:t>
            </a:r>
            <a:r>
              <a:rPr lang="en-US" dirty="0"/>
              <a:t>, then passed as </a:t>
            </a:r>
            <a:r>
              <a:rPr lang="en-US" b="1" dirty="0"/>
              <a:t>JSON</a:t>
            </a:r>
            <a:r>
              <a:rPr lang="en-US" dirty="0"/>
              <a:t> to the backend API.</a:t>
            </a:r>
          </a:p>
          <a:p>
            <a:r>
              <a:rPr lang="en-US" dirty="0"/>
              <a:t>After receiving the predicted price, the result is displayed to the user.</a:t>
            </a:r>
          </a:p>
          <a:p>
            <a:r>
              <a:rPr lang="en-US" b="1" dirty="0"/>
              <a:t>2. Backend – </a:t>
            </a:r>
            <a:r>
              <a:rPr lang="en-US" b="1" dirty="0" err="1"/>
              <a:t>FastAPI</a:t>
            </a:r>
            <a:endParaRPr lang="en-US" b="1" dirty="0"/>
          </a:p>
          <a:p>
            <a:r>
              <a:rPr lang="en-US" dirty="0"/>
              <a:t>The backend exposes a </a:t>
            </a:r>
            <a:r>
              <a:rPr lang="en-US" b="1" dirty="0"/>
              <a:t>REST API</a:t>
            </a:r>
            <a:r>
              <a:rPr lang="en-US" dirty="0"/>
              <a:t> with two endpoints:</a:t>
            </a:r>
          </a:p>
          <a:p>
            <a:pPr lvl="1"/>
            <a:r>
              <a:rPr lang="en-US" dirty="0"/>
              <a:t>Predict All: uses all features for maximum accuracy.</a:t>
            </a:r>
          </a:p>
          <a:p>
            <a:pPr lvl="1"/>
            <a:r>
              <a:rPr lang="en-US" dirty="0"/>
              <a:t>Predict Top 30: uses only the 30 most important features for a faster, lightweight prediction.</a:t>
            </a:r>
          </a:p>
          <a:p>
            <a:r>
              <a:rPr lang="en-US" dirty="0"/>
              <a:t>Both endpoints load the appropriate .</a:t>
            </a:r>
            <a:r>
              <a:rPr lang="en-US" dirty="0" err="1"/>
              <a:t>pkl</a:t>
            </a:r>
            <a:r>
              <a:rPr lang="en-US" dirty="0"/>
              <a:t> models and return the prediction as JSON.</a:t>
            </a:r>
          </a:p>
          <a:p>
            <a:r>
              <a:rPr lang="en-US" b="1" dirty="0"/>
              <a:t>3. Containerization &amp; Azure Deployment</a:t>
            </a:r>
          </a:p>
          <a:p>
            <a:r>
              <a:rPr lang="en-US" dirty="0"/>
              <a:t>We built </a:t>
            </a:r>
            <a:r>
              <a:rPr lang="en-US" b="1" dirty="0"/>
              <a:t>separate Docker images</a:t>
            </a:r>
            <a:r>
              <a:rPr lang="en-US" dirty="0"/>
              <a:t> for the frontend and backend.</a:t>
            </a:r>
          </a:p>
          <a:p>
            <a:r>
              <a:rPr lang="en-US" dirty="0"/>
              <a:t>These images are pushed to </a:t>
            </a:r>
            <a:r>
              <a:rPr lang="en-US" b="1" dirty="0"/>
              <a:t>Azure Container Registry (ACR)</a:t>
            </a:r>
            <a:r>
              <a:rPr lang="en-US" dirty="0"/>
              <a:t>.</a:t>
            </a:r>
          </a:p>
          <a:p>
            <a:r>
              <a:rPr lang="en-US" dirty="0"/>
              <a:t>They are then deployed to </a:t>
            </a:r>
            <a:r>
              <a:rPr lang="en-US" b="1" dirty="0"/>
              <a:t>Azure App Service</a:t>
            </a:r>
            <a:r>
              <a:rPr lang="en-US" dirty="0"/>
              <a:t> — one for the frontend UI, one for the backend API.</a:t>
            </a:r>
          </a:p>
          <a:p>
            <a:r>
              <a:rPr lang="en-US" dirty="0"/>
              <a:t>We use </a:t>
            </a:r>
            <a:r>
              <a:rPr lang="en-US" b="1" dirty="0"/>
              <a:t>Azure Monitor and Application Insights</a:t>
            </a:r>
            <a:r>
              <a:rPr lang="en-US" dirty="0"/>
              <a:t> for observability and diagnostics.</a:t>
            </a:r>
          </a:p>
          <a:p>
            <a:r>
              <a:rPr lang="en-US" dirty="0"/>
              <a:t>This setup ensures </a:t>
            </a:r>
            <a:r>
              <a:rPr lang="en-US" b="1" dirty="0"/>
              <a:t>modularity, scalability, and traceability</a:t>
            </a:r>
            <a:r>
              <a:rPr lang="en-US" dirty="0"/>
              <a:t>, with each component independently testable and upgradable.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3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880387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1852F-A958-B4E4-75BD-F2665FC8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820DB-4134-2D8F-B0FB-1E84D8141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C11C9-84B7-9D19-D456-E1CEFBCDC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Streamlit</a:t>
            </a:r>
            <a:r>
              <a:rPr lang="en-US" dirty="0"/>
              <a:t> is great for prototyping, but it doesn't scale well for complex production apps. </a:t>
            </a:r>
          </a:p>
          <a:p>
            <a:r>
              <a:rPr lang="en-US" dirty="0"/>
              <a:t>Here’s why we may </a:t>
            </a:r>
            <a:r>
              <a:rPr lang="en-US" dirty="0" err="1"/>
              <a:t>moveto</a:t>
            </a:r>
            <a:r>
              <a:rPr lang="en-US" dirty="0"/>
              <a:t> frameworks like </a:t>
            </a:r>
            <a:r>
              <a:rPr lang="en-US" b="1" dirty="0"/>
              <a:t>React</a:t>
            </a:r>
            <a:r>
              <a:rPr lang="en-US" dirty="0"/>
              <a:t>: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has no routing and lacks advanced state management.</a:t>
            </a:r>
            <a:br>
              <a:rPr lang="en-US" dirty="0"/>
            </a:br>
            <a:r>
              <a:rPr lang="en-US" dirty="0"/>
              <a:t>With React or Angular, we get </a:t>
            </a:r>
            <a:r>
              <a:rPr lang="en-US" b="1" dirty="0"/>
              <a:t>client-side routing</a:t>
            </a:r>
            <a:r>
              <a:rPr lang="en-US" dirty="0"/>
              <a:t> and </a:t>
            </a:r>
            <a:r>
              <a:rPr lang="en-US" b="1" dirty="0"/>
              <a:t>global state control</a:t>
            </a:r>
            <a:r>
              <a:rPr lang="en-US" dirty="0"/>
              <a:t> using tools like Redux.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is limited in UI flexibility and mobile responsiveness.</a:t>
            </a:r>
            <a:br>
              <a:rPr lang="en-US" dirty="0"/>
            </a:br>
            <a:r>
              <a:rPr lang="en-US" dirty="0"/>
              <a:t>In React, we can fully </a:t>
            </a:r>
            <a:r>
              <a:rPr lang="en-US" b="1" dirty="0"/>
              <a:t>customize the design</a:t>
            </a:r>
            <a:r>
              <a:rPr lang="en-US" dirty="0"/>
              <a:t> with CSS, Tailwind, and animations.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Security is very basic on </a:t>
            </a:r>
            <a:r>
              <a:rPr lang="en-US" dirty="0" err="1"/>
              <a:t>Streamlit</a:t>
            </a:r>
            <a:r>
              <a:rPr lang="en-US" dirty="0"/>
              <a:t> — no enterprise-grade access control.</a:t>
            </a:r>
            <a:br>
              <a:rPr lang="en-US" dirty="0"/>
            </a:br>
            <a:r>
              <a:rPr lang="en-US" dirty="0"/>
              <a:t>Modern frameworks integrate with </a:t>
            </a:r>
            <a:r>
              <a:rPr lang="en-US" b="1" dirty="0"/>
              <a:t>OAuth2, Firebase, or Azure AD</a:t>
            </a:r>
            <a:r>
              <a:rPr lang="en-US" dirty="0"/>
              <a:t>, enabling </a:t>
            </a:r>
            <a:r>
              <a:rPr lang="en-US" b="1" dirty="0"/>
              <a:t>fine-grained user access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737D3-F154-BA75-AFA6-566E4EE4D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5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482010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F387-FBB8-21A8-D8C7-BFA60B19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B048-8144-71CF-0979-DCA53239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5F3F4-FB20-4E2F-1275-3B04622E4C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moved from Render to Azure to gain more control, automation, and observability.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Here's a summary of the main reasons: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offers limited control over container startup, ports, and environment variables.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provides full control over these aspects.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experienced cold starts and inconsistent performance on Render.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ensures stable performance with autoscaling and production-grade plans.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lacks scripting tools for automated deployments.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supports full automation via CLI and Infrastructure as Code tools like Bicep and Terraform.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does not offer integrated monitoring or diagnostics.</a:t>
            </a:r>
            <a:br>
              <a:rPr lang="en-US" dirty="0"/>
            </a:br>
            <a:r>
              <a:rPr lang="en-US" dirty="0"/>
              <a:t>Azure includes tools like Monitor and Application Insights for observability and debugging.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C136A-C575-2830-EA9B-F07BAEFCB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6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28286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13">
            <a:extLst>
              <a:ext uri="{FF2B5EF4-FFF2-40B4-BE49-F238E27FC236}">
                <a16:creationId xmlns:a16="http://schemas.microsoft.com/office/drawing/2014/main" id="{4CBBF2B8-706E-B44D-97A9-0D39894DD103}"/>
              </a:ext>
            </a:extLst>
          </p:cNvPr>
          <p:cNvSpPr/>
          <p:nvPr userDrawn="1"/>
        </p:nvSpPr>
        <p:spPr>
          <a:xfrm>
            <a:off x="0" y="946150"/>
            <a:ext cx="3413125" cy="50785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4059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4059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001" y="927100"/>
            <a:ext cx="5107104" cy="5107104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7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3">
            <a:extLst>
              <a:ext uri="{FF2B5EF4-FFF2-40B4-BE49-F238E27FC236}">
                <a16:creationId xmlns:a16="http://schemas.microsoft.com/office/drawing/2014/main" id="{A3810CFD-79E6-B72B-CEA1-215AAF66B3B1}"/>
              </a:ext>
            </a:extLst>
          </p:cNvPr>
          <p:cNvSpPr/>
          <p:nvPr userDrawn="1"/>
        </p:nvSpPr>
        <p:spPr>
          <a:xfrm>
            <a:off x="474441" y="701041"/>
            <a:ext cx="5621559" cy="559308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4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E79295A-6329-DCD2-C50F-8266607D726E}"/>
              </a:ext>
            </a:extLst>
          </p:cNvPr>
          <p:cNvSpPr txBox="1"/>
          <p:nvPr userDrawn="1"/>
        </p:nvSpPr>
        <p:spPr>
          <a:xfrm>
            <a:off x="6343650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7" name="Forme libre 6">
            <a:extLst>
              <a:ext uri="{FF2B5EF4-FFF2-40B4-BE49-F238E27FC236}">
                <a16:creationId xmlns:a16="http://schemas.microsoft.com/office/drawing/2014/main" id="{1832B6A8-6A08-18E1-91EB-6DAAE10C2064}"/>
              </a:ext>
            </a:extLst>
          </p:cNvPr>
          <p:cNvSpPr>
            <a:spLocks/>
          </p:cNvSpPr>
          <p:nvPr userDrawn="1"/>
        </p:nvSpPr>
        <p:spPr bwMode="auto">
          <a:xfrm rot="18900000">
            <a:off x="137557" y="799106"/>
            <a:ext cx="3908719" cy="7654304"/>
          </a:xfrm>
          <a:custGeom>
            <a:avLst/>
            <a:gdLst>
              <a:gd name="T0" fmla="*/ 0 w 196"/>
              <a:gd name="T1" fmla="*/ 198 h 393"/>
              <a:gd name="T2" fmla="*/ 157 w 196"/>
              <a:gd name="T3" fmla="*/ 8 h 393"/>
              <a:gd name="T4" fmla="*/ 192 w 196"/>
              <a:gd name="T5" fmla="*/ 22 h 393"/>
              <a:gd name="T6" fmla="*/ 167 w 196"/>
              <a:gd name="T7" fmla="*/ 56 h 393"/>
              <a:gd name="T8" fmla="*/ 48 w 196"/>
              <a:gd name="T9" fmla="*/ 198 h 393"/>
              <a:gd name="T10" fmla="*/ 170 w 196"/>
              <a:gd name="T11" fmla="*/ 339 h 393"/>
              <a:gd name="T12" fmla="*/ 193 w 196"/>
              <a:gd name="T13" fmla="*/ 372 h 393"/>
              <a:gd name="T14" fmla="*/ 160 w 196"/>
              <a:gd name="T15" fmla="*/ 387 h 393"/>
              <a:gd name="T16" fmla="*/ 0 w 196"/>
              <a:gd name="T17" fmla="*/ 198 h 3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96" h="393">
                <a:moveTo>
                  <a:pt x="0" y="198"/>
                </a:moveTo>
                <a:cubicBezTo>
                  <a:pt x="0" y="103"/>
                  <a:pt x="64" y="26"/>
                  <a:pt x="157" y="8"/>
                </a:cubicBezTo>
                <a:cubicBezTo>
                  <a:pt x="171" y="6"/>
                  <a:pt x="188" y="0"/>
                  <a:pt x="192" y="22"/>
                </a:cubicBezTo>
                <a:cubicBezTo>
                  <a:pt x="196" y="41"/>
                  <a:pt x="190" y="52"/>
                  <a:pt x="167" y="56"/>
                </a:cubicBezTo>
                <a:cubicBezTo>
                  <a:pt x="95" y="70"/>
                  <a:pt x="47" y="129"/>
                  <a:pt x="48" y="198"/>
                </a:cubicBezTo>
                <a:cubicBezTo>
                  <a:pt x="48" y="267"/>
                  <a:pt x="97" y="325"/>
                  <a:pt x="170" y="339"/>
                </a:cubicBezTo>
                <a:cubicBezTo>
                  <a:pt x="191" y="343"/>
                  <a:pt x="195" y="354"/>
                  <a:pt x="193" y="372"/>
                </a:cubicBezTo>
                <a:cubicBezTo>
                  <a:pt x="190" y="393"/>
                  <a:pt x="174" y="389"/>
                  <a:pt x="160" y="387"/>
                </a:cubicBezTo>
                <a:cubicBezTo>
                  <a:pt x="70" y="375"/>
                  <a:pt x="0" y="293"/>
                  <a:pt x="0" y="198"/>
                </a:cubicBezTo>
                <a:close/>
              </a:path>
            </a:pathLst>
          </a:custGeom>
          <a:solidFill>
            <a:schemeClr val="bg2">
              <a:alpha val="91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3121408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333" userDrawn="1">
          <p15:clr>
            <a:srgbClr val="FBAE40"/>
          </p15:clr>
        </p15:guide>
        <p15:guide id="4" pos="36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’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B5603-8A62-4D45-B6EF-0D7E2D5FC4F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39388" y="1154832"/>
            <a:ext cx="7900525" cy="76446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Le texte factice vient ici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5" name="Espace réservé d’image 14">
            <a:extLst>
              <a:ext uri="{FF2B5EF4-FFF2-40B4-BE49-F238E27FC236}">
                <a16:creationId xmlns:a16="http://schemas.microsoft.com/office/drawing/2014/main" id="{B5A30B6B-EEDB-4142-8138-D50F5A307D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93041" y="2270376"/>
            <a:ext cx="6206400" cy="4587625"/>
          </a:xfrm>
          <a:custGeom>
            <a:avLst/>
            <a:gdLst>
              <a:gd name="connsiteX0" fmla="*/ 3103200 w 6206400"/>
              <a:gd name="connsiteY0" fmla="*/ 0 h 4587625"/>
              <a:gd name="connsiteX1" fmla="*/ 6206400 w 6206400"/>
              <a:gd name="connsiteY1" fmla="*/ 3103200 h 4587625"/>
              <a:gd name="connsiteX2" fmla="*/ 5831861 w 6206400"/>
              <a:gd name="connsiteY2" fmla="*/ 4582370 h 4587625"/>
              <a:gd name="connsiteX3" fmla="*/ 5828668 w 6206400"/>
              <a:gd name="connsiteY3" fmla="*/ 4587625 h 4587625"/>
              <a:gd name="connsiteX4" fmla="*/ 377733 w 6206400"/>
              <a:gd name="connsiteY4" fmla="*/ 4587625 h 4587625"/>
              <a:gd name="connsiteX5" fmla="*/ 374540 w 6206400"/>
              <a:gd name="connsiteY5" fmla="*/ 4582370 h 4587625"/>
              <a:gd name="connsiteX6" fmla="*/ 0 w 6206400"/>
              <a:gd name="connsiteY6" fmla="*/ 3103200 h 4587625"/>
              <a:gd name="connsiteX7" fmla="*/ 3103200 w 6206400"/>
              <a:gd name="connsiteY7" fmla="*/ 0 h 458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06400" h="4587625">
                <a:moveTo>
                  <a:pt x="3103200" y="0"/>
                </a:moveTo>
                <a:cubicBezTo>
                  <a:pt x="4817050" y="0"/>
                  <a:pt x="6206400" y="1389350"/>
                  <a:pt x="6206400" y="3103200"/>
                </a:cubicBezTo>
                <a:cubicBezTo>
                  <a:pt x="6206400" y="3638778"/>
                  <a:pt x="6070721" y="4142667"/>
                  <a:pt x="5831861" y="4582370"/>
                </a:cubicBezTo>
                <a:lnTo>
                  <a:pt x="5828668" y="4587625"/>
                </a:lnTo>
                <a:lnTo>
                  <a:pt x="377733" y="4587625"/>
                </a:lnTo>
                <a:lnTo>
                  <a:pt x="374540" y="4582370"/>
                </a:lnTo>
                <a:cubicBezTo>
                  <a:pt x="135679" y="4142667"/>
                  <a:pt x="0" y="3638778"/>
                  <a:pt x="0" y="3103200"/>
                </a:cubicBezTo>
                <a:cubicBezTo>
                  <a:pt x="0" y="1389350"/>
                  <a:pt x="1389350" y="0"/>
                  <a:pt x="3103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24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F5677D09-47D7-CCF7-2824-73AE268C3491}"/>
              </a:ext>
            </a:extLst>
          </p:cNvPr>
          <p:cNvSpPr/>
          <p:nvPr userDrawn="1"/>
        </p:nvSpPr>
        <p:spPr>
          <a:xfrm>
            <a:off x="2725725" y="2057869"/>
            <a:ext cx="6740550" cy="6706402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750495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3" name="Espace réservé d’image 22">
            <a:extLst>
              <a:ext uri="{FF2B5EF4-FFF2-40B4-BE49-F238E27FC236}">
                <a16:creationId xmlns:a16="http://schemas.microsoft.com/office/drawing/2014/main" id="{26619E66-5354-4D60-8529-27917AC037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4648" y="0"/>
            <a:ext cx="6307353" cy="5780372"/>
          </a:xfrm>
          <a:custGeom>
            <a:avLst/>
            <a:gdLst>
              <a:gd name="connsiteX0" fmla="*/ 760444 w 6307353"/>
              <a:gd name="connsiteY0" fmla="*/ 0 h 5780372"/>
              <a:gd name="connsiteX1" fmla="*/ 6307353 w 6307353"/>
              <a:gd name="connsiteY1" fmla="*/ 0 h 5780372"/>
              <a:gd name="connsiteX2" fmla="*/ 6307353 w 6307353"/>
              <a:gd name="connsiteY2" fmla="*/ 4515612 h 5780372"/>
              <a:gd name="connsiteX3" fmla="*/ 6110746 w 6307353"/>
              <a:gd name="connsiteY3" fmla="*/ 4731934 h 5780372"/>
              <a:gd name="connsiteX4" fmla="*/ 3579592 w 6307353"/>
              <a:gd name="connsiteY4" fmla="*/ 5780372 h 5780372"/>
              <a:gd name="connsiteX5" fmla="*/ 0 w 6307353"/>
              <a:gd name="connsiteY5" fmla="*/ 2200780 h 5780372"/>
              <a:gd name="connsiteX6" fmla="*/ 611338 w 6307353"/>
              <a:gd name="connsiteY6" fmla="*/ 199396 h 578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7353" h="5780372">
                <a:moveTo>
                  <a:pt x="760444" y="0"/>
                </a:moveTo>
                <a:lnTo>
                  <a:pt x="6307353" y="0"/>
                </a:lnTo>
                <a:lnTo>
                  <a:pt x="6307353" y="4515612"/>
                </a:lnTo>
                <a:lnTo>
                  <a:pt x="6110746" y="4731934"/>
                </a:lnTo>
                <a:cubicBezTo>
                  <a:pt x="5462967" y="5379713"/>
                  <a:pt x="4568069" y="5780372"/>
                  <a:pt x="3579592" y="5780372"/>
                </a:cubicBezTo>
                <a:cubicBezTo>
                  <a:pt x="1602638" y="5780372"/>
                  <a:pt x="0" y="4177734"/>
                  <a:pt x="0" y="2200780"/>
                </a:cubicBezTo>
                <a:cubicBezTo>
                  <a:pt x="0" y="1459422"/>
                  <a:pt x="225371" y="770703"/>
                  <a:pt x="611338" y="199396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 dirty="0"/>
              <a:t>Click icon to add picture</a:t>
            </a:r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2E646B4F-6CCB-724C-9D5E-6D5770023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701AE4-277C-9A10-FE8A-9778D46D8C86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F4D28FD-B22F-E8CD-6EAE-7714345CB627}"/>
              </a:ext>
            </a:extLst>
          </p:cNvPr>
          <p:cNvSpPr/>
          <p:nvPr userDrawn="1"/>
        </p:nvSpPr>
        <p:spPr>
          <a:xfrm>
            <a:off x="5595924" y="-1664724"/>
            <a:ext cx="7764475" cy="772514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696208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a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Rectangle 13">
            <a:extLst>
              <a:ext uri="{FF2B5EF4-FFF2-40B4-BE49-F238E27FC236}">
                <a16:creationId xmlns:a16="http://schemas.microsoft.com/office/drawing/2014/main" id="{9D415693-E2CB-4DB4-B07C-2F96B0CAB302}"/>
              </a:ext>
            </a:extLst>
          </p:cNvPr>
          <p:cNvSpPr/>
          <p:nvPr userDrawn="1"/>
        </p:nvSpPr>
        <p:spPr>
          <a:xfrm>
            <a:off x="7862871" y="988536"/>
            <a:ext cx="4329129" cy="488092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14C1BF67-E354-4E04-8F94-BABF2B7D1AFB}"/>
              </a:ext>
            </a:extLst>
          </p:cNvPr>
          <p:cNvSpPr/>
          <p:nvPr userDrawn="1"/>
        </p:nvSpPr>
        <p:spPr>
          <a:xfrm>
            <a:off x="5219700" y="744537"/>
            <a:ext cx="5327650" cy="541972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8" name="Espace réservé d’image 5">
            <a:extLst>
              <a:ext uri="{FF2B5EF4-FFF2-40B4-BE49-F238E27FC236}">
                <a16:creationId xmlns:a16="http://schemas.microsoft.com/office/drawing/2014/main" id="{FF6AC390-6F85-4B64-AE7A-E8E0D8FC89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55212" y="988536"/>
            <a:ext cx="4884848" cy="4884848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D5D98-9711-D54A-A698-B6CE8FFA62DB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986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2E4E194-63F1-4D43-AC02-75733DF045E9}"/>
              </a:ext>
            </a:extLst>
          </p:cNvPr>
          <p:cNvSpPr/>
          <p:nvPr userDrawn="1"/>
        </p:nvSpPr>
        <p:spPr>
          <a:xfrm>
            <a:off x="8308181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Ovale 21">
            <a:extLst>
              <a:ext uri="{FF2B5EF4-FFF2-40B4-BE49-F238E27FC236}">
                <a16:creationId xmlns:a16="http://schemas.microsoft.com/office/drawing/2014/main" id="{E799E3E2-888B-2343-9A63-F84C03265CB5}"/>
              </a:ext>
            </a:extLst>
          </p:cNvPr>
          <p:cNvSpPr>
            <a:spLocks noChangeAspect="1"/>
          </p:cNvSpPr>
          <p:nvPr userDrawn="1"/>
        </p:nvSpPr>
        <p:spPr>
          <a:xfrm>
            <a:off x="9833702" y="1823757"/>
            <a:ext cx="832104" cy="83210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3" name="Espace réservé d’image 11">
            <a:extLst>
              <a:ext uri="{FF2B5EF4-FFF2-40B4-BE49-F238E27FC236}">
                <a16:creationId xmlns:a16="http://schemas.microsoft.com/office/drawing/2014/main" id="{8FEDE8EF-5B7A-A741-9A56-D365CAE01B6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98318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5C1FB-E61C-4BBC-8179-D34908DEA1B6}"/>
              </a:ext>
            </a:extLst>
          </p:cNvPr>
          <p:cNvSpPr/>
          <p:nvPr userDrawn="1"/>
        </p:nvSpPr>
        <p:spPr>
          <a:xfrm>
            <a:off x="0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C1E0992-271E-4948-9461-C7AA54AF8FEA}"/>
              </a:ext>
            </a:extLst>
          </p:cNvPr>
          <p:cNvSpPr>
            <a:spLocks noChangeAspect="1"/>
          </p:cNvSpPr>
          <p:nvPr userDrawn="1"/>
        </p:nvSpPr>
        <p:spPr>
          <a:xfrm>
            <a:off x="1526011" y="1823757"/>
            <a:ext cx="832104" cy="83210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126" y="3207024"/>
            <a:ext cx="3445566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35B71D50-AA4B-4E0C-8F6A-0F64F2C8A8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83819" y="1630018"/>
            <a:ext cx="4424362" cy="4373217"/>
          </a:xfrm>
          <a:solidFill>
            <a:schemeClr val="bg2">
              <a:lumMod val="90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47C9C38-5B17-467D-B581-EF28ECB11E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527490" y="3207024"/>
            <a:ext cx="3445200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19126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F694448B-800C-40EF-8F61-18C018E837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527124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483B974E-5202-4EAD-9D55-4129C84BAE8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690627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6792E1-F742-3074-A5F9-070939893A6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de 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B6EB0C6-606C-4AFB-8FF8-AB43606B95BD}"/>
              </a:ext>
            </a:extLst>
          </p:cNvPr>
          <p:cNvSpPr/>
          <p:nvPr userDrawn="1"/>
        </p:nvSpPr>
        <p:spPr>
          <a:xfrm>
            <a:off x="6599236" y="4707908"/>
            <a:ext cx="5592763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E6D5A-A5C0-4B12-A26A-691D5743FA5C}"/>
              </a:ext>
            </a:extLst>
          </p:cNvPr>
          <p:cNvSpPr/>
          <p:nvPr userDrawn="1"/>
        </p:nvSpPr>
        <p:spPr>
          <a:xfrm>
            <a:off x="-82063" y="1648186"/>
            <a:ext cx="5709139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934" y="2863158"/>
            <a:ext cx="4074002" cy="284664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accent2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09370" y="1903728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r">
              <a:buNone/>
              <a:defRPr sz="1800" b="1" cap="all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01 inclut ici</a:t>
            </a:r>
          </a:p>
        </p:txBody>
      </p:sp>
      <p:sp>
        <p:nvSpPr>
          <p:cNvPr id="23" name="Espace réservé du contenu 2">
            <a:extLst>
              <a:ext uri="{FF2B5EF4-FFF2-40B4-BE49-F238E27FC236}">
                <a16:creationId xmlns:a16="http://schemas.microsoft.com/office/drawing/2014/main" id="{E5123CE7-2F8A-489B-BD99-0C2A33ADF49A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7327918" y="1648186"/>
            <a:ext cx="4074002" cy="2834508"/>
          </a:xfrm>
        </p:spPr>
        <p:txBody>
          <a:bodyPr lIns="0" tIns="0" rIns="0" bIns="0" rtlCol="0" anchor="b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5" name="Espace réservé du contenu 2">
            <a:extLst>
              <a:ext uri="{FF2B5EF4-FFF2-40B4-BE49-F238E27FC236}">
                <a16:creationId xmlns:a16="http://schemas.microsoft.com/office/drawing/2014/main" id="{07730BCF-AC2A-4FEC-8F01-63964DB444CF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475709" y="4963450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02 inclut ici</a:t>
            </a:r>
          </a:p>
        </p:txBody>
      </p:sp>
      <p:sp>
        <p:nvSpPr>
          <p:cNvPr id="21" name="Ovale 20">
            <a:extLst>
              <a:ext uri="{FF2B5EF4-FFF2-40B4-BE49-F238E27FC236}">
                <a16:creationId xmlns:a16="http://schemas.microsoft.com/office/drawing/2014/main" id="{919C8692-230B-D543-A7F7-4FD61B04D1C6}"/>
              </a:ext>
            </a:extLst>
          </p:cNvPr>
          <p:cNvSpPr>
            <a:spLocks noChangeAspect="1"/>
          </p:cNvSpPr>
          <p:nvPr userDrawn="1"/>
        </p:nvSpPr>
        <p:spPr>
          <a:xfrm>
            <a:off x="5084763" y="1652762"/>
            <a:ext cx="1001899" cy="1001899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Espace réservé d’image 11">
            <a:extLst>
              <a:ext uri="{FF2B5EF4-FFF2-40B4-BE49-F238E27FC236}">
                <a16:creationId xmlns:a16="http://schemas.microsoft.com/office/drawing/2014/main" id="{E150BFC7-A11D-CC46-B5A2-8BD93C2695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82969" y="1850968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95B55F4-B501-3440-8904-A1C7F049CBE8}"/>
              </a:ext>
            </a:extLst>
          </p:cNvPr>
          <p:cNvSpPr>
            <a:spLocks noChangeAspect="1"/>
          </p:cNvSpPr>
          <p:nvPr userDrawn="1"/>
        </p:nvSpPr>
        <p:spPr>
          <a:xfrm>
            <a:off x="6100576" y="4707907"/>
            <a:ext cx="1001899" cy="1001899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9" name="Espace réservé d’image 11">
            <a:extLst>
              <a:ext uri="{FF2B5EF4-FFF2-40B4-BE49-F238E27FC236}">
                <a16:creationId xmlns:a16="http://schemas.microsoft.com/office/drawing/2014/main" id="{F2116994-BE3E-6A43-9C15-E71BA8EC821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298782" y="4906113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891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5">
            <a:extLst>
              <a:ext uri="{FF2B5EF4-FFF2-40B4-BE49-F238E27FC236}">
                <a16:creationId xmlns:a16="http://schemas.microsoft.com/office/drawing/2014/main" id="{1C1A95BC-42CA-4166-918D-DF4306881408}"/>
              </a:ext>
            </a:extLst>
          </p:cNvPr>
          <p:cNvSpPr>
            <a:spLocks/>
          </p:cNvSpPr>
          <p:nvPr/>
        </p:nvSpPr>
        <p:spPr bwMode="auto">
          <a:xfrm rot="8650774" flipH="1" flipV="1">
            <a:off x="7430044" y="-1843126"/>
            <a:ext cx="4436224" cy="5482435"/>
          </a:xfrm>
          <a:custGeom>
            <a:avLst/>
            <a:gdLst>
              <a:gd name="T0" fmla="*/ 0 w 447"/>
              <a:gd name="T1" fmla="*/ 264 h 553"/>
              <a:gd name="T2" fmla="*/ 141 w 447"/>
              <a:gd name="T3" fmla="*/ 48 h 553"/>
              <a:gd name="T4" fmla="*/ 414 w 447"/>
              <a:gd name="T5" fmla="*/ 67 h 553"/>
              <a:gd name="T6" fmla="*/ 438 w 447"/>
              <a:gd name="T7" fmla="*/ 98 h 553"/>
              <a:gd name="T8" fmla="*/ 391 w 447"/>
              <a:gd name="T9" fmla="*/ 111 h 553"/>
              <a:gd name="T10" fmla="*/ 94 w 447"/>
              <a:gd name="T11" fmla="*/ 149 h 553"/>
              <a:gd name="T12" fmla="*/ 107 w 447"/>
              <a:gd name="T13" fmla="*/ 424 h 553"/>
              <a:gd name="T14" fmla="*/ 383 w 447"/>
              <a:gd name="T15" fmla="*/ 453 h 553"/>
              <a:gd name="T16" fmla="*/ 393 w 447"/>
              <a:gd name="T17" fmla="*/ 446 h 553"/>
              <a:gd name="T18" fmla="*/ 433 w 447"/>
              <a:gd name="T19" fmla="*/ 449 h 553"/>
              <a:gd name="T20" fmla="*/ 421 w 447"/>
              <a:gd name="T21" fmla="*/ 485 h 553"/>
              <a:gd name="T22" fmla="*/ 194 w 447"/>
              <a:gd name="T23" fmla="*/ 531 h 553"/>
              <a:gd name="T24" fmla="*/ 0 w 447"/>
              <a:gd name="T25" fmla="*/ 264 h 5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7" h="553">
                <a:moveTo>
                  <a:pt x="0" y="264"/>
                </a:moveTo>
                <a:cubicBezTo>
                  <a:pt x="5" y="176"/>
                  <a:pt x="49" y="96"/>
                  <a:pt x="141" y="48"/>
                </a:cubicBezTo>
                <a:cubicBezTo>
                  <a:pt x="235" y="0"/>
                  <a:pt x="327" y="9"/>
                  <a:pt x="414" y="67"/>
                </a:cubicBezTo>
                <a:cubicBezTo>
                  <a:pt x="425" y="75"/>
                  <a:pt x="439" y="82"/>
                  <a:pt x="438" y="98"/>
                </a:cubicBezTo>
                <a:cubicBezTo>
                  <a:pt x="437" y="120"/>
                  <a:pt x="413" y="127"/>
                  <a:pt x="391" y="111"/>
                </a:cubicBezTo>
                <a:cubicBezTo>
                  <a:pt x="294" y="40"/>
                  <a:pt x="166" y="56"/>
                  <a:pt x="94" y="149"/>
                </a:cubicBezTo>
                <a:cubicBezTo>
                  <a:pt x="30" y="231"/>
                  <a:pt x="36" y="349"/>
                  <a:pt x="107" y="424"/>
                </a:cubicBezTo>
                <a:cubicBezTo>
                  <a:pt x="180" y="502"/>
                  <a:pt x="296" y="514"/>
                  <a:pt x="383" y="453"/>
                </a:cubicBezTo>
                <a:cubicBezTo>
                  <a:pt x="386" y="451"/>
                  <a:pt x="390" y="449"/>
                  <a:pt x="393" y="446"/>
                </a:cubicBezTo>
                <a:cubicBezTo>
                  <a:pt x="407" y="433"/>
                  <a:pt x="420" y="433"/>
                  <a:pt x="433" y="449"/>
                </a:cubicBezTo>
                <a:cubicBezTo>
                  <a:pt x="447" y="467"/>
                  <a:pt x="433" y="477"/>
                  <a:pt x="421" y="485"/>
                </a:cubicBezTo>
                <a:cubicBezTo>
                  <a:pt x="353" y="537"/>
                  <a:pt x="277" y="553"/>
                  <a:pt x="194" y="531"/>
                </a:cubicBezTo>
                <a:cubicBezTo>
                  <a:pt x="79" y="501"/>
                  <a:pt x="1" y="397"/>
                  <a:pt x="0" y="264"/>
                </a:cubicBezTo>
                <a:close/>
              </a:path>
            </a:pathLst>
          </a:custGeom>
          <a:solidFill>
            <a:schemeClr val="bg2">
              <a:alpha val="53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3" name="Ovale 14">
            <a:extLst>
              <a:ext uri="{FF2B5EF4-FFF2-40B4-BE49-F238E27FC236}">
                <a16:creationId xmlns:a16="http://schemas.microsoft.com/office/drawing/2014/main" id="{A0FA356A-CDA9-3E00-45F3-46BC0E4E851C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0FDC1-90C9-20B8-59C6-400EFDED6889}"/>
              </a:ext>
            </a:extLst>
          </p:cNvPr>
          <p:cNvSpPr txBox="1"/>
          <p:nvPr userDrawn="1"/>
        </p:nvSpPr>
        <p:spPr>
          <a:xfrm>
            <a:off x="11294533" y="6409397"/>
            <a:ext cx="4425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76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12" name="Ovale 14">
            <a:extLst>
              <a:ext uri="{FF2B5EF4-FFF2-40B4-BE49-F238E27FC236}">
                <a16:creationId xmlns:a16="http://schemas.microsoft.com/office/drawing/2014/main" id="{734766E6-4390-378C-A712-DB530A8039E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586DB4-DBFC-EBAD-1FA5-32FDD1B7F359}"/>
              </a:ext>
            </a:extLst>
          </p:cNvPr>
          <p:cNvSpPr txBox="1"/>
          <p:nvPr userDrawn="1"/>
        </p:nvSpPr>
        <p:spPr>
          <a:xfrm>
            <a:off x="11218333" y="6418617"/>
            <a:ext cx="5888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733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5" name="Ovale 14">
            <a:extLst>
              <a:ext uri="{FF2B5EF4-FFF2-40B4-BE49-F238E27FC236}">
                <a16:creationId xmlns:a16="http://schemas.microsoft.com/office/drawing/2014/main" id="{8031AE70-6869-01C6-A2C4-A0EA198A2A4B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CEC908-6DAD-0441-5F48-763968F5C814}"/>
              </a:ext>
            </a:extLst>
          </p:cNvPr>
          <p:cNvSpPr txBox="1"/>
          <p:nvPr userDrawn="1"/>
        </p:nvSpPr>
        <p:spPr>
          <a:xfrm>
            <a:off x="11226800" y="6417385"/>
            <a:ext cx="5785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589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’é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e 22">
            <a:extLst>
              <a:ext uri="{FF2B5EF4-FFF2-40B4-BE49-F238E27FC236}">
                <a16:creationId xmlns:a16="http://schemas.microsoft.com/office/drawing/2014/main" id="{687010E4-ADF2-486D-8DF7-B0FF38C6DADF}"/>
              </a:ext>
            </a:extLst>
          </p:cNvPr>
          <p:cNvSpPr/>
          <p:nvPr userDrawn="1"/>
        </p:nvSpPr>
        <p:spPr>
          <a:xfrm>
            <a:off x="954140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Ovale 23">
            <a:extLst>
              <a:ext uri="{FF2B5EF4-FFF2-40B4-BE49-F238E27FC236}">
                <a16:creationId xmlns:a16="http://schemas.microsoft.com/office/drawing/2014/main" id="{9159AA79-2237-4A27-BBC2-D44032158D19}"/>
              </a:ext>
            </a:extLst>
          </p:cNvPr>
          <p:cNvSpPr/>
          <p:nvPr userDrawn="1"/>
        </p:nvSpPr>
        <p:spPr>
          <a:xfrm>
            <a:off x="3807539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5" name="Ovale 24">
            <a:extLst>
              <a:ext uri="{FF2B5EF4-FFF2-40B4-BE49-F238E27FC236}">
                <a16:creationId xmlns:a16="http://schemas.microsoft.com/office/drawing/2014/main" id="{0272B962-9566-42D2-B4C3-E7AA81884A83}"/>
              </a:ext>
            </a:extLst>
          </p:cNvPr>
          <p:cNvSpPr/>
          <p:nvPr userDrawn="1"/>
        </p:nvSpPr>
        <p:spPr>
          <a:xfrm>
            <a:off x="6646275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6" name="Ovale 25">
            <a:extLst>
              <a:ext uri="{FF2B5EF4-FFF2-40B4-BE49-F238E27FC236}">
                <a16:creationId xmlns:a16="http://schemas.microsoft.com/office/drawing/2014/main" id="{19733285-016C-4C38-816C-83D30C075C70}"/>
              </a:ext>
            </a:extLst>
          </p:cNvPr>
          <p:cNvSpPr/>
          <p:nvPr userDrawn="1"/>
        </p:nvSpPr>
        <p:spPr>
          <a:xfrm>
            <a:off x="9498658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EF40DBA4-AB63-4B47-B37F-BCC3D59B5392}"/>
              </a:ext>
            </a:extLst>
          </p:cNvPr>
          <p:cNvSpPr/>
          <p:nvPr userDrawn="1"/>
        </p:nvSpPr>
        <p:spPr>
          <a:xfrm>
            <a:off x="4011967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33EF0AFB-D099-4FF1-8963-7DA87268867F}"/>
              </a:ext>
            </a:extLst>
          </p:cNvPr>
          <p:cNvSpPr/>
          <p:nvPr userDrawn="1"/>
        </p:nvSpPr>
        <p:spPr>
          <a:xfrm>
            <a:off x="6850703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Forme libre : Forme 21">
            <a:extLst>
              <a:ext uri="{FF2B5EF4-FFF2-40B4-BE49-F238E27FC236}">
                <a16:creationId xmlns:a16="http://schemas.microsoft.com/office/drawing/2014/main" id="{6872C96E-9AF3-4FA0-8180-C213C7F2209E}"/>
              </a:ext>
            </a:extLst>
          </p:cNvPr>
          <p:cNvSpPr/>
          <p:nvPr userDrawn="1"/>
        </p:nvSpPr>
        <p:spPr>
          <a:xfrm>
            <a:off x="9703086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7" name="Forme libre : Forme 16">
            <a:extLst>
              <a:ext uri="{FF2B5EF4-FFF2-40B4-BE49-F238E27FC236}">
                <a16:creationId xmlns:a16="http://schemas.microsoft.com/office/drawing/2014/main" id="{3A08BE29-CFA5-4E0D-9DBE-A430AE1B8072}"/>
              </a:ext>
            </a:extLst>
          </p:cNvPr>
          <p:cNvSpPr/>
          <p:nvPr userDrawn="1"/>
        </p:nvSpPr>
        <p:spPr>
          <a:xfrm>
            <a:off x="1158568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1B26B4BC-3D52-4C1C-85FB-226F0B5201F1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CEC6B25A-6AA2-46A7-84BE-5C907CA5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3" name="Espace réservé d’image 2">
            <a:extLst>
              <a:ext uri="{FF2B5EF4-FFF2-40B4-BE49-F238E27FC236}">
                <a16:creationId xmlns:a16="http://schemas.microsoft.com/office/drawing/2014/main" id="{B1B995BE-66C2-4379-885F-4BE069DA39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03638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1" name="Espace réservé d’image 2">
            <a:extLst>
              <a:ext uri="{FF2B5EF4-FFF2-40B4-BE49-F238E27FC236}">
                <a16:creationId xmlns:a16="http://schemas.microsoft.com/office/drawing/2014/main" id="{9B56B6C6-9F3C-4E80-BBAD-280E697B89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57037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2" name="Espace réservé d’image 2">
            <a:extLst>
              <a:ext uri="{FF2B5EF4-FFF2-40B4-BE49-F238E27FC236}">
                <a16:creationId xmlns:a16="http://schemas.microsoft.com/office/drawing/2014/main" id="{54704160-1ED7-4B90-8963-0F887C73E9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95773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3" name="Espace réservé d’image 2">
            <a:extLst>
              <a:ext uri="{FF2B5EF4-FFF2-40B4-BE49-F238E27FC236}">
                <a16:creationId xmlns:a16="http://schemas.microsoft.com/office/drawing/2014/main" id="{36610597-6A76-4A06-82A5-A8FFC5BAEA0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648156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FF56D2E5-86E4-473A-A62F-B7029E5B2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454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93934E34-6CC7-492D-9515-EBEC72EFF4C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24454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E4E27467-A1AA-4773-AAB5-A96267FBD71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77853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6CABD5EB-4A8B-448B-8ED1-B8B420815B2D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377853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1" name="Espace réservé du contenu 2">
            <a:extLst>
              <a:ext uri="{FF2B5EF4-FFF2-40B4-BE49-F238E27FC236}">
                <a16:creationId xmlns:a16="http://schemas.microsoft.com/office/drawing/2014/main" id="{0D86883C-E501-47FF-AE1A-E9CE8B71B421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216589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2" name="Espace réservé du contenu 2">
            <a:extLst>
              <a:ext uri="{FF2B5EF4-FFF2-40B4-BE49-F238E27FC236}">
                <a16:creationId xmlns:a16="http://schemas.microsoft.com/office/drawing/2014/main" id="{3683A037-F698-4CC9-904D-F377D71F690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216589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3" name="Espace réservé du contenu 2">
            <a:extLst>
              <a:ext uri="{FF2B5EF4-FFF2-40B4-BE49-F238E27FC236}">
                <a16:creationId xmlns:a16="http://schemas.microsoft.com/office/drawing/2014/main" id="{0A095594-2B82-44ED-8C9B-DA7C4D3D287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068972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4" name="Espace réservé du contenu 2">
            <a:extLst>
              <a:ext uri="{FF2B5EF4-FFF2-40B4-BE49-F238E27FC236}">
                <a16:creationId xmlns:a16="http://schemas.microsoft.com/office/drawing/2014/main" id="{54CDD46A-22ED-48F5-9B5F-13B1B5C4B320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9068972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725763-0538-50B3-49D9-E960F4466C77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503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4E0FBE0E-A6B0-483E-93DD-5C20DA069D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/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pic>
        <p:nvPicPr>
          <p:cNvPr id="17" name="Graphisme 16" descr="Enveloppe">
            <a:extLst>
              <a:ext uri="{FF2B5EF4-FFF2-40B4-BE49-F238E27FC236}">
                <a16:creationId xmlns:a16="http://schemas.microsoft.com/office/drawing/2014/main" id="{E5B30B87-6C2E-48F1-9026-E4F6BEA1CF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18" name="Graphisme 17" descr="Réseau">
            <a:extLst>
              <a:ext uri="{FF2B5EF4-FFF2-40B4-BE49-F238E27FC236}">
                <a16:creationId xmlns:a16="http://schemas.microsoft.com/office/drawing/2014/main" id="{2DA3CFE0-4ED8-4345-A158-94E70F463E9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CE9908F-CF81-43F9-880A-401D0C0FB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429000"/>
            <a:ext cx="5011410" cy="651448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>
                <a:solidFill>
                  <a:schemeClr val="accent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2432A-A0B0-1058-586E-D11950BCF882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6" name="Rectangle 13">
            <a:extLst>
              <a:ext uri="{FF2B5EF4-FFF2-40B4-BE49-F238E27FC236}">
                <a16:creationId xmlns:a16="http://schemas.microsoft.com/office/drawing/2014/main" id="{6962BDB2-D0AB-5E22-73AC-E91AF4C3907E}"/>
              </a:ext>
            </a:extLst>
          </p:cNvPr>
          <p:cNvSpPr/>
          <p:nvPr userDrawn="1"/>
        </p:nvSpPr>
        <p:spPr>
          <a:xfrm>
            <a:off x="-1200638" y="728545"/>
            <a:ext cx="4686788" cy="5305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Ovale 3">
            <a:extLst>
              <a:ext uri="{FF2B5EF4-FFF2-40B4-BE49-F238E27FC236}">
                <a16:creationId xmlns:a16="http://schemas.microsoft.com/office/drawing/2014/main" id="{B7EC228F-CA6C-3562-58CD-F5D3A8931A7A}"/>
              </a:ext>
            </a:extLst>
          </p:cNvPr>
          <p:cNvSpPr/>
          <p:nvPr userDrawn="1"/>
        </p:nvSpPr>
        <p:spPr>
          <a:xfrm>
            <a:off x="577688" y="595422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371368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 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77C312F4-62C2-4903-8C4B-423A8717E481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sme 18" descr="Enveloppe">
            <a:extLst>
              <a:ext uri="{FF2B5EF4-FFF2-40B4-BE49-F238E27FC236}">
                <a16:creationId xmlns:a16="http://schemas.microsoft.com/office/drawing/2014/main" id="{A686352B-226C-4579-B831-0DC14EC389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20" name="Graphisme 19" descr="Réseau">
            <a:extLst>
              <a:ext uri="{FF2B5EF4-FFF2-40B4-BE49-F238E27FC236}">
                <a16:creationId xmlns:a16="http://schemas.microsoft.com/office/drawing/2014/main" id="{460C8169-012B-451A-A6C2-6FEC0DC82A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1" name="Sous-titre 2">
            <a:extLst>
              <a:ext uri="{FF2B5EF4-FFF2-40B4-BE49-F238E27FC236}">
                <a16:creationId xmlns:a16="http://schemas.microsoft.com/office/drawing/2014/main" id="{ADF17BC1-06CE-42EA-A970-31A7ED871A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22" name="Espace réservé du texte 6">
            <a:extLst>
              <a:ext uri="{FF2B5EF4-FFF2-40B4-BE49-F238E27FC236}">
                <a16:creationId xmlns:a16="http://schemas.microsoft.com/office/drawing/2014/main" id="{7035F1B3-4E91-44FF-B4E7-E5D87C7A034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525B5135-F466-4A63-A42C-3BB2BAA7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158641"/>
            <a:ext cx="5011410" cy="921807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10107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1F54E98B-AC75-484D-9121-68498EB888AA}"/>
              </a:ext>
            </a:extLst>
          </p:cNvPr>
          <p:cNvSpPr/>
          <p:nvPr userDrawn="1"/>
        </p:nvSpPr>
        <p:spPr>
          <a:xfrm>
            <a:off x="754010" y="708293"/>
            <a:ext cx="5334029" cy="5334029"/>
          </a:xfrm>
          <a:prstGeom prst="ellipse">
            <a:avLst/>
          </a:prstGeom>
          <a:solidFill>
            <a:schemeClr val="bg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3707CB-8F35-D917-8891-54BCA697BA5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057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4D77C47B-CC1E-41DA-9146-5DFD63065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153348"/>
            <a:ext cx="10515600" cy="648543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4D4E2E-3C74-203C-981D-A7C573131B4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544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1A1F33A2-66F7-4D85-99DD-7B00F265A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8" y="1825625"/>
            <a:ext cx="10837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EF788279-D710-447A-9E71-4D1344575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1B128-8CD3-6C1A-4BEF-92093750CC9A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758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2A6B906-ACDA-40FD-8AC8-0B693AB1279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19" name="Forme libre 5">
              <a:extLst>
                <a:ext uri="{FF2B5EF4-FFF2-40B4-BE49-F238E27FC236}">
                  <a16:creationId xmlns:a16="http://schemas.microsoft.com/office/drawing/2014/main" id="{717F7366-5A99-4065-90C2-AE7DF5DD0F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0" name="Forme libre 6">
              <a:extLst>
                <a:ext uri="{FF2B5EF4-FFF2-40B4-BE49-F238E27FC236}">
                  <a16:creationId xmlns:a16="http://schemas.microsoft.com/office/drawing/2014/main" id="{90A089CA-63B9-4456-B0B1-17C75EBFB9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7">
              <a:extLst>
                <a:ext uri="{FF2B5EF4-FFF2-40B4-BE49-F238E27FC236}">
                  <a16:creationId xmlns:a16="http://schemas.microsoft.com/office/drawing/2014/main" id="{8D36B2D1-BCFE-43FC-8743-7B7A30E1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079DA8F4-EDD3-4D62-A90B-8C3C1AFB0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8" y="1825625"/>
            <a:ext cx="5503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DA0DA994-B4A9-447A-BEBF-3EA31D375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1" name="Titre 1">
            <a:extLst>
              <a:ext uri="{FF2B5EF4-FFF2-40B4-BE49-F238E27FC236}">
                <a16:creationId xmlns:a16="http://schemas.microsoft.com/office/drawing/2014/main" id="{19DEF115-82C2-4E9D-A22C-8DA561FB3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B9D06-4406-57A0-2D56-983780EFA8D1}"/>
              </a:ext>
            </a:extLst>
          </p:cNvPr>
          <p:cNvSpPr txBox="1"/>
          <p:nvPr userDrawn="1"/>
        </p:nvSpPr>
        <p:spPr>
          <a:xfrm>
            <a:off x="454878" y="6356787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934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616F52B4-215E-4237-893C-E22B23804744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2" name="Forme libre 5">
              <a:extLst>
                <a:ext uri="{FF2B5EF4-FFF2-40B4-BE49-F238E27FC236}">
                  <a16:creationId xmlns:a16="http://schemas.microsoft.com/office/drawing/2014/main" id="{B7C40C77-B795-4B07-B92D-2E8A56635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6">
              <a:extLst>
                <a:ext uri="{FF2B5EF4-FFF2-40B4-BE49-F238E27FC236}">
                  <a16:creationId xmlns:a16="http://schemas.microsoft.com/office/drawing/2014/main" id="{6E703A1E-5F10-4BB5-9D52-77CB6F599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4" name="Forme libre 7">
              <a:extLst>
                <a:ext uri="{FF2B5EF4-FFF2-40B4-BE49-F238E27FC236}">
                  <a16:creationId xmlns:a16="http://schemas.microsoft.com/office/drawing/2014/main" id="{22CEE04C-09CE-41CF-937D-EC2D3C23EC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74CF4BA-8DCB-42CF-A2C4-D6AF95EE3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67BA8B6E-A28D-4658-8C91-6CA7BD539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5938" y="2505075"/>
            <a:ext cx="5157787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F73B3215-82DB-4DBF-9E77-3AE2308C69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9" name="Espace réservé du contenu 5">
            <a:extLst>
              <a:ext uri="{FF2B5EF4-FFF2-40B4-BE49-F238E27FC236}">
                <a16:creationId xmlns:a16="http://schemas.microsoft.com/office/drawing/2014/main" id="{8DFD34E8-36CC-4FFE-926B-C170208F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5" name="Titre 1">
            <a:extLst>
              <a:ext uri="{FF2B5EF4-FFF2-40B4-BE49-F238E27FC236}">
                <a16:creationId xmlns:a16="http://schemas.microsoft.com/office/drawing/2014/main" id="{AE3770E9-CB74-47B0-8229-91F6F756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764A9D-4A64-EAE6-0ECE-6DF7739D6329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794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space réservé d’image 21">
            <a:extLst>
              <a:ext uri="{FF2B5EF4-FFF2-40B4-BE49-F238E27FC236}">
                <a16:creationId xmlns:a16="http://schemas.microsoft.com/office/drawing/2014/main" id="{C57825D7-DD33-4B70-BBBE-D46E7A5352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768485"/>
            <a:ext cx="5305662" cy="5305662"/>
          </a:xfrm>
          <a:custGeom>
            <a:avLst/>
            <a:gdLst>
              <a:gd name="connsiteX0" fmla="*/ 2652831 w 5305662"/>
              <a:gd name="connsiteY0" fmla="*/ 0 h 5305662"/>
              <a:gd name="connsiteX1" fmla="*/ 5305662 w 5305662"/>
              <a:gd name="connsiteY1" fmla="*/ 2652831 h 5305662"/>
              <a:gd name="connsiteX2" fmla="*/ 2652831 w 5305662"/>
              <a:gd name="connsiteY2" fmla="*/ 5305662 h 5305662"/>
              <a:gd name="connsiteX3" fmla="*/ 0 w 5305662"/>
              <a:gd name="connsiteY3" fmla="*/ 2652831 h 5305662"/>
              <a:gd name="connsiteX4" fmla="*/ 2652831 w 5305662"/>
              <a:gd name="connsiteY4" fmla="*/ 0 h 530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5662" h="5305662">
                <a:moveTo>
                  <a:pt x="2652831" y="0"/>
                </a:moveTo>
                <a:cubicBezTo>
                  <a:pt x="4117949" y="0"/>
                  <a:pt x="5305662" y="1187713"/>
                  <a:pt x="5305662" y="2652831"/>
                </a:cubicBezTo>
                <a:cubicBezTo>
                  <a:pt x="5305662" y="4117949"/>
                  <a:pt x="4117949" y="5305662"/>
                  <a:pt x="2652831" y="5305662"/>
                </a:cubicBezTo>
                <a:cubicBezTo>
                  <a:pt x="1187713" y="5305662"/>
                  <a:pt x="0" y="4117949"/>
                  <a:pt x="0" y="2652831"/>
                </a:cubicBezTo>
                <a:cubicBezTo>
                  <a:pt x="0" y="1187713"/>
                  <a:pt x="1187713" y="0"/>
                  <a:pt x="2652831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19A1397F-1946-4CBE-9EC5-159C3CBC7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C535F2AB-153E-44A9-97BE-00553BEC1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Rectangle 13">
            <a:extLst>
              <a:ext uri="{FF2B5EF4-FFF2-40B4-BE49-F238E27FC236}">
                <a16:creationId xmlns:a16="http://schemas.microsoft.com/office/drawing/2014/main" id="{551326AA-5942-DF13-4836-DC9F0D7C83CD}"/>
              </a:ext>
            </a:extLst>
          </p:cNvPr>
          <p:cNvSpPr/>
          <p:nvPr userDrawn="1"/>
        </p:nvSpPr>
        <p:spPr>
          <a:xfrm>
            <a:off x="8593121" y="768485"/>
            <a:ext cx="3598879" cy="530566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D7FE6334-9EA3-2851-0B15-5E4EDB7103FE}"/>
              </a:ext>
            </a:extLst>
          </p:cNvPr>
          <p:cNvSpPr/>
          <p:nvPr userDrawn="1"/>
        </p:nvSpPr>
        <p:spPr>
          <a:xfrm>
            <a:off x="5935375" y="633613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8FA8-7E72-1B67-3A6B-9A8001EF8081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1857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F866E5C-B8AA-4805-B232-831BA01AAF1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0" name="Forme libre 5">
              <a:extLst>
                <a:ext uri="{FF2B5EF4-FFF2-40B4-BE49-F238E27FC236}">
                  <a16:creationId xmlns:a16="http://schemas.microsoft.com/office/drawing/2014/main" id="{F98614F0-2DA3-4F29-8CB3-D61424AC85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6">
              <a:extLst>
                <a:ext uri="{FF2B5EF4-FFF2-40B4-BE49-F238E27FC236}">
                  <a16:creationId xmlns:a16="http://schemas.microsoft.com/office/drawing/2014/main" id="{66D52F08-13EC-4AB4-BB79-89A5395A0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7">
              <a:extLst>
                <a:ext uri="{FF2B5EF4-FFF2-40B4-BE49-F238E27FC236}">
                  <a16:creationId xmlns:a16="http://schemas.microsoft.com/office/drawing/2014/main" id="{2544236D-8C3A-41EF-9A68-C84A8A7D0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9009D5C6-6206-4291-8037-67DC025F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7" name="Espace réservé du texte 3">
            <a:extLst>
              <a:ext uri="{FF2B5EF4-FFF2-40B4-BE49-F238E27FC236}">
                <a16:creationId xmlns:a16="http://schemas.microsoft.com/office/drawing/2014/main" id="{BEB643FD-AA85-4A43-8EBD-AFD10DD98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9001F313-F798-43BE-AFF0-A68C84C3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E71A4-4A4F-A6FF-B037-79CAAE20A8D5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531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 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4EC748F-88DB-4BA1-B6AB-BE1A47757B27}" type="datetime1">
              <a:rPr lang="fr-FR" noProof="0" smtClean="0"/>
              <a:t>09/07/2025</a:t>
            </a:fld>
            <a:endParaRPr lang="fr-FR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0" r:id="rId4"/>
    <p:sldLayoutId id="2147483661" r:id="rId5"/>
    <p:sldLayoutId id="2147483662" r:id="rId6"/>
    <p:sldLayoutId id="2147483663" r:id="rId7"/>
    <p:sldLayoutId id="2147483654" r:id="rId8"/>
    <p:sldLayoutId id="2147483674" r:id="rId9"/>
    <p:sldLayoutId id="2147483675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realestate-api.azurewebsites.net/docs#/default/predict_all_predict_all_post" TargetMode="External"/><Relationship Id="rId4" Type="http://schemas.openxmlformats.org/officeDocument/2006/relationships/hyperlink" Target="https://realestate-ui.azurewebsites.net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r>
              <a:rPr lang="en-US" sz="2400" noProof="0" dirty="0"/>
              <a:t>Real Estate Price Predictor - deployment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r>
              <a:rPr lang="en-US" dirty="0">
                <a:solidFill>
                  <a:schemeClr val="tx2"/>
                </a:solidFill>
              </a:rPr>
              <a:t>Klebert, Preeti, Sofia, Yves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CDA61B-515D-C145-1842-006A86AA7CB2}"/>
              </a:ext>
            </a:extLst>
          </p:cNvPr>
          <p:cNvSpPr/>
          <p:nvPr/>
        </p:nvSpPr>
        <p:spPr>
          <a:xfrm>
            <a:off x="733074" y="927100"/>
            <a:ext cx="5107104" cy="5107104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89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4873480" cy="294970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5551747" y="920090"/>
            <a:ext cx="6114792" cy="2949005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24585"/>
            <a:ext cx="516858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029326" y="1031697"/>
            <a:ext cx="516858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38456"/>
            <a:ext cx="487348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78266" y="1609248"/>
            <a:ext cx="4531043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adopted a 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5791199" y="1632242"/>
            <a:ext cx="5696269" cy="872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fully containerized using Docker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cloud).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versioning.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Ensure parity between dev, staging, and production.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5551747" y="1438456"/>
            <a:ext cx="6114791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4040584"/>
            <a:ext cx="4884740" cy="230306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4167612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</a:t>
            </a:r>
          </a:p>
        </p:txBody>
      </p:sp>
      <p:sp>
        <p:nvSpPr>
          <p:cNvPr id="32" name="Mobilisation &amp; Inputs Gathering">
            <a:extLst>
              <a:ext uri="{FF2B5EF4-FFF2-40B4-BE49-F238E27FC236}">
                <a16:creationId xmlns:a16="http://schemas.microsoft.com/office/drawing/2014/main" id="{0E4337C1-044D-1EF6-D36A-59FD7DE9BE1D}"/>
              </a:ext>
            </a:extLst>
          </p:cNvPr>
          <p:cNvSpPr txBox="1"/>
          <p:nvPr/>
        </p:nvSpPr>
        <p:spPr>
          <a:xfrm>
            <a:off x="805498" y="4717895"/>
            <a:ext cx="4186757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chose Azure for its enterprise-grade deployment capabilities and flexibility: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App Service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for both frontend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 and backend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592513"/>
            <a:ext cx="487348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5551747" y="4038756"/>
            <a:ext cx="6148762" cy="230489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5551746" y="4169655"/>
            <a:ext cx="61487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5735782" y="4717226"/>
            <a:ext cx="5964725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scalable infrastructure, with support for production-grade workloads.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5551747" y="4606676"/>
            <a:ext cx="6148762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4116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28E4-6531-F41F-A2BA-A38282134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158876"/>
            <a:ext cx="11150600" cy="43687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Real Estate App Deployment with Docker &amp; Azure Services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D1CB2-27ED-780F-EA0E-265493EF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478" y="743879"/>
            <a:ext cx="8615098" cy="560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403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9F9F-3A80-9C62-8C83-36A8D3648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2852102" cy="61274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Demo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233DAD-8357-704B-8905-F662BC82E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829" y="109437"/>
            <a:ext cx="4000617" cy="64663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74262E-65CC-72AE-1AE5-AE7E8C32B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325" y="190741"/>
            <a:ext cx="3236394" cy="5136626"/>
          </a:xfrm>
          <a:prstGeom prst="rect">
            <a:avLst/>
          </a:prstGeom>
        </p:spPr>
      </p:pic>
      <p:sp>
        <p:nvSpPr>
          <p:cNvPr id="18" name="Rounded Rectangle">
            <a:extLst>
              <a:ext uri="{FF2B5EF4-FFF2-40B4-BE49-F238E27FC236}">
                <a16:creationId xmlns:a16="http://schemas.microsoft.com/office/drawing/2014/main" id="{7FDBD02B-FE4F-D658-ADEF-BA4E7D6A85E3}"/>
              </a:ext>
            </a:extLst>
          </p:cNvPr>
          <p:cNvSpPr/>
          <p:nvPr/>
        </p:nvSpPr>
        <p:spPr>
          <a:xfrm>
            <a:off x="515938" y="1720654"/>
            <a:ext cx="3554412" cy="1176288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9" name="Mobilisation &amp; Inputs Gathering">
            <a:extLst>
              <a:ext uri="{FF2B5EF4-FFF2-40B4-BE49-F238E27FC236}">
                <a16:creationId xmlns:a16="http://schemas.microsoft.com/office/drawing/2014/main" id="{E2F21825-3163-64F2-FA92-2DBC00DFE8DA}"/>
              </a:ext>
            </a:extLst>
          </p:cNvPr>
          <p:cNvSpPr txBox="1"/>
          <p:nvPr/>
        </p:nvSpPr>
        <p:spPr>
          <a:xfrm>
            <a:off x="515937" y="1798739"/>
            <a:ext cx="355441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Frontend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0" name="Line">
            <a:extLst>
              <a:ext uri="{FF2B5EF4-FFF2-40B4-BE49-F238E27FC236}">
                <a16:creationId xmlns:a16="http://schemas.microsoft.com/office/drawing/2014/main" id="{D594B898-1FD0-751A-7D70-11322EF83D9E}"/>
              </a:ext>
            </a:extLst>
          </p:cNvPr>
          <p:cNvSpPr/>
          <p:nvPr/>
        </p:nvSpPr>
        <p:spPr>
          <a:xfrm>
            <a:off x="515939" y="2182751"/>
            <a:ext cx="3554412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1" name="Mobilisation &amp; Inputs Gathering">
            <a:extLst>
              <a:ext uri="{FF2B5EF4-FFF2-40B4-BE49-F238E27FC236}">
                <a16:creationId xmlns:a16="http://schemas.microsoft.com/office/drawing/2014/main" id="{726176D3-F4FD-5806-DD1B-E6472B6A924C}"/>
              </a:ext>
            </a:extLst>
          </p:cNvPr>
          <p:cNvSpPr txBox="1"/>
          <p:nvPr/>
        </p:nvSpPr>
        <p:spPr>
          <a:xfrm>
            <a:off x="678266" y="2353543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DCA5BF-5D7C-0A21-E9A1-09912E76D2C3}"/>
              </a:ext>
            </a:extLst>
          </p:cNvPr>
          <p:cNvSpPr txBox="1"/>
          <p:nvPr/>
        </p:nvSpPr>
        <p:spPr>
          <a:xfrm>
            <a:off x="678267" y="2146790"/>
            <a:ext cx="31317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>
              <a:solidFill>
                <a:srgbClr val="0563C1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https://realestate-ui.azurewebsites.net/</a:t>
            </a:r>
            <a:endParaRPr lang="en-US" sz="1400" dirty="0"/>
          </a:p>
          <a:p>
            <a:endParaRPr lang="en-US" dirty="0"/>
          </a:p>
        </p:txBody>
      </p:sp>
      <p:sp>
        <p:nvSpPr>
          <p:cNvPr id="22" name="Rounded Rectangle">
            <a:extLst>
              <a:ext uri="{FF2B5EF4-FFF2-40B4-BE49-F238E27FC236}">
                <a16:creationId xmlns:a16="http://schemas.microsoft.com/office/drawing/2014/main" id="{9FB6A6A6-5195-0E41-E0C6-B386108D8019}"/>
              </a:ext>
            </a:extLst>
          </p:cNvPr>
          <p:cNvSpPr/>
          <p:nvPr/>
        </p:nvSpPr>
        <p:spPr>
          <a:xfrm>
            <a:off x="540703" y="3179354"/>
            <a:ext cx="3554412" cy="149463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Mobilisation &amp; Inputs Gathering">
            <a:extLst>
              <a:ext uri="{FF2B5EF4-FFF2-40B4-BE49-F238E27FC236}">
                <a16:creationId xmlns:a16="http://schemas.microsoft.com/office/drawing/2014/main" id="{B8F42CA3-C059-BCEB-A5D4-686F5F8C8EED}"/>
              </a:ext>
            </a:extLst>
          </p:cNvPr>
          <p:cNvSpPr txBox="1"/>
          <p:nvPr/>
        </p:nvSpPr>
        <p:spPr>
          <a:xfrm>
            <a:off x="540703" y="3257440"/>
            <a:ext cx="355441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Backend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5" name="Mobilisation &amp; Inputs Gathering">
            <a:extLst>
              <a:ext uri="{FF2B5EF4-FFF2-40B4-BE49-F238E27FC236}">
                <a16:creationId xmlns:a16="http://schemas.microsoft.com/office/drawing/2014/main" id="{D49C4E0E-E805-D74D-B852-65ABA4066821}"/>
              </a:ext>
            </a:extLst>
          </p:cNvPr>
          <p:cNvSpPr txBox="1"/>
          <p:nvPr/>
        </p:nvSpPr>
        <p:spPr>
          <a:xfrm>
            <a:off x="703031" y="3812244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E4E8BE-4F65-20E1-F50F-8EB6DF745B54}"/>
              </a:ext>
            </a:extLst>
          </p:cNvPr>
          <p:cNvSpPr txBox="1"/>
          <p:nvPr/>
        </p:nvSpPr>
        <p:spPr>
          <a:xfrm>
            <a:off x="713189" y="3864134"/>
            <a:ext cx="37236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563C1"/>
                </a:solidFill>
                <a:hlinkClick r:id="rId5"/>
              </a:rPr>
              <a:t>https://realestate-api.azurewebsites.net/docs</a:t>
            </a:r>
            <a:endParaRPr lang="en-US" sz="1600" dirty="0">
              <a:solidFill>
                <a:srgbClr val="0563C1"/>
              </a:solidFill>
            </a:endParaRPr>
          </a:p>
        </p:txBody>
      </p:sp>
      <p:sp>
        <p:nvSpPr>
          <p:cNvPr id="27" name="Line">
            <a:extLst>
              <a:ext uri="{FF2B5EF4-FFF2-40B4-BE49-F238E27FC236}">
                <a16:creationId xmlns:a16="http://schemas.microsoft.com/office/drawing/2014/main" id="{07D47131-2D5B-60E5-F721-4AF05730FECD}"/>
              </a:ext>
            </a:extLst>
          </p:cNvPr>
          <p:cNvSpPr/>
          <p:nvPr/>
        </p:nvSpPr>
        <p:spPr>
          <a:xfrm>
            <a:off x="540703" y="3667063"/>
            <a:ext cx="3554412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80256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74F57-E251-3D32-C8D0-4C209B1C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">
            <a:extLst>
              <a:ext uri="{FF2B5EF4-FFF2-40B4-BE49-F238E27FC236}">
                <a16:creationId xmlns:a16="http://schemas.microsoft.com/office/drawing/2014/main" id="{B6383515-94B0-6FC2-0175-A5A0457D4BD1}"/>
              </a:ext>
            </a:extLst>
          </p:cNvPr>
          <p:cNvSpPr/>
          <p:nvPr/>
        </p:nvSpPr>
        <p:spPr>
          <a:xfrm>
            <a:off x="420847" y="1359805"/>
            <a:ext cx="11386502" cy="445679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585407-548B-9359-5102-68F6816E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Limits &amp; Next Steps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DFF0DA-6E7D-A157-E8D9-BF0201048CB3}"/>
              </a:ext>
            </a:extLst>
          </p:cNvPr>
          <p:cNvSpPr txBox="1"/>
          <p:nvPr/>
        </p:nvSpPr>
        <p:spPr>
          <a:xfrm>
            <a:off x="5631880" y="1678982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Use React, Angular, Vue instead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7F8B2-E725-0358-CB87-9A74F4C3EE6C}"/>
              </a:ext>
            </a:extLst>
          </p:cNvPr>
          <p:cNvSpPr txBox="1"/>
          <p:nvPr/>
        </p:nvSpPr>
        <p:spPr>
          <a:xfrm>
            <a:off x="772422" y="1693172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 err="1">
                <a:solidFill>
                  <a:schemeClr val="accent1"/>
                </a:solidFill>
              </a:rPr>
              <a:t>Streamlit</a:t>
            </a:r>
            <a:r>
              <a:rPr lang="en-US" sz="2000" b="1" dirty="0">
                <a:solidFill>
                  <a:schemeClr val="accent1"/>
                </a:solidFill>
              </a:rPr>
              <a:t> is great for quick results, but</a:t>
            </a:r>
            <a:endParaRPr lang="en-US" sz="2000" b="1" noProof="0" dirty="0">
              <a:solidFill>
                <a:schemeClr val="accent1"/>
              </a:solidFill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11999E9C-A693-2CA5-72A0-4BFB531FBBB5}"/>
              </a:ext>
            </a:extLst>
          </p:cNvPr>
          <p:cNvSpPr/>
          <p:nvPr/>
        </p:nvSpPr>
        <p:spPr>
          <a:xfrm>
            <a:off x="672397" y="2539085"/>
            <a:ext cx="5238851" cy="82619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Not ideal for complex apps (no routing, no advanced state management).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9B36CDF9-7E00-9245-C856-90F543A88E68}"/>
              </a:ext>
            </a:extLst>
          </p:cNvPr>
          <p:cNvSpPr/>
          <p:nvPr/>
        </p:nvSpPr>
        <p:spPr>
          <a:xfrm>
            <a:off x="672397" y="355196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Poor support for custom UI/UX or mobile responsiveness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DE8062-8D9A-03A9-8598-5555343B9B54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Why </a:t>
            </a:r>
            <a:r>
              <a:rPr lang="en-US" sz="2000" b="1" dirty="0" err="1">
                <a:solidFill>
                  <a:srgbClr val="0072C7"/>
                </a:solidFill>
              </a:rPr>
              <a:t>Streamlit</a:t>
            </a:r>
            <a:r>
              <a:rPr lang="en-US" sz="2000" b="1" dirty="0">
                <a:solidFill>
                  <a:srgbClr val="0072C7"/>
                </a:solidFill>
              </a:rPr>
              <a:t> Isn’t Enough for Production-Grade Apps ? </a:t>
            </a: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2A06410E-07FD-070D-0E51-E6ABC9C3C9A7}"/>
              </a:ext>
            </a:extLst>
          </p:cNvPr>
          <p:cNvSpPr/>
          <p:nvPr/>
        </p:nvSpPr>
        <p:spPr>
          <a:xfrm>
            <a:off x="5687759" y="2535260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client-side routing (e.g., React Router), global state management (Redux,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Vuex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NgRx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…)</a:t>
            </a:r>
          </a:p>
        </p:txBody>
      </p:sp>
      <p:sp>
        <p:nvSpPr>
          <p:cNvPr id="39" name="Arrow: Pentagon 38">
            <a:extLst>
              <a:ext uri="{FF2B5EF4-FFF2-40B4-BE49-F238E27FC236}">
                <a16:creationId xmlns:a16="http://schemas.microsoft.com/office/drawing/2014/main" id="{33241DA6-24B5-7080-DAEA-D707B8DCF191}"/>
              </a:ext>
            </a:extLst>
          </p:cNvPr>
          <p:cNvSpPr/>
          <p:nvPr/>
        </p:nvSpPr>
        <p:spPr>
          <a:xfrm>
            <a:off x="672397" y="457684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Basic security ! No enterprise IAM or fine-grained access control</a:t>
            </a: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D1172E-0632-F8B4-5636-A36A5646BF69}"/>
              </a:ext>
            </a:extLst>
          </p:cNvPr>
          <p:cNvSpPr/>
          <p:nvPr/>
        </p:nvSpPr>
        <p:spPr>
          <a:xfrm>
            <a:off x="5687759" y="353881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control over layout, animations, themes, and responsive design (CSS, Tailwind, Material UI…)</a:t>
            </a: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DD9F600-3AB6-9239-BBA5-1F562160DE60}"/>
              </a:ext>
            </a:extLst>
          </p:cNvPr>
          <p:cNvSpPr/>
          <p:nvPr/>
        </p:nvSpPr>
        <p:spPr>
          <a:xfrm>
            <a:off x="5738559" y="456369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Secure auth integration (OAuth2, Firebase, Azure AD, Auth0) with fine-grained access control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C5F39E9-6907-D43E-0B37-5C2628B1527F}"/>
              </a:ext>
            </a:extLst>
          </p:cNvPr>
          <p:cNvCxnSpPr/>
          <p:nvPr/>
        </p:nvCxnSpPr>
        <p:spPr>
          <a:xfrm>
            <a:off x="402749" y="2214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162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7C1E6-B326-4EA9-7DBC-F96C35D3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E56C-3BF2-5795-5525-8C1A4CFFA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fr-BE" dirty="0">
                <a:solidFill>
                  <a:schemeClr val="accent2"/>
                </a:solidFill>
              </a:rPr>
              <a:t>Cloud </a:t>
            </a:r>
            <a:r>
              <a:rPr lang="fr-BE" dirty="0" err="1">
                <a:solidFill>
                  <a:schemeClr val="accent2"/>
                </a:solidFill>
              </a:rPr>
              <a:t>deployment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036471-675E-576D-16DF-3FEF7E72F0F5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Our deployment strategy moved from Render to Azure to enable better control, automation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4B9420A8-BFF9-243C-DC12-DE55D686E9CA}"/>
              </a:ext>
            </a:extLst>
          </p:cNvPr>
          <p:cNvSpPr/>
          <p:nvPr/>
        </p:nvSpPr>
        <p:spPr>
          <a:xfrm>
            <a:off x="515938" y="1237884"/>
            <a:ext cx="11386502" cy="527467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669E47-3218-5AC6-1AA9-024E4C9AC0EE}"/>
              </a:ext>
            </a:extLst>
          </p:cNvPr>
          <p:cNvSpPr txBox="1"/>
          <p:nvPr/>
        </p:nvSpPr>
        <p:spPr>
          <a:xfrm>
            <a:off x="5853261" y="1369789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Advantage (Azure / AWS / GCP)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2B272-D884-1A9A-7A61-65C05ED2F753}"/>
              </a:ext>
            </a:extLst>
          </p:cNvPr>
          <p:cNvSpPr txBox="1"/>
          <p:nvPr/>
        </p:nvSpPr>
        <p:spPr>
          <a:xfrm>
            <a:off x="924343" y="1383979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Challenges: limitations of Render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C2256A36-01C5-30A5-23DE-E4CCC8DE48A8}"/>
              </a:ext>
            </a:extLst>
          </p:cNvPr>
          <p:cNvSpPr/>
          <p:nvPr/>
        </p:nvSpPr>
        <p:spPr>
          <a:xfrm>
            <a:off x="837899" y="1994215"/>
            <a:ext cx="5179592" cy="736181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Limited control over container configuration and environment variables</a:t>
            </a: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C75BD6B5-41FC-0918-F6DE-2F71F9D80ACF}"/>
              </a:ext>
            </a:extLst>
          </p:cNvPr>
          <p:cNvSpPr/>
          <p:nvPr/>
        </p:nvSpPr>
        <p:spPr>
          <a:xfrm>
            <a:off x="5853260" y="1994216"/>
            <a:ext cx="5719904" cy="73618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control over startup commands, port binding, environment variables, and scaling options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4DCF3BA5-A535-BE29-88D1-19C8830B32BC}"/>
              </a:ext>
            </a:extLst>
          </p:cNvPr>
          <p:cNvSpPr/>
          <p:nvPr/>
        </p:nvSpPr>
        <p:spPr>
          <a:xfrm>
            <a:off x="837898" y="2873342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Cold starts and inconsistent performance on the free tier</a:t>
            </a:r>
          </a:p>
        </p:txBody>
      </p:sp>
      <p:sp>
        <p:nvSpPr>
          <p:cNvPr id="18" name="Arrow: Chevron 17">
            <a:extLst>
              <a:ext uri="{FF2B5EF4-FFF2-40B4-BE49-F238E27FC236}">
                <a16:creationId xmlns:a16="http://schemas.microsoft.com/office/drawing/2014/main" id="{D2032154-6670-C530-66BC-E5AD3CC8F7A8}"/>
              </a:ext>
            </a:extLst>
          </p:cNvPr>
          <p:cNvSpPr/>
          <p:nvPr/>
        </p:nvSpPr>
        <p:spPr>
          <a:xfrm>
            <a:off x="5853260" y="2873342"/>
            <a:ext cx="5779940" cy="78789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Consistent runtime performance with autoscaling and production-grade plans</a:t>
            </a:r>
          </a:p>
        </p:txBody>
      </p:sp>
      <p:sp>
        <p:nvSpPr>
          <p:cNvPr id="19" name="Arrow: Pentagon 18">
            <a:extLst>
              <a:ext uri="{FF2B5EF4-FFF2-40B4-BE49-F238E27FC236}">
                <a16:creationId xmlns:a16="http://schemas.microsoft.com/office/drawing/2014/main" id="{579249A1-13C1-86BC-FED9-7FA375FEAC54}"/>
              </a:ext>
            </a:extLst>
          </p:cNvPr>
          <p:cNvSpPr/>
          <p:nvPr/>
        </p:nvSpPr>
        <p:spPr>
          <a:xfrm>
            <a:off x="837898" y="3767708"/>
            <a:ext cx="5458783" cy="1299805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0" name="Arrow: Chevron 19">
            <a:extLst>
              <a:ext uri="{FF2B5EF4-FFF2-40B4-BE49-F238E27FC236}">
                <a16:creationId xmlns:a16="http://schemas.microsoft.com/office/drawing/2014/main" id="{0B284CA0-BA49-3535-2246-95F9DC5E6E01}"/>
              </a:ext>
            </a:extLst>
          </p:cNvPr>
          <p:cNvSpPr/>
          <p:nvPr/>
        </p:nvSpPr>
        <p:spPr>
          <a:xfrm>
            <a:off x="5853260" y="3767708"/>
            <a:ext cx="5779940" cy="1299805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scripting support for repeatable, automated deployments via CLI and </a:t>
            </a:r>
            <a:r>
              <a:rPr lang="en-US" sz="1600" dirty="0" err="1">
                <a:latin typeface="Segoe UI (Body)"/>
              </a:rPr>
              <a:t>IaC</a:t>
            </a:r>
            <a:r>
              <a:rPr lang="en-US" sz="1600" dirty="0">
                <a:latin typeface="Segoe UI (Body)"/>
              </a:rPr>
              <a:t> (e.g., Bicep, Terraform)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A234E-B797-D253-74BF-29E037D0EF73}"/>
              </a:ext>
            </a:extLst>
          </p:cNvPr>
          <p:cNvSpPr txBox="1"/>
          <p:nvPr/>
        </p:nvSpPr>
        <p:spPr>
          <a:xfrm>
            <a:off x="737319" y="3874495"/>
            <a:ext cx="4887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scripting </a:t>
            </a:r>
            <a:r>
              <a:rPr lang="en-US" sz="1600" dirty="0">
                <a:solidFill>
                  <a:schemeClr val="accent1"/>
                </a:solidFill>
              </a:rPr>
              <a:t>unlike</a:t>
            </a:r>
            <a:r>
              <a:rPr lang="en-US" sz="1600" b="1" dirty="0">
                <a:solidFill>
                  <a:schemeClr val="accent1"/>
                </a:solidFill>
              </a:rPr>
              <a:t> Azure CLI</a:t>
            </a:r>
            <a:r>
              <a:rPr lang="en-US" sz="1600" dirty="0">
                <a:solidFill>
                  <a:schemeClr val="accent1"/>
                </a:solidFill>
              </a:rPr>
              <a:t>, </a:t>
            </a:r>
            <a:r>
              <a:rPr lang="en-US" sz="1600" b="1" dirty="0">
                <a:solidFill>
                  <a:schemeClr val="accent1"/>
                </a:solidFill>
              </a:rPr>
              <a:t>AWS CLI</a:t>
            </a:r>
            <a:r>
              <a:rPr lang="en-US" sz="1600" dirty="0">
                <a:solidFill>
                  <a:schemeClr val="accent1"/>
                </a:solidFill>
              </a:rPr>
              <a:t>, or </a:t>
            </a:r>
            <a:r>
              <a:rPr lang="en-US" sz="1600" b="1" dirty="0">
                <a:solidFill>
                  <a:schemeClr val="accent1"/>
                </a:solidFill>
              </a:rPr>
              <a:t>Google Cloud SDK</a:t>
            </a:r>
          </a:p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40AE7A-5608-614C-CE1F-204A182FAEFB}"/>
              </a:ext>
            </a:extLst>
          </p:cNvPr>
          <p:cNvSpPr txBox="1"/>
          <p:nvPr/>
        </p:nvSpPr>
        <p:spPr>
          <a:xfrm>
            <a:off x="1409531" y="4440667"/>
            <a:ext cx="37955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Repeatable, scripted deployments difficult to implement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5A1A2BC-51F1-1E3D-1CA0-E63FA3E3E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057" y="4457978"/>
            <a:ext cx="582210" cy="527706"/>
          </a:xfrm>
          <a:prstGeom prst="rect">
            <a:avLst/>
          </a:prstGeom>
        </p:spPr>
      </p:pic>
      <p:sp>
        <p:nvSpPr>
          <p:cNvPr id="25" name="Arrow: Pentagon 24">
            <a:extLst>
              <a:ext uri="{FF2B5EF4-FFF2-40B4-BE49-F238E27FC236}">
                <a16:creationId xmlns:a16="http://schemas.microsoft.com/office/drawing/2014/main" id="{E0DF5759-F5AB-3448-A8B8-68223711BF04}"/>
              </a:ext>
            </a:extLst>
          </p:cNvPr>
          <p:cNvSpPr/>
          <p:nvPr/>
        </p:nvSpPr>
        <p:spPr>
          <a:xfrm>
            <a:off x="837898" y="5158748"/>
            <a:ext cx="5393123" cy="111530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6" name="Arrow: Chevron 25">
            <a:extLst>
              <a:ext uri="{FF2B5EF4-FFF2-40B4-BE49-F238E27FC236}">
                <a16:creationId xmlns:a16="http://schemas.microsoft.com/office/drawing/2014/main" id="{EB6A214A-0792-9C1B-707B-D7B98E1A2969}"/>
              </a:ext>
            </a:extLst>
          </p:cNvPr>
          <p:cNvSpPr/>
          <p:nvPr/>
        </p:nvSpPr>
        <p:spPr>
          <a:xfrm>
            <a:off x="5859050" y="5158749"/>
            <a:ext cx="5774150" cy="1097788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Built-in tools like </a:t>
            </a:r>
            <a:r>
              <a:rPr lang="en-US" sz="1600" b="1" dirty="0">
                <a:latin typeface="Segoe UI (Body)"/>
              </a:rPr>
              <a:t>Azure Monitor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Application Insights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CloudWatc</a:t>
            </a:r>
            <a:r>
              <a:rPr lang="en-US" sz="1600" dirty="0">
                <a:latin typeface="Segoe UI (Body)"/>
              </a:rPr>
              <a:t>h, and </a:t>
            </a:r>
            <a:r>
              <a:rPr lang="en-US" sz="1600" b="1" dirty="0" err="1">
                <a:latin typeface="Segoe UI (Body)"/>
              </a:rPr>
              <a:t>Stackdriver</a:t>
            </a:r>
            <a:r>
              <a:rPr lang="en-US" sz="1600" dirty="0">
                <a:latin typeface="Segoe UI (Body)"/>
              </a:rPr>
              <a:t> for observability and debugging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FAB98E-0864-3D50-0DE6-19B35A58D4C5}"/>
              </a:ext>
            </a:extLst>
          </p:cNvPr>
          <p:cNvSpPr txBox="1"/>
          <p:nvPr/>
        </p:nvSpPr>
        <p:spPr>
          <a:xfrm>
            <a:off x="773589" y="5155450"/>
            <a:ext cx="48871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integrated monitoring or diagnostics tools, </a:t>
            </a:r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91150B-30BA-1729-7D31-5E6382B8AE72}"/>
              </a:ext>
            </a:extLst>
          </p:cNvPr>
          <p:cNvSpPr txBox="1"/>
          <p:nvPr/>
        </p:nvSpPr>
        <p:spPr>
          <a:xfrm>
            <a:off x="1409531" y="5751367"/>
            <a:ext cx="37955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Debugging is difficult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67F7854-6D1C-0629-4417-D4239BB48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27" y="5603399"/>
            <a:ext cx="582210" cy="52770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F4171F-8FDD-293F-DEDA-C3F5E5AB4D8B}"/>
              </a:ext>
            </a:extLst>
          </p:cNvPr>
          <p:cNvCxnSpPr/>
          <p:nvPr/>
        </p:nvCxnSpPr>
        <p:spPr>
          <a:xfrm>
            <a:off x="515938" y="1833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0241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Contoso v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C567A"/>
      </a:accent1>
      <a:accent2>
        <a:srgbClr val="0072C7"/>
      </a:accent2>
      <a:accent3>
        <a:srgbClr val="0D1D51"/>
      </a:accent3>
      <a:accent4>
        <a:srgbClr val="666666"/>
      </a:accent4>
      <a:accent5>
        <a:srgbClr val="3C76A6"/>
      </a:accent5>
      <a:accent6>
        <a:srgbClr val="1E44BC"/>
      </a:accent6>
      <a:hlink>
        <a:srgbClr val="0563C1"/>
      </a:hlink>
      <a:folHlink>
        <a:srgbClr val="954F72"/>
      </a:folHlink>
    </a:clrScheme>
    <a:fontScheme name="Contoso v1">
      <a:majorFont>
        <a:latin typeface="Corbel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740356_TF34076243" id="{4913AA83-2306-4E2D-8830-C2A4E9B3D067}" vid="{57B55DBD-592B-4A90-8C6D-F8F746751AD2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ontoso v1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2C567A"/>
    </a:accent1>
    <a:accent2>
      <a:srgbClr val="0072C7"/>
    </a:accent2>
    <a:accent3>
      <a:srgbClr val="0D1D51"/>
    </a:accent3>
    <a:accent4>
      <a:srgbClr val="666666"/>
    </a:accent4>
    <a:accent5>
      <a:srgbClr val="3C76A6"/>
    </a:accent5>
    <a:accent6>
      <a:srgbClr val="1E44BC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0" ma:contentTypeDescription="Create a new document." ma:contentTypeScope="" ma:versionID="e39e7e9e36de66d473ce04bb4ab2dbb8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dc5994665da46609c24125788630d8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FF4E1AF-DB5E-4764-961C-6F82B33E9E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C31332-3081-4BD9-AD6F-078B4521F3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519797F-2510-4681-A59B-FCD8F3733FE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sphérique en bleu</Template>
  <TotalTime>7925</TotalTime>
  <Words>1066</Words>
  <Application>Microsoft Office PowerPoint</Application>
  <PresentationFormat>Widescreen</PresentationFormat>
  <Paragraphs>118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Corbel</vt:lpstr>
      <vt:lpstr>Segoe UI (Body)</vt:lpstr>
      <vt:lpstr>Segoe UI Light</vt:lpstr>
      <vt:lpstr>Thème Office</vt:lpstr>
      <vt:lpstr>Real Estate Price Predictor - deployment</vt:lpstr>
      <vt:lpstr>Deployment strategy</vt:lpstr>
      <vt:lpstr>Real Estate App Deployment with Docker &amp; Azure Services</vt:lpstr>
      <vt:lpstr>Demo</vt:lpstr>
      <vt:lpstr>Limits &amp; Next Steps</vt:lpstr>
      <vt:lpstr>Cloud deployment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de la présentation</dc:title>
  <dc:creator>Yves Schillings</dc:creator>
  <cp:lastModifiedBy>Yves SCHILLINGS</cp:lastModifiedBy>
  <cp:revision>407</cp:revision>
  <dcterms:created xsi:type="dcterms:W3CDTF">2024-05-06T12:06:53Z</dcterms:created>
  <dcterms:modified xsi:type="dcterms:W3CDTF">2025-07-09T08:23:24Z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